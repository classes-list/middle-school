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slide. Frame the class: today we build the toolkit every science student needs — using numbers correctly, talking the same language as scientists worldwide, and doing conversions with confidence.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Science is not just plugging numbers into formulas. Every problem tells a story about what nature is doing.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More digits looks impressive but isn't automatically better. Match the number of digits you write to what your tool actually measured.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significant digits or simply round to a sensible place (thousandths, hundredths).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'E' is not part of the number. It stands for '× 10^'.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Instead of counting zeros, use prefixes (KHDUdcm) or scientific notation.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= Système International. These four units are what every scientist in the world uses.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rung is a factor of 10. Moving between prefixes is just moving the decimal point.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Unit factors ALWAYS equal 1. That's why you can multiply by them freely without changing the true value.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hyperlink" Target="https://classes-list.github.io/middle-school/msp-metrics-problem-sets.html" TargetMode="External"/><Relationship Id="rId2" Type="http://schemas.openxmlformats.org/officeDocument/2006/relationships/hyperlink" Target="https://classes-list.github.io/middle-school/msp-metrics-problem-sets.html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2194560"/>
            <a:ext cx="822960" cy="137160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42316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FOUNDATIONS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283464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Metrics, Numbers &amp;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Analysis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5029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every scientist speaks.</a:t>
            </a:r>
            <a:endParaRPr lang="en-US" sz="2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Numbers Are the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Language of Science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 THE STAGE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Science, Really?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More Than Math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the study of how nature works. It's full of concepts — motion, energy, forces, waves — and we describe those concepts through math and numbers.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Halves of the Same Coin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Science is BOTH: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Qualitative — the concepts and stories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Quantitative — the math and numbers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need both to really understand.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5 DECIMALS ISN'T ALWAYS BETTER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Precision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of these is the most precise?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4864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sig fig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88036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88036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.21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sig figs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21208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1208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1208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sig figs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54380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4380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.20787958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54380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sig figs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9875520" y="2560320"/>
            <a:ext cx="2194560" cy="1188720"/>
          </a:xfrm>
          <a:prstGeom prst="roundRect">
            <a:avLst>
              <a:gd name="adj" fmla="val 9231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56032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.2078795764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875520" y="37947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sig figs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754880"/>
            <a:ext cx="11064240" cy="1280160"/>
          </a:xfrm>
          <a:prstGeom prst="roundRect">
            <a:avLst>
              <a:gd name="adj" fmla="val 10714"/>
            </a:avLst>
          </a:prstGeom>
          <a:solidFill>
            <a:srgbClr val="FFF8E1"/>
          </a:solidFill>
          <a:ln w="25400">
            <a:solidFill>
              <a:srgbClr val="FFC1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⚠  The catch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" y="521208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number is only as precise as the tool that measured it. Writing .2078795764 when your ruler shows tenths is FALSE PRECISION.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MEANING OF NUMBERS IN YOUR CALCULATOR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#1 — Too Many Decimals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Calculator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.2078795764</a:t>
            </a:r>
            <a:endParaRPr lang="en-US" sz="48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digits!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this down.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.208</a:t>
            </a:r>
            <a:endParaRPr lang="en-US" sz="6000" dirty="0"/>
          </a:p>
        </p:txBody>
      </p:sp>
      <p:sp>
        <p:nvSpPr>
          <p:cNvPr id="13" name="Text 11"/>
          <p:cNvSpPr/>
          <p:nvPr/>
        </p:nvSpPr>
        <p:spPr>
          <a:xfrm>
            <a:off x="6217920" y="4206240"/>
            <a:ext cx="5394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Rounded to thousandths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5029200"/>
            <a:ext cx="5394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Match your data's precision.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'E' MEANS × 10 TO THE POWER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Calculator Trap #2 — Scientific Notation on Screen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Calculator Shows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4.587E4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that even mean?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48640" y="502920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Don't write '4.587E4' as your answer.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39496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It Two Ways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2743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4.587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Scientific notation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17920" y="40233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4480560"/>
            <a:ext cx="5394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45,870</a:t>
            </a:r>
            <a:endParaRPr lang="en-US" sz="4400" dirty="0"/>
          </a:p>
        </p:txBody>
      </p:sp>
      <p:sp>
        <p:nvSpPr>
          <p:cNvPr id="16" name="Text 14"/>
          <p:cNvSpPr/>
          <p:nvPr/>
        </p:nvSpPr>
        <p:spPr>
          <a:xfrm>
            <a:off x="6217920" y="54406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Expanded form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DEAL WITH WILD SCALES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Atoms to Universes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300,000 m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54864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Oʻahu → Big Island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4864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m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1945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TINY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217920" y="2651760"/>
            <a:ext cx="5486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.00000003 g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6217920" y="37033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0F2F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 of a mosquito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217920" y="475488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= 3.0 × 10</a:t>
            </a:r>
            <a:pPr algn="ctr" indent="0" marL="0">
              <a:buNone/>
            </a:pPr>
            <a:r>
              <a:rPr lang="en-US" sz="2000" b="1" baseline="30000" dirty="0">
                <a:solidFill>
                  <a:srgbClr val="FFC10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g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RULE, TWO DIRECTIONS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Scientific Notation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Exponent = BIG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300,000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5 places to the RIGHT.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30 → 300 → 3,000 → 30,000 → 300,000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'the number of zeros to add.'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0" y="2011680"/>
            <a:ext cx="5486400" cy="4206240"/>
          </a:xfrm>
          <a:prstGeom prst="roundRect">
            <a:avLst>
              <a:gd name="adj" fmla="val 3261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0" y="21488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Exponent = TINY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217920" y="2651760"/>
            <a:ext cx="5486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 × 10</a:t>
            </a:r>
            <a:pPr algn="ctr" indent="0" marL="0">
              <a:buNone/>
            </a:pPr>
            <a:r>
              <a:rPr lang="en-US" sz="2400" b="1" baseline="30000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-8</a:t>
            </a:r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 =  .00000003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6309360" y="37490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the decimal 8 places to the LEFT.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21792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3.0 → .3 → .03 → ... → .00000003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0" y="5120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Or: 'number of decimal shifts.'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System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SI Units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FOUR YOU NEED FIRST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SI Base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63040" y="24688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kilogram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54864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kg )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2900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43400" y="24688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434340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342900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42900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meter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342900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m )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42900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30936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0" y="2468880"/>
            <a:ext cx="914400" cy="914400"/>
          </a:xfrm>
          <a:prstGeom prst="ellipse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30936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30936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630936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0891B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L )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0936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2194560"/>
            <a:ext cx="2743200" cy="3931920"/>
          </a:xfrm>
          <a:prstGeom prst="roundRect">
            <a:avLst>
              <a:gd name="adj" fmla="val 500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104120" y="2468880"/>
            <a:ext cx="914400" cy="914400"/>
          </a:xfrm>
          <a:prstGeom prst="ellipse">
            <a:avLst/>
          </a:prstGeom>
          <a:solidFill>
            <a:srgbClr val="6D28D9"/>
          </a:solidFill>
          <a:ln/>
        </p:spPr>
      </p:sp>
      <p:sp>
        <p:nvSpPr>
          <p:cNvPr id="28" name="Text 26"/>
          <p:cNvSpPr/>
          <p:nvPr/>
        </p:nvSpPr>
        <p:spPr>
          <a:xfrm>
            <a:off x="101041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9189720" y="35661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6D28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189720" y="393192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9189720" y="4572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6D28D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 s )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9189720" y="5394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unit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SPEAKS ONE LANGUAGE OF MEASUREMENT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the Metric System?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5303520" cy="4023360"/>
          </a:xfrm>
          <a:prstGeom prst="roundRect">
            <a:avLst>
              <a:gd name="adj" fmla="val 3409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37744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3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303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countries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34290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~195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48640" y="393192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officially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metric system: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800600"/>
            <a:ext cx="53035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🇺🇸  United States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🇱🇷  Liberia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🇲🇲  Myanmar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217920" y="210312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37744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23774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🌐</a:t>
            </a:r>
            <a:endParaRPr lang="en-US" sz="2100" dirty="0"/>
          </a:p>
        </p:txBody>
      </p:sp>
      <p:sp>
        <p:nvSpPr>
          <p:cNvPr id="14" name="Text 12"/>
          <p:cNvSpPr/>
          <p:nvPr/>
        </p:nvSpPr>
        <p:spPr>
          <a:xfrm>
            <a:off x="7315200" y="23774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83680" y="3108960"/>
            <a:ext cx="475488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Scientists across every continent share data, compare results, and check each other's work. That only works if we all use the same system.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system is SI (metric). If you want to talk science, you talk metric.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MULTIPLES OF 10 MAKE EVERYTHING EASY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Metric Ladder — KHDUdcm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8288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King Henry Doesn't Usually Drink Chocolate Milk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777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777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77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377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77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5200" dirty="0"/>
          </a:p>
        </p:txBody>
      </p:sp>
      <p:sp>
        <p:nvSpPr>
          <p:cNvPr id="12" name="Text 10"/>
          <p:cNvSpPr/>
          <p:nvPr/>
        </p:nvSpPr>
        <p:spPr>
          <a:xfrm>
            <a:off x="2377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hecto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377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776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16" name="Text 14"/>
          <p:cNvSpPr/>
          <p:nvPr/>
        </p:nvSpPr>
        <p:spPr>
          <a:xfrm>
            <a:off x="39776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776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65A8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5778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FF8E1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5778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5200" dirty="0"/>
          </a:p>
        </p:txBody>
      </p:sp>
      <p:sp>
        <p:nvSpPr>
          <p:cNvPr id="20" name="Text 18"/>
          <p:cNvSpPr/>
          <p:nvPr/>
        </p:nvSpPr>
        <p:spPr>
          <a:xfrm>
            <a:off x="55778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55778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886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×1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57784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B886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 / m / 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71780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1780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5200" dirty="0"/>
          </a:p>
        </p:txBody>
      </p:sp>
      <p:sp>
        <p:nvSpPr>
          <p:cNvPr id="25" name="Text 23"/>
          <p:cNvSpPr/>
          <p:nvPr/>
        </p:nvSpPr>
        <p:spPr>
          <a:xfrm>
            <a:off x="71780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1780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×0.1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87782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7782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5200" dirty="0"/>
          </a:p>
        </p:txBody>
      </p:sp>
      <p:sp>
        <p:nvSpPr>
          <p:cNvPr id="29" name="Text 27"/>
          <p:cNvSpPr/>
          <p:nvPr/>
        </p:nvSpPr>
        <p:spPr>
          <a:xfrm>
            <a:off x="87782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centi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7782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×0.01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10378440" y="2651760"/>
            <a:ext cx="1554480" cy="3108960"/>
          </a:xfrm>
          <a:prstGeom prst="roundRect">
            <a:avLst>
              <a:gd name="adj" fmla="val 705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0378440" y="2788920"/>
            <a:ext cx="1554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5200" dirty="0"/>
          </a:p>
        </p:txBody>
      </p:sp>
      <p:sp>
        <p:nvSpPr>
          <p:cNvPr id="33" name="Text 31"/>
          <p:cNvSpPr/>
          <p:nvPr/>
        </p:nvSpPr>
        <p:spPr>
          <a:xfrm>
            <a:off x="1037844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milli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0378440" y="4480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C729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×0.001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7724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larger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686800" y="58521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→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RECIPE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Convert Metric Units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55448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the number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centimeters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39496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Write KHDUdcm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39496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 H D U d c m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01168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12480" y="224028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9235440" y="228600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starting prefix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9235440" y="274320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…c…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100" dirty="0"/>
          </a:p>
        </p:txBody>
      </p:sp>
      <p:sp>
        <p:nvSpPr>
          <p:cNvPr id="23" name="Text 21"/>
          <p:cNvSpPr/>
          <p:nvPr/>
        </p:nvSpPr>
        <p:spPr>
          <a:xfrm>
            <a:off x="155448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 the target prefix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55448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…U… (m)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8912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539496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Count spaces + direction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39496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places LEFT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229600" y="4114800"/>
            <a:ext cx="3657600" cy="1920240"/>
          </a:xfrm>
          <a:prstGeom prst="roundRect">
            <a:avLst>
              <a:gd name="adj" fmla="val 5714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43434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2" name="Text 30"/>
          <p:cNvSpPr/>
          <p:nvPr/>
        </p:nvSpPr>
        <p:spPr>
          <a:xfrm>
            <a:off x="8412480" y="43434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100" dirty="0"/>
          </a:p>
        </p:txBody>
      </p:sp>
      <p:sp>
        <p:nvSpPr>
          <p:cNvPr id="33" name="Text 31"/>
          <p:cNvSpPr/>
          <p:nvPr/>
        </p:nvSpPr>
        <p:spPr>
          <a:xfrm>
            <a:off x="9235440" y="4389120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 the decimal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235440" y="48463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500 → 5.00 m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9616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Only works for units that are NOT squared or cubed.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WATCHING THE DECIMAL MOVE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500 cm → 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 cm  =  ?  m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27432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39319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319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512064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630936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FC107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0936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749808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3600" dirty="0"/>
          </a:p>
        </p:txBody>
      </p:sp>
      <p:sp>
        <p:nvSpPr>
          <p:cNvPr id="16" name="Shape 14"/>
          <p:cNvSpPr/>
          <p:nvPr/>
        </p:nvSpPr>
        <p:spPr>
          <a:xfrm>
            <a:off x="868680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065A8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3600" dirty="0"/>
          </a:p>
        </p:txBody>
      </p:sp>
      <p:sp>
        <p:nvSpPr>
          <p:cNvPr id="18" name="Shape 16"/>
          <p:cNvSpPr/>
          <p:nvPr/>
        </p:nvSpPr>
        <p:spPr>
          <a:xfrm>
            <a:off x="9875520" y="2834640"/>
            <a:ext cx="1097280" cy="1097280"/>
          </a:xfrm>
          <a:prstGeom prst="roundRect">
            <a:avLst>
              <a:gd name="adj" fmla="val 8333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875520" y="283464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859536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start: c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217920" y="4023360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end: U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657600" y="4663440"/>
            <a:ext cx="4937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2 places LEFT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3200400" y="5486400"/>
            <a:ext cx="5852160" cy="822960"/>
          </a:xfrm>
          <a:prstGeom prst="roundRect">
            <a:avLst>
              <a:gd name="adj" fmla="val 13333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00400" y="5486400"/>
            <a:ext cx="5852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4532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500. cm  →  5.00 m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 CONVERSIONS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Practice — Try These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065A8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4,000 m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4864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54864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km</a:t>
            </a:r>
            <a:endParaRPr lang="en-US" sz="4200" dirty="0"/>
          </a:p>
        </p:txBody>
      </p:sp>
      <p:sp>
        <p:nvSpPr>
          <p:cNvPr id="11" name="Shape 9"/>
          <p:cNvSpPr/>
          <p:nvPr/>
        </p:nvSpPr>
        <p:spPr>
          <a:xfrm>
            <a:off x="6400800" y="2194560"/>
            <a:ext cx="5486400" cy="4023360"/>
          </a:xfrm>
          <a:prstGeom prst="roundRect">
            <a:avLst>
              <a:gd name="adj" fmla="val 3409"/>
            </a:avLst>
          </a:prstGeom>
          <a:solidFill>
            <a:srgbClr val="F7F9FC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0" y="23774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6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00800" y="28803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00800" y="338328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45.5 L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6400800" y="42976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6400800" y="484632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? mL</a:t>
            </a:r>
            <a:endParaRPr lang="en-US" sz="42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2860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2743200"/>
            <a:ext cx="10972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Conversions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48640" y="5120640"/>
            <a:ext cx="640080" cy="73152"/>
          </a:xfrm>
          <a:prstGeom prst="rect">
            <a:avLst/>
          </a:prstGeom>
          <a:solidFill>
            <a:srgbClr val="FFC107"/>
          </a:solidFill>
          <a:ln/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 BEHIND UNIT ANALYSIS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Multiplying by 'One' — But Cleverly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Anything ÷ Itself = 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minutes = 1 hour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(60 min) ÷ (1 hour)  = 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 hour) ÷ (60 min)   = 1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Multiplying by 1 doesn't change the value — but it CAN change the units.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→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 — 2 hours = ? min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hours × (60 min / 1 hour)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2 × 60 min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120 minutes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'hours' cancel; the 'minutes' stay.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HABITS THAT MAKE IT FOOLPROOF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Rules for Setting Up Conversions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2024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 with what you have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6868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the UNITS. 'Just numbers' is a recipe for errors.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76072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57607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457200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Multiply by unit factors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0916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unit factor is a fraction with equal values in different units (1 cm = 10 mm).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229600" y="2103120"/>
            <a:ext cx="3657600" cy="4023360"/>
          </a:xfrm>
          <a:prstGeom prst="roundRect">
            <a:avLst>
              <a:gd name="adj" fmla="val 3750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601200" y="237744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8412480" y="347472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Flip factors as needed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549640" y="44805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version where the unwanted unit cancels. Cross it out, then move on.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UNIT FACTORS TOGETHER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There's No Direct Equality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202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centimeters are in 1 mile?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equalities:  1 inch = 2.54 cm  •  1609 m = 1 mile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 → 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(use KHDUdcm)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cm = 0.01 m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38912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F7F9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→ 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(unit factor)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1609 m = 1 mile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0" y="3108960"/>
            <a:ext cx="3657600" cy="3017520"/>
          </a:xfrm>
          <a:prstGeom prst="roundRect">
            <a:avLst>
              <a:gd name="adj" fmla="val 3636"/>
            </a:avLst>
          </a:prstGeom>
          <a:solidFill>
            <a:srgbClr val="DCFCE7"/>
          </a:solidFill>
          <a:ln w="254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3246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1453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12480" y="3703320"/>
            <a:ext cx="3291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Multiply chain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mile × 1609 m/mile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100 cm/m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160,900 cm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USE WHICH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Methods — At a Glance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640080" cy="54864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228600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164592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 Conversions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the number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Write KHDUdcm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Mark starting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Mark target prefix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Count spaces + direction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Move the decimal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single-unit metric jumps (m → km, mg → g)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17920" y="2011680"/>
            <a:ext cx="5486400" cy="4114800"/>
          </a:xfrm>
          <a:prstGeom prst="roundRect">
            <a:avLst>
              <a:gd name="adj" fmla="val 3333"/>
            </a:avLst>
          </a:prstGeom>
          <a:solidFill>
            <a:srgbClr val="F7F9FC"/>
          </a:solidFill>
          <a:ln w="9525">
            <a:solidFill>
              <a:srgbClr val="E5E7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28600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2286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315200" y="22860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 Factor Method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83680" y="301752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Write down what you have (with units!)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Find an equality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Build unit factors (top or bottom)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Multiply so unwanted units cancel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Multiply tops, divide bottoms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Write final answer with units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for: any conversion (metric or not, squared/cubed)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Metrics, Numbers &amp; Unit Analysis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463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spc="600" kern="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48640" y="210312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Metrics — Problem Sets #1 &amp; #2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5760720" y="3246120"/>
            <a:ext cx="914400" cy="73152"/>
          </a:xfrm>
          <a:prstGeom prst="rect">
            <a:avLst/>
          </a:prstGeom>
          <a:solidFill>
            <a:srgbClr val="FFC107"/>
          </a:solidFill>
          <a:ln/>
        </p:spPr>
      </p:sp>
      <p:sp>
        <p:nvSpPr>
          <p:cNvPr id="5" name="Text 3"/>
          <p:cNvSpPr/>
          <p:nvPr/>
        </p:nvSpPr>
        <p:spPr>
          <a:xfrm>
            <a:off x="1371600" y="3474720"/>
            <a:ext cx="94183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homework in your notebook. Show ALL work — you will be expected to solve the problems on the whiteboard in class. Box or circle your final answer with units.</a:t>
            </a:r>
            <a:endParaRPr lang="en-US" sz="1700" dirty="0"/>
          </a:p>
        </p:txBody>
      </p:sp>
      <p:sp>
        <p:nvSpPr>
          <p:cNvPr id="6" name="Shape 4">
            <a:hlinkClick r:id="rId1" tooltip="Open the Problem Sets page"/>
          </p:cNvPr>
          <p:cNvSpPr/>
          <p:nvPr/>
        </p:nvSpPr>
        <p:spPr>
          <a:xfrm>
            <a:off x="3566160" y="4892040"/>
            <a:ext cx="5120640" cy="914400"/>
          </a:xfrm>
          <a:prstGeom prst="roundRect">
            <a:avLst>
              <a:gd name="adj" fmla="val 14000"/>
            </a:avLst>
          </a:prstGeom>
          <a:solidFill>
            <a:srgbClr val="FFC107"/>
          </a:solidFill>
          <a:ln w="25400">
            <a:solidFill>
              <a:srgbClr val="B8860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66160" y="4892040"/>
            <a:ext cx="5120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📝  Homework Problem Sets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48640" y="5989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u="sng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Open the Problem Sets page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classes-list.github.io/middle-school/msp-metrics-problem-sets.html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2026-07-12T19:30:58Z</dcterms:created>
  <dcterms:modified xsi:type="dcterms:W3CDTF">2026-07-12T19:30:58Z</dcterms:modified>
</cp:coreProperties>
</file>