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B29088-EDAB-466E-9625-AE3AC6B142C0}">
  <a:tblStyle styleId="{7AB29088-EDAB-466E-9625-AE3AC6B142C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1V>
      <a:tcStyle>
        <a:tcBdr/>
        <a:fill>
          <a:solidFill>
            <a:srgbClr val="CFD7E7"/>
          </a:solidFill>
        </a:fill>
      </a:tcStyle>
    </a:band1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>
                <a:uFillTx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>
                <a:uFillTx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>
                <a:uFillTx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>
                <a:uFillTx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>
                <a:uFillTx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>
                <a:uFillTx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>
                <a:uFillTx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>
                <a:uFillTx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>
                <a:uFillTx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146" name="Google Shape;1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161" name="Google Shape;1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171" name="Google Shape;1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182" name="Google Shape;1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191" name="Google Shape;19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201" name="Google Shape;20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209" name="Google Shape;20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221" name="Google Shape;22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233" name="Google Shape;23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242" name="Google Shape;24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251" name="Google Shape;25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257" name="Google Shape;25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262" name="Google Shape;26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267" name="Google Shape;26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272" name="Google Shape;27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277" name="Google Shape;27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282" name="Google Shape;28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288" name="Google Shape;28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299" name="Google Shape;29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305" name="Google Shape;30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312" name="Google Shape;31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318" name="Google Shape;31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325" name="Google Shape;32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333" name="Google Shape;33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340" name="Google Shape;34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347" name="Google Shape;34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uFillTx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uFillTx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uFillTx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uFillTx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uFillTx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>
                <a:uFillTx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uFillTx/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uFillTx/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uFillTx/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15" name="Google Shape;15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16" name="Google Shape;16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uFillTx/>
              </a:defRPr>
            </a:lvl1pPr>
            <a:lvl2pPr marL="0" lvl="1" indent="0" algn="r">
              <a:spcBef>
                <a:spcPts val="0"/>
              </a:spcBef>
              <a:buNone/>
              <a:defRPr>
                <a:uFillTx/>
              </a:defRPr>
            </a:lvl2pPr>
            <a:lvl3pPr marL="0" lvl="2" indent="0" algn="r">
              <a:spcBef>
                <a:spcPts val="0"/>
              </a:spcBef>
              <a:buNone/>
              <a:defRPr>
                <a:uFillTx/>
              </a:defRPr>
            </a:lvl3pPr>
            <a:lvl4pPr marL="0" lvl="3" indent="0" algn="r">
              <a:spcBef>
                <a:spcPts val="0"/>
              </a:spcBef>
              <a:buNone/>
              <a:defRPr>
                <a:uFillTx/>
              </a:defRPr>
            </a:lvl4pPr>
            <a:lvl5pPr marL="0" lvl="4" indent="0" algn="r">
              <a:spcBef>
                <a:spcPts val="0"/>
              </a:spcBef>
              <a:buNone/>
              <a:defRPr>
                <a:uFillTx/>
              </a:defRPr>
            </a:lvl5pPr>
            <a:lvl6pPr marL="0" lvl="5" indent="0" algn="r">
              <a:spcBef>
                <a:spcPts val="0"/>
              </a:spcBef>
              <a:buNone/>
              <a:defRPr>
                <a:uFillTx/>
              </a:defRPr>
            </a:lvl6pPr>
            <a:lvl7pPr marL="0" lvl="6" indent="0" algn="r">
              <a:spcBef>
                <a:spcPts val="0"/>
              </a:spcBef>
              <a:buNone/>
              <a:defRPr>
                <a:uFillTx/>
              </a:defRPr>
            </a:lvl7pPr>
            <a:lvl8pPr marL="0" lvl="7" indent="0" algn="r">
              <a:spcBef>
                <a:spcPts val="0"/>
              </a:spcBef>
              <a:buNone/>
              <a:defRPr>
                <a:uFillTx/>
              </a:defRPr>
            </a:lvl8pPr>
            <a:lvl9pPr marL="0" lvl="8" indent="0" algn="r">
              <a:spcBef>
                <a:spcPts val="0"/>
              </a:spcBef>
              <a:buNone/>
              <a:defRPr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uFillTx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19" name="Google Shape;19;p3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uFillTx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  <a:uFillTx/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  <a:uFillTx/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  <a:uFillTx/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  <a:uFillTx/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  <a:uFillTx/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  <a:uFillTx/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  <a:uFillTx/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  <a:uFillTx/>
              </a:defRPr>
            </a:lvl9pPr>
          </a:lstStyle>
          <a:p>
            <a:endParaRPr/>
          </a:p>
        </p:txBody>
      </p:sp>
      <p:sp>
        <p:nvSpPr>
          <p:cNvPr id="20" name="Google Shape;20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21" name="Google Shape;21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22" name="Google Shape;22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uFillTx/>
              </a:defRPr>
            </a:lvl1pPr>
            <a:lvl2pPr marL="0" lvl="1" indent="0" algn="r">
              <a:spcBef>
                <a:spcPts val="0"/>
              </a:spcBef>
              <a:buNone/>
              <a:defRPr>
                <a:uFillTx/>
              </a:defRPr>
            </a:lvl2pPr>
            <a:lvl3pPr marL="0" lvl="2" indent="0" algn="r">
              <a:spcBef>
                <a:spcPts val="0"/>
              </a:spcBef>
              <a:buNone/>
              <a:defRPr>
                <a:uFillTx/>
              </a:defRPr>
            </a:lvl3pPr>
            <a:lvl4pPr marL="0" lvl="3" indent="0" algn="r">
              <a:spcBef>
                <a:spcPts val="0"/>
              </a:spcBef>
              <a:buNone/>
              <a:defRPr>
                <a:uFillTx/>
              </a:defRPr>
            </a:lvl4pPr>
            <a:lvl5pPr marL="0" lvl="4" indent="0" algn="r">
              <a:spcBef>
                <a:spcPts val="0"/>
              </a:spcBef>
              <a:buNone/>
              <a:defRPr>
                <a:uFillTx/>
              </a:defRPr>
            </a:lvl5pPr>
            <a:lvl6pPr marL="0" lvl="5" indent="0" algn="r">
              <a:spcBef>
                <a:spcPts val="0"/>
              </a:spcBef>
              <a:buNone/>
              <a:defRPr>
                <a:uFillTx/>
              </a:defRPr>
            </a:lvl6pPr>
            <a:lvl7pPr marL="0" lvl="6" indent="0" algn="r">
              <a:spcBef>
                <a:spcPts val="0"/>
              </a:spcBef>
              <a:buNone/>
              <a:defRPr>
                <a:uFillTx/>
              </a:defRPr>
            </a:lvl7pPr>
            <a:lvl8pPr marL="0" lvl="7" indent="0" algn="r">
              <a:spcBef>
                <a:spcPts val="0"/>
              </a:spcBef>
              <a:buNone/>
              <a:defRPr>
                <a:uFillTx/>
              </a:defRPr>
            </a:lvl8pPr>
            <a:lvl9pPr marL="0" lvl="8" indent="0" algn="r">
              <a:spcBef>
                <a:spcPts val="0"/>
              </a:spcBef>
              <a:buNone/>
              <a:defRPr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25" name="Google Shape;25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26" name="Google Shape;26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uFillTx/>
              </a:defRPr>
            </a:lvl1pPr>
            <a:lvl2pPr marL="0" lvl="1" indent="0" algn="r">
              <a:spcBef>
                <a:spcPts val="0"/>
              </a:spcBef>
              <a:buNone/>
              <a:defRPr>
                <a:uFillTx/>
              </a:defRPr>
            </a:lvl2pPr>
            <a:lvl3pPr marL="0" lvl="2" indent="0" algn="r">
              <a:spcBef>
                <a:spcPts val="0"/>
              </a:spcBef>
              <a:buNone/>
              <a:defRPr>
                <a:uFillTx/>
              </a:defRPr>
            </a:lvl3pPr>
            <a:lvl4pPr marL="0" lvl="3" indent="0" algn="r">
              <a:spcBef>
                <a:spcPts val="0"/>
              </a:spcBef>
              <a:buNone/>
              <a:defRPr>
                <a:uFillTx/>
              </a:defRPr>
            </a:lvl4pPr>
            <a:lvl5pPr marL="0" lvl="4" indent="0" algn="r">
              <a:spcBef>
                <a:spcPts val="0"/>
              </a:spcBef>
              <a:buNone/>
              <a:defRPr>
                <a:uFillTx/>
              </a:defRPr>
            </a:lvl5pPr>
            <a:lvl6pPr marL="0" lvl="5" indent="0" algn="r">
              <a:spcBef>
                <a:spcPts val="0"/>
              </a:spcBef>
              <a:buNone/>
              <a:defRPr>
                <a:uFillTx/>
              </a:defRPr>
            </a:lvl6pPr>
            <a:lvl7pPr marL="0" lvl="6" indent="0" algn="r">
              <a:spcBef>
                <a:spcPts val="0"/>
              </a:spcBef>
              <a:buNone/>
              <a:defRPr>
                <a:uFillTx/>
              </a:defRPr>
            </a:lvl7pPr>
            <a:lvl8pPr marL="0" lvl="7" indent="0" algn="r">
              <a:spcBef>
                <a:spcPts val="0"/>
              </a:spcBef>
              <a:buNone/>
              <a:defRPr>
                <a:uFillTx/>
              </a:defRPr>
            </a:lvl8pPr>
            <a:lvl9pPr marL="0" lvl="8" indent="0" algn="r">
              <a:spcBef>
                <a:spcPts val="0"/>
              </a:spcBef>
              <a:buNone/>
              <a:defRPr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>
                <a:uFillTx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29" name="Google Shape;29;p3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  <a:uFillTx/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  <a:uFillTx/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  <a:uFillTx/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  <a:uFillTx/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  <a:uFillTx/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  <a:uFillTx/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  <a:uFillTx/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  <a:uFillTx/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  <a:uFillTx/>
              </a:defRPr>
            </a:lvl9pPr>
          </a:lstStyle>
          <a:p>
            <a:endParaRPr/>
          </a:p>
        </p:txBody>
      </p:sp>
      <p:sp>
        <p:nvSpPr>
          <p:cNvPr id="30" name="Google Shape;30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31" name="Google Shape;31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32" name="Google Shape;32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uFillTx/>
              </a:defRPr>
            </a:lvl1pPr>
            <a:lvl2pPr marL="0" lvl="1" indent="0" algn="r">
              <a:spcBef>
                <a:spcPts val="0"/>
              </a:spcBef>
              <a:buNone/>
              <a:defRPr>
                <a:uFillTx/>
              </a:defRPr>
            </a:lvl2pPr>
            <a:lvl3pPr marL="0" lvl="2" indent="0" algn="r">
              <a:spcBef>
                <a:spcPts val="0"/>
              </a:spcBef>
              <a:buNone/>
              <a:defRPr>
                <a:uFillTx/>
              </a:defRPr>
            </a:lvl3pPr>
            <a:lvl4pPr marL="0" lvl="3" indent="0" algn="r">
              <a:spcBef>
                <a:spcPts val="0"/>
              </a:spcBef>
              <a:buNone/>
              <a:defRPr>
                <a:uFillTx/>
              </a:defRPr>
            </a:lvl4pPr>
            <a:lvl5pPr marL="0" lvl="4" indent="0" algn="r">
              <a:spcBef>
                <a:spcPts val="0"/>
              </a:spcBef>
              <a:buNone/>
              <a:defRPr>
                <a:uFillTx/>
              </a:defRPr>
            </a:lvl5pPr>
            <a:lvl6pPr marL="0" lvl="5" indent="0" algn="r">
              <a:spcBef>
                <a:spcPts val="0"/>
              </a:spcBef>
              <a:buNone/>
              <a:defRPr>
                <a:uFillTx/>
              </a:defRPr>
            </a:lvl6pPr>
            <a:lvl7pPr marL="0" lvl="6" indent="0" algn="r">
              <a:spcBef>
                <a:spcPts val="0"/>
              </a:spcBef>
              <a:buNone/>
              <a:defRPr>
                <a:uFillTx/>
              </a:defRPr>
            </a:lvl7pPr>
            <a:lvl8pPr marL="0" lvl="7" indent="0" algn="r">
              <a:spcBef>
                <a:spcPts val="0"/>
              </a:spcBef>
              <a:buNone/>
              <a:defRPr>
                <a:uFillTx/>
              </a:defRPr>
            </a:lvl8pPr>
            <a:lvl9pPr marL="0" lvl="8" indent="0" algn="r">
              <a:spcBef>
                <a:spcPts val="0"/>
              </a:spcBef>
              <a:buNone/>
              <a:defRPr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uFillTx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35" name="Google Shape;35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uFillTx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uFillTx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uFillTx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uFillTx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uFillTx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uFillTx/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uFillTx/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uFillTx/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uFillTx/>
              </a:defRPr>
            </a:lvl9pPr>
          </a:lstStyle>
          <a:p>
            <a:endParaRPr/>
          </a:p>
        </p:txBody>
      </p:sp>
      <p:sp>
        <p:nvSpPr>
          <p:cNvPr id="36" name="Google Shape;36;p3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uFillTx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uFillTx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uFillTx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uFillTx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uFillTx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uFillTx/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uFillTx/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uFillTx/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uFillTx/>
              </a:defRPr>
            </a:lvl9pPr>
          </a:lstStyle>
          <a:p>
            <a:endParaRPr/>
          </a:p>
        </p:txBody>
      </p:sp>
      <p:sp>
        <p:nvSpPr>
          <p:cNvPr id="37" name="Google Shape;37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38" name="Google Shape;38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39" name="Google Shape;39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uFillTx/>
              </a:defRPr>
            </a:lvl1pPr>
            <a:lvl2pPr marL="0" lvl="1" indent="0" algn="r">
              <a:spcBef>
                <a:spcPts val="0"/>
              </a:spcBef>
              <a:buNone/>
              <a:defRPr>
                <a:uFillTx/>
              </a:defRPr>
            </a:lvl2pPr>
            <a:lvl3pPr marL="0" lvl="2" indent="0" algn="r">
              <a:spcBef>
                <a:spcPts val="0"/>
              </a:spcBef>
              <a:buNone/>
              <a:defRPr>
                <a:uFillTx/>
              </a:defRPr>
            </a:lvl3pPr>
            <a:lvl4pPr marL="0" lvl="3" indent="0" algn="r">
              <a:spcBef>
                <a:spcPts val="0"/>
              </a:spcBef>
              <a:buNone/>
              <a:defRPr>
                <a:uFillTx/>
              </a:defRPr>
            </a:lvl4pPr>
            <a:lvl5pPr marL="0" lvl="4" indent="0" algn="r">
              <a:spcBef>
                <a:spcPts val="0"/>
              </a:spcBef>
              <a:buNone/>
              <a:defRPr>
                <a:uFillTx/>
              </a:defRPr>
            </a:lvl5pPr>
            <a:lvl6pPr marL="0" lvl="5" indent="0" algn="r">
              <a:spcBef>
                <a:spcPts val="0"/>
              </a:spcBef>
              <a:buNone/>
              <a:defRPr>
                <a:uFillTx/>
              </a:defRPr>
            </a:lvl6pPr>
            <a:lvl7pPr marL="0" lvl="6" indent="0" algn="r">
              <a:spcBef>
                <a:spcPts val="0"/>
              </a:spcBef>
              <a:buNone/>
              <a:defRPr>
                <a:uFillTx/>
              </a:defRPr>
            </a:lvl7pPr>
            <a:lvl8pPr marL="0" lvl="7" indent="0" algn="r">
              <a:spcBef>
                <a:spcPts val="0"/>
              </a:spcBef>
              <a:buNone/>
              <a:defRPr>
                <a:uFillTx/>
              </a:defRPr>
            </a:lvl8pPr>
            <a:lvl9pPr marL="0" lvl="8" indent="0" algn="r">
              <a:spcBef>
                <a:spcPts val="0"/>
              </a:spcBef>
              <a:buNone/>
              <a:defRPr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>
                <a:uFillTx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42" name="Google Shape;42;p4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uFillTx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uFillTx/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uFillTx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uFillTx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uFillTx/>
              </a:defRPr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uFillTx/>
              </a:defRPr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uFillTx/>
              </a:defRPr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uFillTx/>
              </a:defRPr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uFillTx/>
              </a:defRPr>
            </a:lvl9pPr>
          </a:lstStyle>
          <a:p>
            <a:endParaRPr/>
          </a:p>
        </p:txBody>
      </p:sp>
      <p:sp>
        <p:nvSpPr>
          <p:cNvPr id="43" name="Google Shape;43;p4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uFillTx/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uFillTx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uFillTx/>
              </a:defRPr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uFillTx/>
              </a:defRPr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uFillTx/>
              </a:defRPr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uFillTx/>
              </a:defRPr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uFillTx/>
              </a:defRPr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uFillTx/>
              </a:defRPr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uFillTx/>
              </a:defRPr>
            </a:lvl9pPr>
          </a:lstStyle>
          <a:p>
            <a:endParaRPr/>
          </a:p>
        </p:txBody>
      </p:sp>
      <p:sp>
        <p:nvSpPr>
          <p:cNvPr id="44" name="Google Shape;44;p4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uFillTx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uFillTx/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uFillTx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uFillTx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uFillTx/>
              </a:defRPr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uFillTx/>
              </a:defRPr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uFillTx/>
              </a:defRPr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uFillTx/>
              </a:defRPr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uFillTx/>
              </a:defRPr>
            </a:lvl9pPr>
          </a:lstStyle>
          <a:p>
            <a:endParaRPr/>
          </a:p>
        </p:txBody>
      </p:sp>
      <p:sp>
        <p:nvSpPr>
          <p:cNvPr id="45" name="Google Shape;45;p4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uFillTx/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uFillTx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uFillTx/>
              </a:defRPr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uFillTx/>
              </a:defRPr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uFillTx/>
              </a:defRPr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uFillTx/>
              </a:defRPr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uFillTx/>
              </a:defRPr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uFillTx/>
              </a:defRPr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uFillTx/>
              </a:defRPr>
            </a:lvl9pPr>
          </a:lstStyle>
          <a:p>
            <a:endParaRPr/>
          </a:p>
        </p:txBody>
      </p:sp>
      <p:sp>
        <p:nvSpPr>
          <p:cNvPr id="46" name="Google Shape;46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47" name="Google Shape;47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48" name="Google Shape;48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uFillTx/>
              </a:defRPr>
            </a:lvl1pPr>
            <a:lvl2pPr marL="0" lvl="1" indent="0" algn="r">
              <a:spcBef>
                <a:spcPts val="0"/>
              </a:spcBef>
              <a:buNone/>
              <a:defRPr>
                <a:uFillTx/>
              </a:defRPr>
            </a:lvl2pPr>
            <a:lvl3pPr marL="0" lvl="2" indent="0" algn="r">
              <a:spcBef>
                <a:spcPts val="0"/>
              </a:spcBef>
              <a:buNone/>
              <a:defRPr>
                <a:uFillTx/>
              </a:defRPr>
            </a:lvl3pPr>
            <a:lvl4pPr marL="0" lvl="3" indent="0" algn="r">
              <a:spcBef>
                <a:spcPts val="0"/>
              </a:spcBef>
              <a:buNone/>
              <a:defRPr>
                <a:uFillTx/>
              </a:defRPr>
            </a:lvl4pPr>
            <a:lvl5pPr marL="0" lvl="4" indent="0" algn="r">
              <a:spcBef>
                <a:spcPts val="0"/>
              </a:spcBef>
              <a:buNone/>
              <a:defRPr>
                <a:uFillTx/>
              </a:defRPr>
            </a:lvl5pPr>
            <a:lvl6pPr marL="0" lvl="5" indent="0" algn="r">
              <a:spcBef>
                <a:spcPts val="0"/>
              </a:spcBef>
              <a:buNone/>
              <a:defRPr>
                <a:uFillTx/>
              </a:defRPr>
            </a:lvl6pPr>
            <a:lvl7pPr marL="0" lvl="6" indent="0" algn="r">
              <a:spcBef>
                <a:spcPts val="0"/>
              </a:spcBef>
              <a:buNone/>
              <a:defRPr>
                <a:uFillTx/>
              </a:defRPr>
            </a:lvl7pPr>
            <a:lvl8pPr marL="0" lvl="7" indent="0" algn="r">
              <a:spcBef>
                <a:spcPts val="0"/>
              </a:spcBef>
              <a:buNone/>
              <a:defRPr>
                <a:uFillTx/>
              </a:defRPr>
            </a:lvl8pPr>
            <a:lvl9pPr marL="0" lvl="8" indent="0" algn="r">
              <a:spcBef>
                <a:spcPts val="0"/>
              </a:spcBef>
              <a:buNone/>
              <a:defRPr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uFillTx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51" name="Google Shape;51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52" name="Google Shape;52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53" name="Google Shape;53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uFillTx/>
              </a:defRPr>
            </a:lvl1pPr>
            <a:lvl2pPr marL="0" lvl="1" indent="0" algn="r">
              <a:spcBef>
                <a:spcPts val="0"/>
              </a:spcBef>
              <a:buNone/>
              <a:defRPr>
                <a:uFillTx/>
              </a:defRPr>
            </a:lvl2pPr>
            <a:lvl3pPr marL="0" lvl="2" indent="0" algn="r">
              <a:spcBef>
                <a:spcPts val="0"/>
              </a:spcBef>
              <a:buNone/>
              <a:defRPr>
                <a:uFillTx/>
              </a:defRPr>
            </a:lvl3pPr>
            <a:lvl4pPr marL="0" lvl="3" indent="0" algn="r">
              <a:spcBef>
                <a:spcPts val="0"/>
              </a:spcBef>
              <a:buNone/>
              <a:defRPr>
                <a:uFillTx/>
              </a:defRPr>
            </a:lvl4pPr>
            <a:lvl5pPr marL="0" lvl="4" indent="0" algn="r">
              <a:spcBef>
                <a:spcPts val="0"/>
              </a:spcBef>
              <a:buNone/>
              <a:defRPr>
                <a:uFillTx/>
              </a:defRPr>
            </a:lvl5pPr>
            <a:lvl6pPr marL="0" lvl="5" indent="0" algn="r">
              <a:spcBef>
                <a:spcPts val="0"/>
              </a:spcBef>
              <a:buNone/>
              <a:defRPr>
                <a:uFillTx/>
              </a:defRPr>
            </a:lvl6pPr>
            <a:lvl7pPr marL="0" lvl="6" indent="0" algn="r">
              <a:spcBef>
                <a:spcPts val="0"/>
              </a:spcBef>
              <a:buNone/>
              <a:defRPr>
                <a:uFillTx/>
              </a:defRPr>
            </a:lvl7pPr>
            <a:lvl8pPr marL="0" lvl="7" indent="0" algn="r">
              <a:spcBef>
                <a:spcPts val="0"/>
              </a:spcBef>
              <a:buNone/>
              <a:defRPr>
                <a:uFillTx/>
              </a:defRPr>
            </a:lvl8pPr>
            <a:lvl9pPr marL="0" lvl="8" indent="0" algn="r">
              <a:spcBef>
                <a:spcPts val="0"/>
              </a:spcBef>
              <a:buNone/>
              <a:defRPr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>
                <a:uFillTx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56" name="Google Shape;56;p4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uFillTx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>
                <a:uFillTx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uFillTx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uFillTx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>
                <a:uFillTx/>
              </a:defRPr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uFillTx/>
              </a:defRPr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uFillTx/>
              </a:defRPr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uFillTx/>
              </a:defRPr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uFillTx/>
              </a:defRPr>
            </a:lvl9pPr>
          </a:lstStyle>
          <a:p>
            <a:endParaRPr/>
          </a:p>
        </p:txBody>
      </p:sp>
      <p:sp>
        <p:nvSpPr>
          <p:cNvPr id="57" name="Google Shape;57;p4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uFillTx/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uFillTx/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uFillTx/>
              </a:defRPr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uFillTx/>
              </a:defRPr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uFillTx/>
              </a:defRPr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uFillTx/>
              </a:defRPr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uFillTx/>
              </a:defRPr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uFillTx/>
              </a:defRPr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uFillTx/>
              </a:defRPr>
            </a:lvl9pPr>
          </a:lstStyle>
          <a:p>
            <a:endParaRPr/>
          </a:p>
        </p:txBody>
      </p:sp>
      <p:sp>
        <p:nvSpPr>
          <p:cNvPr id="58" name="Google Shape;58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59" name="Google Shape;59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60" name="Google Shape;60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uFillTx/>
              </a:defRPr>
            </a:lvl1pPr>
            <a:lvl2pPr marL="0" lvl="1" indent="0" algn="r">
              <a:spcBef>
                <a:spcPts val="0"/>
              </a:spcBef>
              <a:buNone/>
              <a:defRPr>
                <a:uFillTx/>
              </a:defRPr>
            </a:lvl2pPr>
            <a:lvl3pPr marL="0" lvl="2" indent="0" algn="r">
              <a:spcBef>
                <a:spcPts val="0"/>
              </a:spcBef>
              <a:buNone/>
              <a:defRPr>
                <a:uFillTx/>
              </a:defRPr>
            </a:lvl3pPr>
            <a:lvl4pPr marL="0" lvl="3" indent="0" algn="r">
              <a:spcBef>
                <a:spcPts val="0"/>
              </a:spcBef>
              <a:buNone/>
              <a:defRPr>
                <a:uFillTx/>
              </a:defRPr>
            </a:lvl4pPr>
            <a:lvl5pPr marL="0" lvl="4" indent="0" algn="r">
              <a:spcBef>
                <a:spcPts val="0"/>
              </a:spcBef>
              <a:buNone/>
              <a:defRPr>
                <a:uFillTx/>
              </a:defRPr>
            </a:lvl5pPr>
            <a:lvl6pPr marL="0" lvl="5" indent="0" algn="r">
              <a:spcBef>
                <a:spcPts val="0"/>
              </a:spcBef>
              <a:buNone/>
              <a:defRPr>
                <a:uFillTx/>
              </a:defRPr>
            </a:lvl6pPr>
            <a:lvl7pPr marL="0" lvl="6" indent="0" algn="r">
              <a:spcBef>
                <a:spcPts val="0"/>
              </a:spcBef>
              <a:buNone/>
              <a:defRPr>
                <a:uFillTx/>
              </a:defRPr>
            </a:lvl7pPr>
            <a:lvl8pPr marL="0" lvl="7" indent="0" algn="r">
              <a:spcBef>
                <a:spcPts val="0"/>
              </a:spcBef>
              <a:buNone/>
              <a:defRPr>
                <a:uFillTx/>
              </a:defRPr>
            </a:lvl8pPr>
            <a:lvl9pPr marL="0" lvl="8" indent="0" algn="r">
              <a:spcBef>
                <a:spcPts val="0"/>
              </a:spcBef>
              <a:buNone/>
              <a:defRPr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>
                <a:uFillTx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63" name="Google Shape;63;p4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4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uFillTx/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uFillTx/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uFillTx/>
              </a:defRPr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uFillTx/>
              </a:defRPr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uFillTx/>
              </a:defRPr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uFillTx/>
              </a:defRPr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uFillTx/>
              </a:defRPr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uFillTx/>
              </a:defRPr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uFillTx/>
              </a:defRPr>
            </a:lvl9pPr>
          </a:lstStyle>
          <a:p>
            <a:endParaRPr/>
          </a:p>
        </p:txBody>
      </p:sp>
      <p:sp>
        <p:nvSpPr>
          <p:cNvPr id="65" name="Google Shape;65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66" name="Google Shape;66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67" name="Google Shape;67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uFillTx/>
              </a:defRPr>
            </a:lvl1pPr>
            <a:lvl2pPr marL="0" lvl="1" indent="0" algn="r">
              <a:spcBef>
                <a:spcPts val="0"/>
              </a:spcBef>
              <a:buNone/>
              <a:defRPr>
                <a:uFillTx/>
              </a:defRPr>
            </a:lvl2pPr>
            <a:lvl3pPr marL="0" lvl="2" indent="0" algn="r">
              <a:spcBef>
                <a:spcPts val="0"/>
              </a:spcBef>
              <a:buNone/>
              <a:defRPr>
                <a:uFillTx/>
              </a:defRPr>
            </a:lvl3pPr>
            <a:lvl4pPr marL="0" lvl="3" indent="0" algn="r">
              <a:spcBef>
                <a:spcPts val="0"/>
              </a:spcBef>
              <a:buNone/>
              <a:defRPr>
                <a:uFillTx/>
              </a:defRPr>
            </a:lvl4pPr>
            <a:lvl5pPr marL="0" lvl="4" indent="0" algn="r">
              <a:spcBef>
                <a:spcPts val="0"/>
              </a:spcBef>
              <a:buNone/>
              <a:defRPr>
                <a:uFillTx/>
              </a:defRPr>
            </a:lvl5pPr>
            <a:lvl6pPr marL="0" lvl="5" indent="0" algn="r">
              <a:spcBef>
                <a:spcPts val="0"/>
              </a:spcBef>
              <a:buNone/>
              <a:defRPr>
                <a:uFillTx/>
              </a:defRPr>
            </a:lvl6pPr>
            <a:lvl7pPr marL="0" lvl="6" indent="0" algn="r">
              <a:spcBef>
                <a:spcPts val="0"/>
              </a:spcBef>
              <a:buNone/>
              <a:defRPr>
                <a:uFillTx/>
              </a:defRPr>
            </a:lvl7pPr>
            <a:lvl8pPr marL="0" lvl="7" indent="0" algn="r">
              <a:spcBef>
                <a:spcPts val="0"/>
              </a:spcBef>
              <a:buNone/>
              <a:defRPr>
                <a:uFillTx/>
              </a:defRPr>
            </a:lvl8pPr>
            <a:lvl9pPr marL="0" lvl="8" indent="0" algn="r">
              <a:spcBef>
                <a:spcPts val="0"/>
              </a:spcBef>
              <a:buNone/>
              <a:defRPr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uFillTx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70" name="Google Shape;70;p44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uFillTx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uFillTx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uFillTx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uFillTx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>
                <a:uFillTx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uFillTx/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uFillTx/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uFillTx/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71" name="Google Shape;71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72" name="Google Shape;72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73" name="Google Shape;73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uFillTx/>
              </a:defRPr>
            </a:lvl1pPr>
            <a:lvl2pPr marL="0" lvl="1" indent="0" algn="r">
              <a:spcBef>
                <a:spcPts val="0"/>
              </a:spcBef>
              <a:buNone/>
              <a:defRPr>
                <a:uFillTx/>
              </a:defRPr>
            </a:lvl2pPr>
            <a:lvl3pPr marL="0" lvl="2" indent="0" algn="r">
              <a:spcBef>
                <a:spcPts val="0"/>
              </a:spcBef>
              <a:buNone/>
              <a:defRPr>
                <a:uFillTx/>
              </a:defRPr>
            </a:lvl3pPr>
            <a:lvl4pPr marL="0" lvl="3" indent="0" algn="r">
              <a:spcBef>
                <a:spcPts val="0"/>
              </a:spcBef>
              <a:buNone/>
              <a:defRPr>
                <a:uFillTx/>
              </a:defRPr>
            </a:lvl4pPr>
            <a:lvl5pPr marL="0" lvl="4" indent="0" algn="r">
              <a:spcBef>
                <a:spcPts val="0"/>
              </a:spcBef>
              <a:buNone/>
              <a:defRPr>
                <a:uFillTx/>
              </a:defRPr>
            </a:lvl5pPr>
            <a:lvl6pPr marL="0" lvl="5" indent="0" algn="r">
              <a:spcBef>
                <a:spcPts val="0"/>
              </a:spcBef>
              <a:buNone/>
              <a:defRPr>
                <a:uFillTx/>
              </a:defRPr>
            </a:lvl6pPr>
            <a:lvl7pPr marL="0" lvl="6" indent="0" algn="r">
              <a:spcBef>
                <a:spcPts val="0"/>
              </a:spcBef>
              <a:buNone/>
              <a:defRPr>
                <a:uFillTx/>
              </a:defRPr>
            </a:lvl7pPr>
            <a:lvl8pPr marL="0" lvl="7" indent="0" algn="r">
              <a:spcBef>
                <a:spcPts val="0"/>
              </a:spcBef>
              <a:buNone/>
              <a:defRPr>
                <a:uFillTx/>
              </a:defRPr>
            </a:lvl8pPr>
            <a:lvl9pPr marL="0" lvl="8" indent="0" algn="r">
              <a:spcBef>
                <a:spcPts val="0"/>
              </a:spcBef>
              <a:buNone/>
              <a:defRPr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5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uFillTx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76" name="Google Shape;76;p4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uFillTx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uFillTx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uFillTx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uFillTx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>
                <a:uFillTx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uFillTx/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uFillTx/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uFillTx/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77" name="Google Shape;77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78" name="Google Shape;78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79" name="Google Shape;79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uFillTx/>
              </a:defRPr>
            </a:lvl1pPr>
            <a:lvl2pPr marL="0" lvl="1" indent="0" algn="r">
              <a:spcBef>
                <a:spcPts val="0"/>
              </a:spcBef>
              <a:buNone/>
              <a:defRPr>
                <a:uFillTx/>
              </a:defRPr>
            </a:lvl2pPr>
            <a:lvl3pPr marL="0" lvl="2" indent="0" algn="r">
              <a:spcBef>
                <a:spcPts val="0"/>
              </a:spcBef>
              <a:buNone/>
              <a:defRPr>
                <a:uFillTx/>
              </a:defRPr>
            </a:lvl3pPr>
            <a:lvl4pPr marL="0" lvl="3" indent="0" algn="r">
              <a:spcBef>
                <a:spcPts val="0"/>
              </a:spcBef>
              <a:buNone/>
              <a:defRPr>
                <a:uFillTx/>
              </a:defRPr>
            </a:lvl4pPr>
            <a:lvl5pPr marL="0" lvl="4" indent="0" algn="r">
              <a:spcBef>
                <a:spcPts val="0"/>
              </a:spcBef>
              <a:buNone/>
              <a:defRPr>
                <a:uFillTx/>
              </a:defRPr>
            </a:lvl5pPr>
            <a:lvl6pPr marL="0" lvl="5" indent="0" algn="r">
              <a:spcBef>
                <a:spcPts val="0"/>
              </a:spcBef>
              <a:buNone/>
              <a:defRPr>
                <a:uFillTx/>
              </a:defRPr>
            </a:lvl6pPr>
            <a:lvl7pPr marL="0" lvl="6" indent="0" algn="r">
              <a:spcBef>
                <a:spcPts val="0"/>
              </a:spcBef>
              <a:buNone/>
              <a:defRPr>
                <a:uFillTx/>
              </a:defRPr>
            </a:lvl7pPr>
            <a:lvl8pPr marL="0" lvl="7" indent="0" algn="r">
              <a:spcBef>
                <a:spcPts val="0"/>
              </a:spcBef>
              <a:buNone/>
              <a:defRPr>
                <a:uFillTx/>
              </a:defRPr>
            </a:lvl8pPr>
            <a:lvl9pPr marL="0" lvl="8" indent="0" algn="r">
              <a:spcBef>
                <a:spcPts val="0"/>
              </a:spcBef>
              <a:buNone/>
              <a:defRPr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uFillTx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uFillTx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uFillTx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uFillTx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uFillTx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uFillTx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uFillTx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uFillTx/>
              </a:defRPr>
            </a:lvl9pPr>
          </a:lstStyle>
          <a:p>
            <a:endParaRPr/>
          </a:p>
        </p:txBody>
      </p:sp>
      <p:sp>
        <p:nvSpPr>
          <p:cNvPr id="7" name="Google Shape;7;p3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gi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title"/>
          </p:nvPr>
        </p:nvSpPr>
        <p:spPr>
          <a:xfrm>
            <a:off x="457200" y="1600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uFillTx/>
              </a:rPr>
              <a:t>Data Analysis</a:t>
            </a:r>
            <a:endParaRPr>
              <a:uFillTx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body" idx="1"/>
          </p:nvPr>
        </p:nvSpPr>
        <p:spPr>
          <a:xfrm>
            <a:off x="1219200" y="3124200"/>
            <a:ext cx="6705600" cy="163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>
                <a:uFillTx/>
              </a:rPr>
              <a:t>Understanding your results by making a graph to analyze your data</a:t>
            </a:r>
            <a:endParaRPr>
              <a:uFillTx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uFillTx/>
              </a:rPr>
              <a:t>Graphs Tell a Story</a:t>
            </a:r>
            <a:endParaRPr>
              <a:uFillTx/>
            </a:endParaRPr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520700" y="381000"/>
            <a:ext cx="8102600" cy="608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uFillTx/>
              </a:rPr>
              <a:t>Goals for today</a:t>
            </a:r>
            <a:endParaRPr>
              <a:uFillTx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>
                <a:uFillTx/>
              </a:rPr>
              <a:t>Learn how to make a Graph from data you have collected</a:t>
            </a:r>
            <a:endParaRPr>
              <a:uFillTx/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>
                <a:uFillTx/>
              </a:rPr>
              <a:t>Data tables, labels, type</a:t>
            </a:r>
            <a:endParaRPr>
              <a:uFillTx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>
                <a:uFillTx/>
              </a:rPr>
              <a:t>Learn how to describe a graph</a:t>
            </a:r>
            <a:endParaRPr>
              <a:uFillTx/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>
                <a:uFillTx/>
              </a:rPr>
              <a:t>linear, non-linear, exponential</a:t>
            </a:r>
            <a:endParaRPr>
              <a:uFillTx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>
                <a:uFillTx/>
              </a:rPr>
              <a:t>Learn how to interpret a graph</a:t>
            </a:r>
            <a:endParaRPr>
              <a:uFillTx/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>
                <a:uFillTx/>
              </a:rPr>
              <a:t>What is the relationship? – proportional, directly proportional, inversely proportional, negative relationship, positive relationship</a:t>
            </a:r>
            <a:endParaRPr>
              <a:uFillTx/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>
                <a:uFillTx/>
              </a:rPr>
              <a:t>What physical quantity does the slope tell you?</a:t>
            </a:r>
            <a:endParaRPr>
              <a:uFillTx/>
            </a:endParaRPr>
          </a:p>
          <a:p>
            <a:pPr marL="342900" lvl="0" indent="-154940" algn="l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None/>
            </a:pPr>
            <a:endParaRPr sz="2960">
              <a:uFillTx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4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304800" y="3124200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uFillTx/>
              </a:rPr>
              <a:t>Why Use Graphs</a:t>
            </a:r>
            <a:endParaRPr>
              <a:uFillTx/>
            </a:endParaRPr>
          </a:p>
        </p:txBody>
      </p:sp>
      <p:sp>
        <p:nvSpPr>
          <p:cNvPr id="104" name="Google Shape;104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Organizing our data into a graph does more than make it aesthetically pleasing (pretty)</a:t>
            </a:r>
            <a:endParaRPr>
              <a:uFillTx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It tells a story</a:t>
            </a:r>
            <a:endParaRPr>
              <a:uFillTx/>
            </a:endParaRPr>
          </a:p>
        </p:txBody>
      </p:sp>
      <p:pic>
        <p:nvPicPr>
          <p:cNvPr id="105" name="Google Shape;105;p4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4092117" y="2895600"/>
            <a:ext cx="4747083" cy="356500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>
            <a:spLocks/>
          </p:cNvSpPr>
          <p:nvPr/>
        </p:nvSpPr>
        <p:spPr>
          <a:xfrm>
            <a:off x="4453217" y="3244334"/>
            <a:ext cx="2375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 </a:t>
            </a:r>
            <a:endParaRPr>
              <a:uFillTx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155574" y="274638"/>
            <a:ext cx="86836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uFillTx/>
              </a:rPr>
              <a:t>Data Tables</a:t>
            </a:r>
            <a:endParaRPr>
              <a:uFillTx/>
            </a:endParaRPr>
          </a:p>
        </p:txBody>
      </p:sp>
      <p:sp>
        <p:nvSpPr>
          <p:cNvPr id="112" name="Google Shape;112;p5"/>
          <p:cNvSpPr txBox="1">
            <a:spLocks noGrp="1"/>
          </p:cNvSpPr>
          <p:nvPr>
            <p:ph type="body" idx="1"/>
          </p:nvPr>
        </p:nvSpPr>
        <p:spPr>
          <a:xfrm>
            <a:off x="381000" y="1600200"/>
            <a:ext cx="8382000" cy="2819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>
                <a:uFillTx/>
              </a:rPr>
              <a:t>Make a data table and then use it to plot your data</a:t>
            </a:r>
            <a:endParaRPr>
              <a:uFillTx/>
            </a:endParaRPr>
          </a:p>
        </p:txBody>
      </p:sp>
      <p:sp>
        <p:nvSpPr>
          <p:cNvPr id="113" name="Google Shape;113;p5" descr="Image result for scatter plot"/>
          <p:cNvSpPr>
            <a:spLocks/>
          </p:cNvSpPr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 descr="Image result for scatter plot"/>
          <p:cNvSpPr>
            <a:spLocks/>
          </p:cNvSpPr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 descr="Image result for scatter plot"/>
          <p:cNvSpPr>
            <a:spLocks/>
          </p:cNvSpPr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6" name="Google Shape;116;p5"/>
          <p:cNvGraphicFramePr/>
          <p:nvPr/>
        </p:nvGraphicFramePr>
        <p:xfrm>
          <a:off x="1214492" y="3124200"/>
          <a:ext cx="1444650" cy="2057375"/>
        </p:xfrm>
        <a:graphic>
          <a:graphicData uri="http://schemas.openxmlformats.org/drawingml/2006/table">
            <a:tbl>
              <a:tblPr firstRow="1" bandRow="1">
                <a:noFill/>
                <a:tableStyleId>{7AB29088-EDAB-466E-9625-AE3AC6B142C0}</a:tableStyleId>
              </a:tblPr>
              <a:tblGrid>
                <a:gridCol w="7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X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Y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0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0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1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2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2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4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3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6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7" name="Google Shape;117;p5"/>
          <p:cNvGraphicFramePr/>
          <p:nvPr/>
        </p:nvGraphicFramePr>
        <p:xfrm>
          <a:off x="2895600" y="3124200"/>
          <a:ext cx="1444650" cy="2057375"/>
        </p:xfrm>
        <a:graphic>
          <a:graphicData uri="http://schemas.openxmlformats.org/drawingml/2006/table">
            <a:tbl>
              <a:tblPr firstRow="1" bandRow="1">
                <a:noFill/>
                <a:tableStyleId>{7AB29088-EDAB-466E-9625-AE3AC6B142C0}</a:tableStyleId>
              </a:tblPr>
              <a:tblGrid>
                <a:gridCol w="7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IV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DV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0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0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1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2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2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4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3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6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8" name="Google Shape;118;p5"/>
          <p:cNvGraphicFramePr/>
          <p:nvPr/>
        </p:nvGraphicFramePr>
        <p:xfrm>
          <a:off x="6327774" y="3124200"/>
          <a:ext cx="1444650" cy="2057375"/>
        </p:xfrm>
        <a:graphic>
          <a:graphicData uri="http://schemas.openxmlformats.org/drawingml/2006/table">
            <a:tbl>
              <a:tblPr firstRow="1" bandRow="1">
                <a:noFill/>
                <a:tableStyleId>{7AB29088-EDAB-466E-9625-AE3AC6B142C0}</a:tableStyleId>
              </a:tblPr>
              <a:tblGrid>
                <a:gridCol w="7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t (s)</a:t>
                      </a:r>
                      <a:endParaRPr sz="1800" u="none" strike="noStrike" cap="none">
                        <a:uFillTx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d (m)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0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0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1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2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2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4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3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6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9" name="Google Shape;119;p5"/>
          <p:cNvGraphicFramePr/>
          <p:nvPr/>
        </p:nvGraphicFramePr>
        <p:xfrm>
          <a:off x="4572000" y="3124200"/>
          <a:ext cx="1444650" cy="2072630"/>
        </p:xfrm>
        <a:graphic>
          <a:graphicData uri="http://schemas.openxmlformats.org/drawingml/2006/table">
            <a:tbl>
              <a:tblPr firstRow="1" bandRow="1">
                <a:noFill/>
                <a:tableStyleId>{7AB29088-EDAB-466E-9625-AE3AC6B142C0}</a:tableStyleId>
              </a:tblPr>
              <a:tblGrid>
                <a:gridCol w="7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uFillTx/>
                        </a:rPr>
                        <a:t>Time (seconds)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uFillTx/>
                        </a:rPr>
                        <a:t>Distance (meters)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0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0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1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2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2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4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3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uFillTx/>
                        </a:rPr>
                        <a:t>6</a:t>
                      </a:r>
                      <a:endParaRPr>
                        <a:uFillTx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0" name="Google Shape;120;p5"/>
          <p:cNvSpPr>
            <a:spLocks/>
          </p:cNvSpPr>
          <p:nvPr/>
        </p:nvSpPr>
        <p:spPr>
          <a:xfrm>
            <a:off x="1219200" y="5486400"/>
            <a:ext cx="6553200" cy="106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GENERAL -------------------------------------------------------------SPECIFIC</a:t>
            </a:r>
            <a:endParaRPr>
              <a:uFillTx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MATH------------------------------------------------------------------SCIENCE</a:t>
            </a:r>
            <a:endParaRPr>
              <a:uFillTx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155574" y="274638"/>
            <a:ext cx="8759826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uFillTx/>
              </a:rPr>
              <a:t>Graph Types</a:t>
            </a:r>
            <a:endParaRPr>
              <a:uFillTx/>
            </a:endParaRPr>
          </a:p>
        </p:txBody>
      </p:sp>
      <p:sp>
        <p:nvSpPr>
          <p:cNvPr id="126" name="Google Shape;126;p6"/>
          <p:cNvSpPr txBox="1">
            <a:spLocks noGrp="1"/>
          </p:cNvSpPr>
          <p:nvPr>
            <p:ph type="body" idx="1"/>
          </p:nvPr>
        </p:nvSpPr>
        <p:spPr>
          <a:xfrm>
            <a:off x="381000" y="1600200"/>
            <a:ext cx="8382000" cy="2819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>
                <a:uFillTx/>
              </a:rPr>
              <a:t>X-Y Scatter Plot</a:t>
            </a:r>
            <a:endParaRPr>
              <a:uFillTx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>
                <a:uFillTx/>
              </a:rPr>
              <a:t>Bar/Column Graph</a:t>
            </a:r>
            <a:endParaRPr>
              <a:uFillTx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>
                <a:uFillTx/>
              </a:rPr>
              <a:t>Pie Chart</a:t>
            </a:r>
            <a:endParaRPr>
              <a:uFillTx/>
            </a:endParaRPr>
          </a:p>
        </p:txBody>
      </p:sp>
      <p:sp>
        <p:nvSpPr>
          <p:cNvPr id="127" name="Google Shape;127;p6" descr="Image result for scatter plot"/>
          <p:cNvSpPr>
            <a:spLocks/>
          </p:cNvSpPr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 descr="Image result for scatter plot"/>
          <p:cNvSpPr>
            <a:spLocks/>
          </p:cNvSpPr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 descr="Image result for scatter plot"/>
          <p:cNvSpPr>
            <a:spLocks/>
          </p:cNvSpPr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6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155575" y="4191000"/>
            <a:ext cx="2764665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6" descr="https://lh6.googleusercontent.com/Nct2h8Bx1q8nmjNUOxglL9GtxdoQSGuvJL9iE5p1vFStdnLUJnz3verU0Z5_f0PmcTwV5hR4BuImVkdraw7H50evwMfwiKZh1F1IwsxMiVM9rQwZWbsU-1umjlv3zhawCY30RxqP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3200400" y="3389707"/>
            <a:ext cx="2617573" cy="3026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6" descr="https://lh3.googleusercontent.com/XngviUiyk6lfJxFSv-sM62vUL-OiKcjYcFJgGXsOG1BBiZBldG4Lo-voxoMkMXuv__bIDAEV9lDrR3udWNFBjc7GP2Jh7bf4VVUXmkoMpSfeSABBWg4YQ2RjbYG2T2y3LTP2rYoC"/>
          <p:cNvPicPr preferRelativeResize="0"/>
          <p:nvPr/>
        </p:nvPicPr>
        <p:blipFill rotWithShape="1">
          <a:blip r:embed="rId5"/>
          <a:srcRect/>
          <a:stretch/>
        </p:blipFill>
        <p:spPr>
          <a:xfrm>
            <a:off x="6553200" y="3862387"/>
            <a:ext cx="1839746" cy="2081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47144" y="274638"/>
            <a:ext cx="869205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uFillTx/>
              </a:rPr>
              <a:t>X-Y Scatter Plot</a:t>
            </a:r>
            <a:endParaRPr>
              <a:uFillTx/>
            </a:endParaRPr>
          </a:p>
        </p:txBody>
      </p:sp>
      <p:sp>
        <p:nvSpPr>
          <p:cNvPr id="138" name="Google Shape;138;p7"/>
          <p:cNvSpPr txBox="1">
            <a:spLocks noGrp="1"/>
          </p:cNvSpPr>
          <p:nvPr>
            <p:ph type="body" idx="1"/>
          </p:nvPr>
        </p:nvSpPr>
        <p:spPr>
          <a:xfrm>
            <a:off x="381000" y="1600200"/>
            <a:ext cx="8382000" cy="2819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uFillTx/>
              </a:rPr>
              <a:t>used to determine </a:t>
            </a:r>
            <a:r>
              <a:rPr lang="en-US" b="1">
                <a:uFillTx/>
              </a:rPr>
              <a:t>relationships</a:t>
            </a:r>
            <a:r>
              <a:rPr lang="en-US">
                <a:uFillTx/>
              </a:rPr>
              <a:t> between the two different variables</a:t>
            </a:r>
            <a:endParaRPr>
              <a:uFillTx/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uFillTx/>
              </a:rPr>
              <a:t>X-axis – Independent Variable</a:t>
            </a:r>
            <a:endParaRPr>
              <a:uFillTx/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uFillTx/>
              </a:rPr>
              <a:t>Y- axis – Dependent variable</a:t>
            </a:r>
            <a:endParaRPr>
              <a:uFillTx/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uFillTx/>
              </a:rPr>
              <a:t>most common type of graph you will use in science</a:t>
            </a:r>
            <a:endParaRPr>
              <a:uFillTx/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uFillTx/>
              </a:rPr>
              <a:t>Do not connect the dots, instead use a trendline!</a:t>
            </a:r>
            <a:endParaRPr>
              <a:uFillTx/>
            </a:endParaRPr>
          </a:p>
        </p:txBody>
      </p:sp>
      <p:sp>
        <p:nvSpPr>
          <p:cNvPr id="139" name="Google Shape;139;p7" descr="Image result for scatter plot"/>
          <p:cNvSpPr>
            <a:spLocks/>
          </p:cNvSpPr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 descr="Image result for scatter plot"/>
          <p:cNvSpPr>
            <a:spLocks/>
          </p:cNvSpPr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 descr="Image result for scatter plot"/>
          <p:cNvSpPr>
            <a:spLocks/>
          </p:cNvSpPr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7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2514600" y="4231821"/>
            <a:ext cx="3962400" cy="25118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7"/>
          <p:cNvCxnSpPr/>
          <p:nvPr/>
        </p:nvCxnSpPr>
        <p:spPr>
          <a:xfrm rot="10800000" flipH="1">
            <a:off x="3657600" y="4495800"/>
            <a:ext cx="2133600" cy="1676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155574" y="274638"/>
            <a:ext cx="86836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uFillTx/>
              </a:rPr>
              <a:t>Bar/Column Graph</a:t>
            </a:r>
            <a:endParaRPr>
              <a:uFillTx/>
            </a:endParaRPr>
          </a:p>
        </p:txBody>
      </p:sp>
      <p:sp>
        <p:nvSpPr>
          <p:cNvPr id="149" name="Google Shape;149;p8"/>
          <p:cNvSpPr txBox="1">
            <a:spLocks noGrp="1"/>
          </p:cNvSpPr>
          <p:nvPr>
            <p:ph type="body" idx="1"/>
          </p:nvPr>
        </p:nvSpPr>
        <p:spPr>
          <a:xfrm>
            <a:off x="381000" y="1447800"/>
            <a:ext cx="8382000" cy="281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used to </a:t>
            </a:r>
            <a:r>
              <a:rPr lang="en-US" b="1">
                <a:uFillTx/>
              </a:rPr>
              <a:t>compare</a:t>
            </a:r>
            <a:r>
              <a:rPr lang="en-US">
                <a:uFillTx/>
              </a:rPr>
              <a:t> two or more different groups</a:t>
            </a:r>
            <a:endParaRPr>
              <a:uFillTx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they do not show changes over time</a:t>
            </a:r>
            <a:endParaRPr>
              <a:uFillTx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There is no relationship</a:t>
            </a:r>
            <a:endParaRPr>
              <a:uFillTx/>
            </a:endParaRPr>
          </a:p>
        </p:txBody>
      </p:sp>
      <p:sp>
        <p:nvSpPr>
          <p:cNvPr id="150" name="Google Shape;150;p8" descr="Image result for scatter plot"/>
          <p:cNvSpPr>
            <a:spLocks/>
          </p:cNvSpPr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 descr="Image result for scatter plot"/>
          <p:cNvSpPr>
            <a:spLocks/>
          </p:cNvSpPr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 descr="Image result for scatter plot"/>
          <p:cNvSpPr>
            <a:spLocks/>
          </p:cNvSpPr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>
            <a:spLocks/>
          </p:cNvSpPr>
          <p:nvPr/>
        </p:nvSpPr>
        <p:spPr>
          <a:xfrm>
            <a:off x="765175" y="5334000"/>
            <a:ext cx="8150225" cy="1200329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Both the </a:t>
            </a:r>
            <a:r>
              <a:rPr lang="en-US" sz="1800" b="1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Bar</a:t>
            </a:r>
            <a:r>
              <a:rPr lang="en-US" sz="1800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 and the </a:t>
            </a:r>
            <a:r>
              <a:rPr lang="en-US" sz="1800" b="1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Column</a:t>
            </a:r>
            <a:r>
              <a:rPr lang="en-US" sz="1800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 charts display data using rectangular </a:t>
            </a:r>
            <a:r>
              <a:rPr lang="en-US" sz="1800" b="1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bars</a:t>
            </a:r>
            <a:r>
              <a:rPr lang="en-US" sz="1800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 where the length of the </a:t>
            </a:r>
            <a:r>
              <a:rPr lang="en-US" sz="1800" b="1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bar</a:t>
            </a:r>
            <a:r>
              <a:rPr lang="en-US" sz="1800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 is proportional to the data value. Both are used to compare two or more values. However, their </a:t>
            </a:r>
            <a:r>
              <a:rPr lang="en-US" sz="1800" b="1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difference</a:t>
            </a:r>
            <a:r>
              <a:rPr lang="en-US" sz="1800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 lies in their orientation. A </a:t>
            </a:r>
            <a:r>
              <a:rPr lang="en-US" sz="1800" b="1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Bar chart</a:t>
            </a:r>
            <a:r>
              <a:rPr lang="en-US" sz="1800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 is oriented horizontally whereas the </a:t>
            </a:r>
            <a:r>
              <a:rPr lang="en-US" sz="1800" b="1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Column chart</a:t>
            </a:r>
            <a:r>
              <a:rPr lang="en-US" sz="1800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 is oriented vertically.</a:t>
            </a:r>
            <a:endParaRPr>
              <a:uFillTx/>
            </a:endParaRPr>
          </a:p>
        </p:txBody>
      </p:sp>
      <p:sp>
        <p:nvSpPr>
          <p:cNvPr id="154" name="Google Shape;154;p8" descr="Image result for bar graph"/>
          <p:cNvSpPr>
            <a:spLocks/>
          </p:cNvSpPr>
          <p:nvPr/>
        </p:nvSpPr>
        <p:spPr>
          <a:xfrm>
            <a:off x="612775" y="3127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 descr="Image result for bar graph"/>
          <p:cNvSpPr>
            <a:spLocks/>
          </p:cNvSpPr>
          <p:nvPr/>
        </p:nvSpPr>
        <p:spPr>
          <a:xfrm>
            <a:off x="765175" y="4651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 descr="bar graph for fruit"/>
          <p:cNvSpPr>
            <a:spLocks/>
          </p:cNvSpPr>
          <p:nvPr/>
        </p:nvSpPr>
        <p:spPr>
          <a:xfrm>
            <a:off x="917575" y="6175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8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5410200" y="3172442"/>
            <a:ext cx="2836863" cy="1942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8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914400" y="3172442"/>
            <a:ext cx="2151071" cy="1942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>
            <a:spLocks noGrp="1"/>
          </p:cNvSpPr>
          <p:nvPr>
            <p:ph type="title"/>
          </p:nvPr>
        </p:nvSpPr>
        <p:spPr>
          <a:xfrm>
            <a:off x="155574" y="274638"/>
            <a:ext cx="8759826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>
                <a:uFillTx/>
              </a:rPr>
              <a:t>Pie Chart</a:t>
            </a:r>
            <a:endParaRPr>
              <a:uFillTx/>
            </a:endParaRPr>
          </a:p>
        </p:txBody>
      </p:sp>
      <p:sp>
        <p:nvSpPr>
          <p:cNvPr id="164" name="Google Shape;164;p9"/>
          <p:cNvSpPr txBox="1">
            <a:spLocks noGrp="1"/>
          </p:cNvSpPr>
          <p:nvPr>
            <p:ph type="body" idx="1"/>
          </p:nvPr>
        </p:nvSpPr>
        <p:spPr>
          <a:xfrm>
            <a:off x="381000" y="1600201"/>
            <a:ext cx="8382000" cy="182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>
                <a:uFillTx/>
              </a:rPr>
              <a:t>used when you are trying to compare parts of a whole</a:t>
            </a:r>
            <a:endParaRPr>
              <a:uFillTx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>
                <a:uFillTx/>
              </a:rPr>
              <a:t>they do not show changes over time</a:t>
            </a:r>
            <a:endParaRPr>
              <a:uFillTx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>
                <a:uFillTx/>
              </a:rPr>
              <a:t>There is no relationship</a:t>
            </a:r>
            <a:endParaRPr>
              <a:uFillTx/>
            </a:endParaRPr>
          </a:p>
        </p:txBody>
      </p:sp>
      <p:sp>
        <p:nvSpPr>
          <p:cNvPr id="165" name="Google Shape;165;p9" descr="Image result for scatter plot"/>
          <p:cNvSpPr>
            <a:spLocks/>
          </p:cNvSpPr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 descr="Image result for scatter plot"/>
          <p:cNvSpPr>
            <a:spLocks/>
          </p:cNvSpPr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 descr="Image result for scatter plot"/>
          <p:cNvSpPr>
            <a:spLocks/>
          </p:cNvSpPr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9" descr="https://lh3.googleusercontent.com/XngviUiyk6lfJxFSv-sM62vUL-OiKcjYcFJgGXsOG1BBiZBldG4Lo-voxoMkMXuv__bIDAEV9lDrR3udWNFBjc7GP2Jh7bf4VVUXmkoMpSfeSABBWg4YQ2RjbYG2T2y3LTP2rYoC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3276600" y="3405187"/>
            <a:ext cx="2819400" cy="3189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uFillTx/>
              </a:rPr>
              <a:t>Where is the Relationship Shown?</a:t>
            </a:r>
            <a:endParaRPr>
              <a:uFillTx/>
            </a:endParaRPr>
          </a:p>
        </p:txBody>
      </p:sp>
      <p:pic>
        <p:nvPicPr>
          <p:cNvPr id="174" name="Google Shape;174;p10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304800" y="2364921"/>
            <a:ext cx="3962400" cy="25118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10"/>
          <p:cNvCxnSpPr/>
          <p:nvPr/>
        </p:nvCxnSpPr>
        <p:spPr>
          <a:xfrm rot="10800000" flipH="1">
            <a:off x="1447800" y="2628900"/>
            <a:ext cx="2133600" cy="1676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pic>
        <p:nvPicPr>
          <p:cNvPr id="176" name="Google Shape;176;p10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5791200" y="1543974"/>
            <a:ext cx="2116293" cy="1449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0" descr="https://lh3.googleusercontent.com/XngviUiyk6lfJxFSv-sM62vUL-OiKcjYcFJgGXsOG1BBiZBldG4Lo-voxoMkMXuv__bIDAEV9lDrR3udWNFBjc7GP2Jh7bf4VVUXmkoMpSfeSABBWg4YQ2RjbYG2T2y3LTP2rYoC"/>
          <p:cNvPicPr preferRelativeResize="0"/>
          <p:nvPr/>
        </p:nvPicPr>
        <p:blipFill rotWithShape="1">
          <a:blip r:embed="rId5"/>
          <a:srcRect/>
          <a:stretch/>
        </p:blipFill>
        <p:spPr>
          <a:xfrm>
            <a:off x="6149693" y="3379562"/>
            <a:ext cx="1717111" cy="194248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0"/>
          <p:cNvSpPr>
            <a:spLocks/>
          </p:cNvSpPr>
          <p:nvPr/>
        </p:nvSpPr>
        <p:spPr>
          <a:xfrm>
            <a:off x="914400" y="5314026"/>
            <a:ext cx="3124200" cy="1010574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RELATIONSHIP BETWEEN Y-VALUE AND X-VALUE</a:t>
            </a:r>
            <a:endParaRPr>
              <a:uFillTx/>
            </a:endParaRPr>
          </a:p>
        </p:txBody>
      </p:sp>
      <p:sp>
        <p:nvSpPr>
          <p:cNvPr id="179" name="Google Shape;179;p10"/>
          <p:cNvSpPr>
            <a:spLocks/>
          </p:cNvSpPr>
          <p:nvPr/>
        </p:nvSpPr>
        <p:spPr>
          <a:xfrm>
            <a:off x="5446148" y="5322044"/>
            <a:ext cx="3124200" cy="1010574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NO RELATIONSHIP</a:t>
            </a:r>
            <a:endParaRPr>
              <a:uFillTx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>
                <a:uFillTx/>
              </a:rPr>
              <a:t>How to Interpret an X-Y Scatter Plot</a:t>
            </a:r>
            <a:endParaRPr>
              <a:uFillTx/>
            </a:endParaRPr>
          </a:p>
        </p:txBody>
      </p:sp>
      <p:sp>
        <p:nvSpPr>
          <p:cNvPr id="185" name="Google Shape;185;p11"/>
          <p:cNvSpPr txBox="1">
            <a:spLocks noGrp="1"/>
          </p:cNvSpPr>
          <p:nvPr>
            <p:ph type="body" idx="1"/>
          </p:nvPr>
        </p:nvSpPr>
        <p:spPr>
          <a:xfrm>
            <a:off x="381000" y="1600200"/>
            <a:ext cx="8382000" cy="2819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Is it:</a:t>
            </a:r>
            <a:endParaRPr>
              <a:uFillTx/>
            </a:endParaRPr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uFillTx/>
              </a:rPr>
              <a:t>Linear or non-linear</a:t>
            </a:r>
            <a:endParaRPr>
              <a:uFillTx/>
            </a:endParaRPr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uFillTx/>
              </a:rPr>
              <a:t>Proportional ,directly proportional or inversely proportional</a:t>
            </a:r>
            <a:endParaRPr>
              <a:uFillTx/>
            </a:endParaRPr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uFillTx/>
              </a:rPr>
              <a:t>Positive or negative relationship</a:t>
            </a:r>
            <a:endParaRPr>
              <a:uFillTx/>
            </a:endParaRPr>
          </a:p>
        </p:txBody>
      </p:sp>
      <p:sp>
        <p:nvSpPr>
          <p:cNvPr id="186" name="Google Shape;186;p11" descr="Image result for scatter plot"/>
          <p:cNvSpPr>
            <a:spLocks/>
          </p:cNvSpPr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 descr="Image result for scatter plot"/>
          <p:cNvSpPr>
            <a:spLocks/>
          </p:cNvSpPr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 descr="Image result for scatter plot"/>
          <p:cNvSpPr>
            <a:spLocks/>
          </p:cNvSpPr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uFillTx/>
              </a:rPr>
              <a:t>Linear &amp; Constant Slope</a:t>
            </a:r>
            <a:endParaRPr>
              <a:uFillTx/>
            </a:endParaRPr>
          </a:p>
        </p:txBody>
      </p:sp>
      <p:pic>
        <p:nvPicPr>
          <p:cNvPr id="194" name="Google Shape;194;p12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914400" y="2621016"/>
            <a:ext cx="3248025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2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904875" y="4812424"/>
            <a:ext cx="325755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2"/>
          <p:cNvPicPr preferRelativeResize="0"/>
          <p:nvPr/>
        </p:nvPicPr>
        <p:blipFill rotWithShape="1">
          <a:blip r:embed="rId5"/>
          <a:srcRect/>
          <a:stretch/>
        </p:blipFill>
        <p:spPr>
          <a:xfrm>
            <a:off x="4953000" y="2655175"/>
            <a:ext cx="3248025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2"/>
          <p:cNvPicPr preferRelativeResize="0"/>
          <p:nvPr/>
        </p:nvPicPr>
        <p:blipFill rotWithShape="1">
          <a:blip r:embed="rId6"/>
          <a:srcRect/>
          <a:stretch/>
        </p:blipFill>
        <p:spPr>
          <a:xfrm>
            <a:off x="4957762" y="4838700"/>
            <a:ext cx="3238500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2"/>
          <p:cNvSpPr txBox="1">
            <a:spLocks noGrp="1"/>
          </p:cNvSpPr>
          <p:nvPr>
            <p:ph type="body" idx="1"/>
          </p:nvPr>
        </p:nvSpPr>
        <p:spPr>
          <a:xfrm>
            <a:off x="381000" y="1600201"/>
            <a:ext cx="83820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These types of graphs will always have straight lines</a:t>
            </a:r>
            <a:endParaRPr>
              <a:uFillTx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"/>
          <p:cNvSpPr txBox="1"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uFillTx/>
              </a:rPr>
              <a:t>Non Linear &amp; Changing Slope</a:t>
            </a:r>
            <a:endParaRPr>
              <a:uFillTx/>
            </a:endParaRPr>
          </a:p>
        </p:txBody>
      </p:sp>
      <p:pic>
        <p:nvPicPr>
          <p:cNvPr id="204" name="Google Shape;204;p13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914400" y="2691962"/>
            <a:ext cx="3248025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3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5029200" y="2696724"/>
            <a:ext cx="3228975" cy="200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3"/>
          <p:cNvSpPr txBox="1">
            <a:spLocks noGrp="1"/>
          </p:cNvSpPr>
          <p:nvPr>
            <p:ph type="body" idx="1"/>
          </p:nvPr>
        </p:nvSpPr>
        <p:spPr>
          <a:xfrm>
            <a:off x="381000" y="1600201"/>
            <a:ext cx="83820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These types of graphs will always have curved lines</a:t>
            </a:r>
            <a:endParaRPr>
              <a:uFillTx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 txBox="1"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uFillTx/>
              </a:rPr>
              <a:t>Positive or Negative Relationship</a:t>
            </a:r>
            <a:endParaRPr>
              <a:uFillTx/>
            </a:endParaRPr>
          </a:p>
        </p:txBody>
      </p:sp>
      <p:sp>
        <p:nvSpPr>
          <p:cNvPr id="212" name="Google Shape;212;p14"/>
          <p:cNvSpPr txBox="1">
            <a:spLocks noGrp="1"/>
          </p:cNvSpPr>
          <p:nvPr>
            <p:ph type="body" idx="1"/>
          </p:nvPr>
        </p:nvSpPr>
        <p:spPr>
          <a:xfrm>
            <a:off x="381000" y="1600200"/>
            <a:ext cx="8382000" cy="495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Positive - as x-axis increases, y-axis increases too</a:t>
            </a:r>
            <a:endParaRPr>
              <a:uFillTx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uFillTx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uFillTx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>
              <a:uFillTx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Negative -as x-axis increases, y-axis decreases</a:t>
            </a:r>
            <a:endParaRPr>
              <a:uFillTx/>
            </a:endParaRPr>
          </a:p>
        </p:txBody>
      </p:sp>
      <p:sp>
        <p:nvSpPr>
          <p:cNvPr id="213" name="Google Shape;213;p14"/>
          <p:cNvSpPr txBox="1">
            <a:spLocks/>
          </p:cNvSpPr>
          <p:nvPr/>
        </p:nvSpPr>
        <p:spPr>
          <a:xfrm>
            <a:off x="1828800" y="3200400"/>
            <a:ext cx="4343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14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1058916" y="2895600"/>
            <a:ext cx="2218028" cy="1368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4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3352799" y="2895600"/>
            <a:ext cx="2218028" cy="1372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4"/>
          <p:cNvPicPr preferRelativeResize="0"/>
          <p:nvPr/>
        </p:nvPicPr>
        <p:blipFill rotWithShape="1">
          <a:blip r:embed="rId5"/>
          <a:srcRect/>
          <a:stretch/>
        </p:blipFill>
        <p:spPr>
          <a:xfrm>
            <a:off x="5632412" y="2895600"/>
            <a:ext cx="2216188" cy="1379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4"/>
          <p:cNvPicPr preferRelativeResize="0"/>
          <p:nvPr/>
        </p:nvPicPr>
        <p:blipFill rotWithShape="1">
          <a:blip r:embed="rId6"/>
          <a:srcRect/>
          <a:stretch/>
        </p:blipFill>
        <p:spPr>
          <a:xfrm>
            <a:off x="2286000" y="5029200"/>
            <a:ext cx="2176462" cy="1357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4"/>
          <p:cNvPicPr preferRelativeResize="0"/>
          <p:nvPr/>
        </p:nvPicPr>
        <p:blipFill rotWithShape="1">
          <a:blip r:embed="rId7"/>
          <a:srcRect/>
          <a:stretch/>
        </p:blipFill>
        <p:spPr>
          <a:xfrm>
            <a:off x="4673901" y="5029200"/>
            <a:ext cx="2182863" cy="1357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"/>
          <p:cNvSpPr txBox="1"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uFillTx/>
              </a:rPr>
              <a:t>Proportionality</a:t>
            </a:r>
            <a:endParaRPr>
              <a:uFillTx/>
            </a:endParaRPr>
          </a:p>
        </p:txBody>
      </p:sp>
      <p:sp>
        <p:nvSpPr>
          <p:cNvPr id="224" name="Google Shape;224;p15"/>
          <p:cNvSpPr txBox="1">
            <a:spLocks noGrp="1"/>
          </p:cNvSpPr>
          <p:nvPr>
            <p:ph type="body" idx="1"/>
          </p:nvPr>
        </p:nvSpPr>
        <p:spPr>
          <a:xfrm>
            <a:off x="381000" y="1600201"/>
            <a:ext cx="83820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Proportional – as IV increases, DV increases</a:t>
            </a:r>
            <a:endParaRPr>
              <a:uFillTx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Directly Proportional – as IV increases, DV increases and goes through 0,0</a:t>
            </a:r>
            <a:endParaRPr>
              <a:uFillTx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Inversely Proportional – as IV increases, DV decreases</a:t>
            </a:r>
            <a:endParaRPr>
              <a:uFillTx/>
            </a:endParaRPr>
          </a:p>
        </p:txBody>
      </p:sp>
      <p:sp>
        <p:nvSpPr>
          <p:cNvPr id="225" name="Google Shape;225;p15"/>
          <p:cNvSpPr txBox="1">
            <a:spLocks/>
          </p:cNvSpPr>
          <p:nvPr/>
        </p:nvSpPr>
        <p:spPr>
          <a:xfrm>
            <a:off x="2281237" y="3176588"/>
            <a:ext cx="4343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15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3496972" y="4652213"/>
            <a:ext cx="2218028" cy="1368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5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914400" y="4655878"/>
            <a:ext cx="2218028" cy="1372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5"/>
          <p:cNvPicPr preferRelativeResize="0"/>
          <p:nvPr/>
        </p:nvPicPr>
        <p:blipFill rotWithShape="1">
          <a:blip r:embed="rId5"/>
          <a:srcRect/>
          <a:stretch/>
        </p:blipFill>
        <p:spPr>
          <a:xfrm>
            <a:off x="6046737" y="4663557"/>
            <a:ext cx="2182863" cy="1357088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5"/>
          <p:cNvSpPr txBox="1">
            <a:spLocks/>
          </p:cNvSpPr>
          <p:nvPr/>
        </p:nvSpPr>
        <p:spPr>
          <a:xfrm>
            <a:off x="152400" y="6019800"/>
            <a:ext cx="8077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                    PROPORTIONAL                             DIRECTLY                                INVERSELY </a:t>
            </a:r>
            <a:endParaRPr>
              <a:uFillTx/>
            </a:endParaRPr>
          </a:p>
        </p:txBody>
      </p:sp>
      <p:sp>
        <p:nvSpPr>
          <p:cNvPr id="230" name="Google Shape;230;p15"/>
          <p:cNvSpPr txBox="1">
            <a:spLocks/>
          </p:cNvSpPr>
          <p:nvPr/>
        </p:nvSpPr>
        <p:spPr>
          <a:xfrm>
            <a:off x="914400" y="6248400"/>
            <a:ext cx="7315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                                                          PROPORTIONAL                    PROPORTIONAL</a:t>
            </a:r>
            <a:endParaRPr>
              <a:uFillTx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/>
          <p:cNvSpPr txBox="1"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uFillTx/>
              </a:rPr>
              <a:t>Nonlinear</a:t>
            </a:r>
            <a:endParaRPr>
              <a:uFillTx/>
            </a:endParaRPr>
          </a:p>
        </p:txBody>
      </p:sp>
      <p:sp>
        <p:nvSpPr>
          <p:cNvPr id="236" name="Google Shape;236;p16"/>
          <p:cNvSpPr txBox="1">
            <a:spLocks noGrp="1"/>
          </p:cNvSpPr>
          <p:nvPr>
            <p:ph type="body" idx="1"/>
          </p:nvPr>
        </p:nvSpPr>
        <p:spPr>
          <a:xfrm>
            <a:off x="228600" y="1447800"/>
            <a:ext cx="8991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Not a straight line path</a:t>
            </a:r>
            <a:endParaRPr>
              <a:uFillTx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Look at the WHOLE picture for trends or patterns</a:t>
            </a:r>
            <a:endParaRPr>
              <a:uFillTx/>
            </a:endParaRPr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uFillTx/>
              </a:rPr>
              <a:t>may or may not be present</a:t>
            </a:r>
            <a:endParaRPr>
              <a:uFillTx/>
            </a:endParaRPr>
          </a:p>
        </p:txBody>
      </p:sp>
      <p:pic>
        <p:nvPicPr>
          <p:cNvPr id="237" name="Google Shape;237;p16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3962400" y="4495800"/>
            <a:ext cx="3009900" cy="2310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6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5410200" y="2743200"/>
            <a:ext cx="3433052" cy="1770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6"/>
          <p:cNvPicPr preferRelativeResize="0"/>
          <p:nvPr/>
        </p:nvPicPr>
        <p:blipFill rotWithShape="1">
          <a:blip r:embed="rId5"/>
          <a:srcRect/>
          <a:stretch/>
        </p:blipFill>
        <p:spPr>
          <a:xfrm>
            <a:off x="0" y="3124200"/>
            <a:ext cx="3962400" cy="2768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17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4267200" y="4191000"/>
            <a:ext cx="4876800" cy="260096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uFillTx/>
              </a:rPr>
              <a:t>Exponential </a:t>
            </a:r>
            <a:endParaRPr>
              <a:uFillTx/>
            </a:endParaRPr>
          </a:p>
        </p:txBody>
      </p:sp>
      <p:sp>
        <p:nvSpPr>
          <p:cNvPr id="246" name="Google Shape;246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Graph increases or decreases by huge factors (shaped as a curve)</a:t>
            </a:r>
            <a:endParaRPr>
              <a:uFillTx/>
            </a:endParaRPr>
          </a:p>
        </p:txBody>
      </p:sp>
      <p:pic>
        <p:nvPicPr>
          <p:cNvPr id="247" name="Google Shape;247;p17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152400" y="3805499"/>
            <a:ext cx="4584700" cy="30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7"/>
          <p:cNvPicPr preferRelativeResize="0"/>
          <p:nvPr/>
        </p:nvPicPr>
        <p:blipFill rotWithShape="1">
          <a:blip r:embed="rId5"/>
          <a:srcRect/>
          <a:stretch/>
        </p:blipFill>
        <p:spPr>
          <a:xfrm>
            <a:off x="5486400" y="2324100"/>
            <a:ext cx="3505200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uFillTx/>
              </a:rPr>
              <a:t>Examples</a:t>
            </a:r>
            <a:endParaRPr>
              <a:uFillTx/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Discuss the following graphs</a:t>
            </a:r>
            <a:endParaRPr>
              <a:uFillTx/>
            </a:endParaRPr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uFillTx/>
              </a:rPr>
              <a:t>What shape is the graph? (linear, nonlinear, exponential)</a:t>
            </a:r>
            <a:endParaRPr>
              <a:uFillTx/>
            </a:endParaRPr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uFillTx/>
              </a:rPr>
              <a:t>What is the relationship between variables? (positive or negative)</a:t>
            </a:r>
            <a:endParaRPr>
              <a:uFillTx/>
            </a:endParaRPr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uFillTx/>
              </a:rPr>
              <a:t>Is it proportional, directly proportional, inversely proportional?</a:t>
            </a:r>
            <a:endParaRPr>
              <a:uFillTx/>
            </a:endParaRPr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uFillTx/>
              </a:rPr>
              <a:t>What story does it tell? (as X increases, Y _______)</a:t>
            </a:r>
            <a:endParaRPr>
              <a:uFillTx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19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304800" y="838200"/>
            <a:ext cx="8588535" cy="5149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0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838200" y="1219200"/>
            <a:ext cx="7230248" cy="4831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1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457200" y="1295400"/>
            <a:ext cx="7821384" cy="4343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2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227198" y="762000"/>
            <a:ext cx="8134234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3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837631" y="838200"/>
            <a:ext cx="7581900" cy="51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"/>
          <p:cNvSpPr txBox="1">
            <a:spLocks noGrp="1"/>
          </p:cNvSpPr>
          <p:nvPr>
            <p:ph type="title"/>
          </p:nvPr>
        </p:nvSpPr>
        <p:spPr>
          <a:xfrm>
            <a:off x="0" y="274638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uFillTx/>
              </a:rPr>
              <a:t>Making a Graph</a:t>
            </a:r>
            <a:endParaRPr>
              <a:uFillTx/>
            </a:endParaRPr>
          </a:p>
        </p:txBody>
      </p:sp>
      <p:sp>
        <p:nvSpPr>
          <p:cNvPr id="285" name="Google Shape;285;p24"/>
          <p:cNvSpPr txBox="1">
            <a:spLocks noGrp="1"/>
          </p:cNvSpPr>
          <p:nvPr>
            <p:ph type="body" idx="1"/>
          </p:nvPr>
        </p:nvSpPr>
        <p:spPr>
          <a:xfrm>
            <a:off x="381000" y="1600200"/>
            <a:ext cx="83820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>
                <a:uFillTx/>
              </a:rPr>
              <a:t>Make a data table</a:t>
            </a:r>
            <a:endParaRPr>
              <a:uFillTx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>
                <a:uFillTx/>
              </a:rPr>
              <a:t>Choose a graph type</a:t>
            </a:r>
            <a:endParaRPr>
              <a:uFillTx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>
                <a:uFillTx/>
              </a:rPr>
              <a:t>Plot your data</a:t>
            </a:r>
            <a:endParaRPr>
              <a:uFillTx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>
                <a:uFillTx/>
              </a:rPr>
              <a:t>Do not connect the dots</a:t>
            </a:r>
            <a:endParaRPr>
              <a:uFillTx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>
                <a:uFillTx/>
              </a:rPr>
              <a:t>Add a trendline if appropriate</a:t>
            </a:r>
            <a:endParaRPr>
              <a:uFillTx/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>
                <a:uFillTx/>
              </a:rPr>
              <a:t>If linear or exponential</a:t>
            </a:r>
            <a:endParaRPr>
              <a:uFillTx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>
                <a:uFillTx/>
              </a:rPr>
              <a:t>Give your graph a title</a:t>
            </a:r>
            <a:endParaRPr>
              <a:uFillTx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>
                <a:uFillTx/>
              </a:rPr>
              <a:t>Label your axes with variable and unit</a:t>
            </a:r>
            <a:endParaRPr>
              <a:uFillTx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>
                <a:uFillTx/>
              </a:rPr>
              <a:t>Scale your axes</a:t>
            </a:r>
            <a:endParaRPr>
              <a:uFillTx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 txBox="1">
            <a:spLocks noGrp="1"/>
          </p:cNvSpPr>
          <p:nvPr>
            <p:ph type="title"/>
          </p:nvPr>
        </p:nvSpPr>
        <p:spPr>
          <a:xfrm>
            <a:off x="0" y="274638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uFillTx/>
              </a:rPr>
              <a:t>Make a data table</a:t>
            </a:r>
            <a:endParaRPr>
              <a:uFillTx/>
            </a:endParaRPr>
          </a:p>
        </p:txBody>
      </p:sp>
      <p:sp>
        <p:nvSpPr>
          <p:cNvPr id="291" name="Google Shape;291;p25"/>
          <p:cNvSpPr txBox="1">
            <a:spLocks noGrp="1"/>
          </p:cNvSpPr>
          <p:nvPr>
            <p:ph type="body" idx="1"/>
          </p:nvPr>
        </p:nvSpPr>
        <p:spPr>
          <a:xfrm>
            <a:off x="381000" y="1600201"/>
            <a:ext cx="8382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Put your data in two x-y columns and label it</a:t>
            </a:r>
            <a:endParaRPr>
              <a:uFillTx/>
            </a:endParaRPr>
          </a:p>
        </p:txBody>
      </p:sp>
      <p:pic>
        <p:nvPicPr>
          <p:cNvPr id="292" name="Google Shape;292;p25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4800600" y="2356485"/>
            <a:ext cx="3810000" cy="252412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293" name="Google Shape;293;p25" descr="Image result for x-y data table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1447800" y="2789871"/>
            <a:ext cx="1581150" cy="1657351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5"/>
          <p:cNvSpPr>
            <a:spLocks/>
          </p:cNvSpPr>
          <p:nvPr/>
        </p:nvSpPr>
        <p:spPr>
          <a:xfrm>
            <a:off x="1347787" y="4984071"/>
            <a:ext cx="1781175" cy="914400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MATH CLASS</a:t>
            </a:r>
            <a:endParaRPr>
              <a:uFillTx/>
            </a:endParaRPr>
          </a:p>
        </p:txBody>
      </p:sp>
      <p:sp>
        <p:nvSpPr>
          <p:cNvPr id="295" name="Google Shape;295;p25"/>
          <p:cNvSpPr>
            <a:spLocks/>
          </p:cNvSpPr>
          <p:nvPr/>
        </p:nvSpPr>
        <p:spPr>
          <a:xfrm>
            <a:off x="5791200" y="4984071"/>
            <a:ext cx="1828800" cy="914400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SCIENCE CLASS</a:t>
            </a:r>
            <a:endParaRPr>
              <a:uFillTx/>
            </a:endParaRPr>
          </a:p>
        </p:txBody>
      </p:sp>
      <p:sp>
        <p:nvSpPr>
          <p:cNvPr id="296" name="Google Shape;296;p25"/>
          <p:cNvSpPr txBox="1">
            <a:spLocks/>
          </p:cNvSpPr>
          <p:nvPr/>
        </p:nvSpPr>
        <p:spPr>
          <a:xfrm>
            <a:off x="2177248" y="6065988"/>
            <a:ext cx="4789503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rPr>
              <a:t>ONLY WRITE UNITS IN TOP BOXES WITH LABELS</a:t>
            </a:r>
            <a:endParaRPr dirty="0">
              <a:uFillTx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 txBox="1">
            <a:spLocks noGrp="1"/>
          </p:cNvSpPr>
          <p:nvPr>
            <p:ph type="title"/>
          </p:nvPr>
        </p:nvSpPr>
        <p:spPr>
          <a:xfrm>
            <a:off x="0" y="274638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uFillTx/>
              </a:rPr>
              <a:t>Label Your Scatterplots in this Manner</a:t>
            </a:r>
            <a:endParaRPr>
              <a:uFillTx/>
            </a:endParaRPr>
          </a:p>
        </p:txBody>
      </p:sp>
      <p:sp>
        <p:nvSpPr>
          <p:cNvPr id="302" name="Google Shape;302;p26"/>
          <p:cNvSpPr txBox="1">
            <a:spLocks noGrp="1"/>
          </p:cNvSpPr>
          <p:nvPr>
            <p:ph type="body" idx="1"/>
          </p:nvPr>
        </p:nvSpPr>
        <p:spPr>
          <a:xfrm>
            <a:off x="381000" y="1600200"/>
            <a:ext cx="83820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>
                <a:uFillTx/>
              </a:rPr>
              <a:t>Give your graph a descriptive title</a:t>
            </a:r>
            <a:endParaRPr>
              <a:uFillTx/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>
                <a:uFillTx/>
              </a:rPr>
              <a:t>“The relationship between DV (y-axis quantity) and IDV (x-axis quantity)”</a:t>
            </a:r>
            <a:endParaRPr>
              <a:uFillTx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>
                <a:uFillTx/>
              </a:rPr>
              <a:t>Label your axes with 3 things</a:t>
            </a:r>
            <a:endParaRPr>
              <a:uFillTx/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>
                <a:uFillTx/>
              </a:rPr>
              <a:t>What it is measuring</a:t>
            </a:r>
            <a:endParaRPr>
              <a:uFillTx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>
                <a:uFillTx/>
              </a:rPr>
              <a:t>i.e. temperature, time, mass</a:t>
            </a:r>
            <a:endParaRPr>
              <a:uFillTx/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>
                <a:uFillTx/>
              </a:rPr>
              <a:t>Units of measurement</a:t>
            </a:r>
            <a:endParaRPr>
              <a:uFillTx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>
                <a:uFillTx/>
              </a:rPr>
              <a:t>i.e. Celsius, seconds, grams</a:t>
            </a:r>
            <a:endParaRPr>
              <a:uFillTx/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>
                <a:uFillTx/>
              </a:rPr>
              <a:t>Show your scale</a:t>
            </a:r>
            <a:endParaRPr>
              <a:uFillTx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>
                <a:uFillTx/>
              </a:rPr>
              <a:t>numbers</a:t>
            </a:r>
            <a:endParaRPr>
              <a:uFillTx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"/>
          <p:cNvSpPr txBox="1">
            <a:spLocks noGrp="1"/>
          </p:cNvSpPr>
          <p:nvPr>
            <p:ph type="title"/>
          </p:nvPr>
        </p:nvSpPr>
        <p:spPr>
          <a:xfrm>
            <a:off x="0" y="274638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uFillTx/>
              </a:rPr>
              <a:t>Add a Trendline</a:t>
            </a:r>
            <a:endParaRPr>
              <a:uFillTx/>
            </a:endParaRPr>
          </a:p>
        </p:txBody>
      </p:sp>
      <p:sp>
        <p:nvSpPr>
          <p:cNvPr id="308" name="Google Shape;308;p27"/>
          <p:cNvSpPr txBox="1">
            <a:spLocks noGrp="1"/>
          </p:cNvSpPr>
          <p:nvPr>
            <p:ph type="body" idx="1"/>
          </p:nvPr>
        </p:nvSpPr>
        <p:spPr>
          <a:xfrm>
            <a:off x="381000" y="1600200"/>
            <a:ext cx="83820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DO NOT CONNECT THE DOTS</a:t>
            </a:r>
            <a:endParaRPr>
              <a:uFillTx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Add a trendline, linear, exponential or power series as appropriate</a:t>
            </a:r>
            <a:endParaRPr>
              <a:uFillTx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A trendline is the average of your data</a:t>
            </a:r>
            <a:endParaRPr>
              <a:uFillTx/>
            </a:endParaRPr>
          </a:p>
        </p:txBody>
      </p:sp>
      <p:pic>
        <p:nvPicPr>
          <p:cNvPr id="309" name="Google Shape;309;p27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2362200" y="3810000"/>
            <a:ext cx="3810000" cy="2760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8"/>
          <p:cNvSpPr txBox="1">
            <a:spLocks noGrp="1"/>
          </p:cNvSpPr>
          <p:nvPr>
            <p:ph type="title"/>
          </p:nvPr>
        </p:nvSpPr>
        <p:spPr>
          <a:xfrm>
            <a:off x="0" y="274638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959">
                <a:uFillTx/>
              </a:rPr>
              <a:t>Label Your Bar and Pie Charts in this Manner</a:t>
            </a:r>
            <a:endParaRPr>
              <a:uFillTx/>
            </a:endParaRPr>
          </a:p>
        </p:txBody>
      </p:sp>
      <p:sp>
        <p:nvSpPr>
          <p:cNvPr id="315" name="Google Shape;315;p28"/>
          <p:cNvSpPr txBox="1">
            <a:spLocks noGrp="1"/>
          </p:cNvSpPr>
          <p:nvPr>
            <p:ph type="body" idx="1"/>
          </p:nvPr>
        </p:nvSpPr>
        <p:spPr>
          <a:xfrm>
            <a:off x="381000" y="1600200"/>
            <a:ext cx="83820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Give your chart a descriptive title</a:t>
            </a:r>
            <a:endParaRPr>
              <a:uFillTx/>
            </a:endParaRPr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uFillTx/>
              </a:rPr>
              <a:t>DO NOT call it a relationship</a:t>
            </a:r>
            <a:endParaRPr>
              <a:uFillTx/>
            </a:endParaRPr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uFillTx/>
              </a:rPr>
              <a:t>Explain what the chart is telling you</a:t>
            </a:r>
            <a:endParaRPr>
              <a:uFillTx/>
            </a:endParaRPr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uFillTx/>
              </a:rPr>
              <a:t>“Comparison” might be a good title word</a:t>
            </a:r>
            <a:endParaRPr>
              <a:uFillTx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For Bar/Column Charts</a:t>
            </a:r>
            <a:endParaRPr>
              <a:uFillTx/>
            </a:endParaRPr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uFillTx/>
              </a:rPr>
              <a:t>Label your axes appropriately</a:t>
            </a:r>
            <a:endParaRPr>
              <a:uFillTx/>
            </a:endParaRPr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uFillTx/>
              </a:rPr>
              <a:t>if necessary provide a key to identify what bars are telling you</a:t>
            </a:r>
            <a:endParaRPr>
              <a:uFillTx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9"/>
          <p:cNvSpPr txBox="1">
            <a:spLocks noGrp="1"/>
          </p:cNvSpPr>
          <p:nvPr>
            <p:ph type="title"/>
          </p:nvPr>
        </p:nvSpPr>
        <p:spPr>
          <a:xfrm>
            <a:off x="0" y="274638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uFillTx/>
              </a:rPr>
              <a:t>Let’s Try it In Google Sheets!</a:t>
            </a:r>
            <a:endParaRPr>
              <a:uFillTx/>
            </a:endParaRPr>
          </a:p>
        </p:txBody>
      </p:sp>
      <p:sp>
        <p:nvSpPr>
          <p:cNvPr id="321" name="Google Shape;321;p29"/>
          <p:cNvSpPr txBox="1">
            <a:spLocks noGrp="1"/>
          </p:cNvSpPr>
          <p:nvPr>
            <p:ph type="body" idx="1"/>
          </p:nvPr>
        </p:nvSpPr>
        <p:spPr>
          <a:xfrm>
            <a:off x="381000" y="1600200"/>
            <a:ext cx="83820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Everybody open a blank Google Sheets file and follow along with your instructor.</a:t>
            </a:r>
            <a:endParaRPr>
              <a:uFillTx/>
            </a:endParaRPr>
          </a:p>
        </p:txBody>
      </p:sp>
      <p:pic>
        <p:nvPicPr>
          <p:cNvPr id="322" name="Google Shape;322;p29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7696200" y="381000"/>
            <a:ext cx="1367218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0"/>
          <p:cNvSpPr txBox="1">
            <a:spLocks noGrp="1"/>
          </p:cNvSpPr>
          <p:nvPr>
            <p:ph type="title"/>
          </p:nvPr>
        </p:nvSpPr>
        <p:spPr>
          <a:xfrm>
            <a:off x="0" y="274638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uFillTx/>
              </a:rPr>
              <a:t>Let’s Plot a Relationship!</a:t>
            </a:r>
            <a:endParaRPr>
              <a:uFillTx/>
            </a:endParaRPr>
          </a:p>
        </p:txBody>
      </p:sp>
      <p:sp>
        <p:nvSpPr>
          <p:cNvPr id="328" name="Google Shape;328;p30"/>
          <p:cNvSpPr txBox="1">
            <a:spLocks noGrp="1"/>
          </p:cNvSpPr>
          <p:nvPr>
            <p:ph type="body" idx="1"/>
          </p:nvPr>
        </p:nvSpPr>
        <p:spPr>
          <a:xfrm>
            <a:off x="381000" y="1600200"/>
            <a:ext cx="83820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>
                <a:uFillTx/>
              </a:rPr>
              <a:t>The </a:t>
            </a:r>
            <a:r>
              <a:rPr lang="en-US" dirty="0">
                <a:highlight>
                  <a:srgbClr val="FF9900"/>
                </a:highlight>
                <a:uFillTx/>
              </a:rPr>
              <a:t>Force (F)</a:t>
            </a:r>
            <a:r>
              <a:rPr lang="en-US" dirty="0">
                <a:uFillTx/>
              </a:rPr>
              <a:t> a spring exerts is directly proportional to the </a:t>
            </a:r>
            <a:r>
              <a:rPr lang="en-US" dirty="0">
                <a:highlight>
                  <a:srgbClr val="FFFF00"/>
                </a:highlight>
                <a:uFillTx/>
              </a:rPr>
              <a:t>distance it is stretched</a:t>
            </a:r>
            <a:r>
              <a:rPr lang="en-US" dirty="0">
                <a:uFillTx/>
              </a:rPr>
              <a:t> and can be written in the form of a linear [y = f(x)] equation as F = </a:t>
            </a:r>
            <a:r>
              <a:rPr lang="en-US" dirty="0" err="1">
                <a:uFillTx/>
              </a:rPr>
              <a:t>kx</a:t>
            </a:r>
            <a:r>
              <a:rPr lang="en-US" dirty="0">
                <a:uFillTx/>
              </a:rPr>
              <a:t>, where k is the spring constant.  Let’s make a scatterplot of </a:t>
            </a:r>
            <a:r>
              <a:rPr lang="en-US" dirty="0">
                <a:highlight>
                  <a:srgbClr val="FF9900"/>
                </a:highlight>
                <a:uFillTx/>
              </a:rPr>
              <a:t>F = </a:t>
            </a:r>
            <a:r>
              <a:rPr lang="en-US" dirty="0" err="1">
                <a:highlight>
                  <a:srgbClr val="FF9900"/>
                </a:highlight>
                <a:uFillTx/>
              </a:rPr>
              <a:t>kx</a:t>
            </a:r>
            <a:r>
              <a:rPr lang="en-US" dirty="0">
                <a:uFillTx/>
              </a:rPr>
              <a:t> for </a:t>
            </a:r>
            <a:r>
              <a:rPr lang="en-US" dirty="0">
                <a:highlight>
                  <a:srgbClr val="FFFF00"/>
                </a:highlight>
                <a:uFillTx/>
              </a:rPr>
              <a:t>x = 0, .025, .045, .080 &amp; .095 m</a:t>
            </a:r>
            <a:r>
              <a:rPr lang="en-US" dirty="0">
                <a:uFillTx/>
              </a:rPr>
              <a:t> where k equals 100.</a:t>
            </a:r>
            <a:endParaRPr dirty="0">
              <a:uFillTx/>
            </a:endParaRPr>
          </a:p>
          <a:p>
            <a:pPr marL="342900" lvl="0" indent="-2540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highlight>
                  <a:srgbClr val="FF9900"/>
                </a:highlight>
                <a:uFillTx/>
              </a:rPr>
              <a:t>F= 100x</a:t>
            </a:r>
            <a:endParaRPr dirty="0">
              <a:highlight>
                <a:srgbClr val="FF9900"/>
              </a:highlight>
              <a:uFillTx/>
            </a:endParaRPr>
          </a:p>
        </p:txBody>
      </p:sp>
      <p:pic>
        <p:nvPicPr>
          <p:cNvPr id="329" name="Google Shape;329;p30" descr="Image result for mass on a spring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5029200" y="4800600"/>
            <a:ext cx="2523837" cy="1761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0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7696200" y="381000"/>
            <a:ext cx="1367218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"/>
          <p:cNvSpPr txBox="1">
            <a:spLocks noGrp="1"/>
          </p:cNvSpPr>
          <p:nvPr>
            <p:ph type="title"/>
          </p:nvPr>
        </p:nvSpPr>
        <p:spPr>
          <a:xfrm>
            <a:off x="0" y="274638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uFillTx/>
              </a:rPr>
              <a:t>Let’s Make a Pie Chart!</a:t>
            </a:r>
            <a:endParaRPr dirty="0">
              <a:uFillTx/>
            </a:endParaRPr>
          </a:p>
        </p:txBody>
      </p:sp>
      <p:sp>
        <p:nvSpPr>
          <p:cNvPr id="336" name="Google Shape;336;p31"/>
          <p:cNvSpPr txBox="1">
            <a:spLocks noGrp="1"/>
          </p:cNvSpPr>
          <p:nvPr>
            <p:ph type="body" idx="1"/>
          </p:nvPr>
        </p:nvSpPr>
        <p:spPr>
          <a:xfrm>
            <a:off x="381000" y="1600200"/>
            <a:ext cx="83820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>
                <a:uFillTx/>
              </a:rPr>
              <a:t>What percentage of students in this class have birthdays during the following quarters?</a:t>
            </a:r>
            <a:endParaRPr dirty="0">
              <a:uFillTx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>
                <a:uFillTx/>
              </a:rPr>
              <a:t>Q1 Jan-Mar- 25%</a:t>
            </a:r>
            <a:endParaRPr dirty="0">
              <a:uFillTx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>
                <a:uFillTx/>
              </a:rPr>
              <a:t>Q2 Apr-Jun-10%</a:t>
            </a:r>
            <a:endParaRPr dirty="0">
              <a:uFillTx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>
                <a:uFillTx/>
              </a:rPr>
              <a:t>Q3 Jul-Sep- 5%</a:t>
            </a:r>
            <a:endParaRPr dirty="0">
              <a:uFillTx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>
                <a:uFillTx/>
              </a:rPr>
              <a:t>Q4 Oct-Dec-60%</a:t>
            </a:r>
            <a:endParaRPr dirty="0">
              <a:uFillTx/>
            </a:endParaRPr>
          </a:p>
        </p:txBody>
      </p:sp>
      <p:pic>
        <p:nvPicPr>
          <p:cNvPr id="337" name="Google Shape;337;p31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7658100" y="228600"/>
            <a:ext cx="1257300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 txBox="1">
            <a:spLocks noGrp="1"/>
          </p:cNvSpPr>
          <p:nvPr>
            <p:ph type="title"/>
          </p:nvPr>
        </p:nvSpPr>
        <p:spPr>
          <a:xfrm>
            <a:off x="0" y="274638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uFillTx/>
              </a:rPr>
              <a:t>Let’s Make a Bar/Column Graph!</a:t>
            </a:r>
            <a:endParaRPr dirty="0">
              <a:uFillTx/>
            </a:endParaRPr>
          </a:p>
        </p:txBody>
      </p:sp>
      <p:sp>
        <p:nvSpPr>
          <p:cNvPr id="343" name="Google Shape;343;p32"/>
          <p:cNvSpPr txBox="1">
            <a:spLocks noGrp="1"/>
          </p:cNvSpPr>
          <p:nvPr>
            <p:ph type="body" idx="1"/>
          </p:nvPr>
        </p:nvSpPr>
        <p:spPr>
          <a:xfrm>
            <a:off x="381000" y="1600200"/>
            <a:ext cx="83820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Compare the different cars at the car rental agency when the following cars are available for rent:</a:t>
            </a:r>
            <a:endParaRPr>
              <a:uFillTx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uFillTx/>
              </a:rPr>
              <a:t>10 Jeeps, 25 SUVs, 15 Economy Cars, 25 mid-size cars, 5 luxury cars, and 15 convertibles.</a:t>
            </a:r>
            <a:endParaRPr>
              <a:uFillTx/>
            </a:endParaRPr>
          </a:p>
        </p:txBody>
      </p:sp>
      <p:pic>
        <p:nvPicPr>
          <p:cNvPr id="344" name="Google Shape;344;p32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7696200" y="347378"/>
            <a:ext cx="1315570" cy="948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uFillTx/>
              </a:rPr>
              <a:t>Graphing Homework</a:t>
            </a:r>
            <a:endParaRPr>
              <a:uFillTx/>
            </a:endParaRPr>
          </a:p>
        </p:txBody>
      </p:sp>
      <p:sp>
        <p:nvSpPr>
          <p:cNvPr id="350" name="Google Shape;350;p3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>
                <a:uFillTx/>
              </a:rPr>
              <a:t>Graphing Lab</a:t>
            </a:r>
            <a:endParaRPr dirty="0">
              <a:uFillTx/>
            </a:endParaRPr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dirty="0">
                <a:uFillTx/>
              </a:rPr>
              <a:t>Complete on Google Classroom</a:t>
            </a:r>
            <a:endParaRPr dirty="0">
              <a:uFillTx/>
            </a:endParaRPr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dirty="0">
                <a:uFillTx/>
              </a:rPr>
              <a:t>Due next class</a:t>
            </a:r>
            <a:endParaRPr dirty="0">
              <a:uFillTx/>
            </a:endParaRPr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dirty="0" err="1">
                <a:uFillTx/>
              </a:rPr>
              <a:t>DoO</a:t>
            </a:r>
            <a:r>
              <a:rPr lang="en-US" dirty="0">
                <a:uFillTx/>
              </a:rPr>
              <a:t> not forget to “Turn In”</a:t>
            </a:r>
            <a:endParaRPr dirty="0">
              <a:uFillTx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971</Words>
  <Application>Microsoft Office PowerPoint</Application>
  <PresentationFormat>On-screen Show (4:3)</PresentationFormat>
  <Paragraphs>170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Data Analysis</vt:lpstr>
      <vt:lpstr>Graphs Tell a Story</vt:lpstr>
      <vt:lpstr>Goals for today</vt:lpstr>
      <vt:lpstr>Why Use Graphs</vt:lpstr>
      <vt:lpstr>Data Tables</vt:lpstr>
      <vt:lpstr>Graph Types</vt:lpstr>
      <vt:lpstr>X-Y Scatter Plot</vt:lpstr>
      <vt:lpstr>Bar/Column Graph</vt:lpstr>
      <vt:lpstr>Pie Chart</vt:lpstr>
      <vt:lpstr>Where is the Relationship Shown?</vt:lpstr>
      <vt:lpstr>How to Interpret an X-Y Scatter Plot</vt:lpstr>
      <vt:lpstr>Linear &amp; Constant Slope</vt:lpstr>
      <vt:lpstr>Non Linear &amp; Changing Slope</vt:lpstr>
      <vt:lpstr>Positive or Negative Relationship</vt:lpstr>
      <vt:lpstr>Proportionality</vt:lpstr>
      <vt:lpstr>Nonlinear</vt:lpstr>
      <vt:lpstr>Exponential </vt:lpstr>
      <vt:lpstr>Examples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Making a Graph</vt:lpstr>
      <vt:lpstr>Make a data table</vt:lpstr>
      <vt:lpstr>Label Your Scatterplots in this Manner</vt:lpstr>
      <vt:lpstr>Add a Trendline</vt:lpstr>
      <vt:lpstr>Label Your Bar and Pie Charts in this Manner</vt:lpstr>
      <vt:lpstr>Let’s Try it In Google Sheets!</vt:lpstr>
      <vt:lpstr>Let’s Plot a Relationship!</vt:lpstr>
      <vt:lpstr>Let’s Make a Pie Chart!</vt:lpstr>
      <vt:lpstr>Let’s Make a Bar/Column Graph!</vt:lpstr>
      <vt:lpstr>Graphing 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</dc:title>
  <dc:creator>Chelsea Zaniboni</dc:creator>
  <cp:lastModifiedBy>Joseph Lyons</cp:lastModifiedBy>
  <cp:revision>1</cp:revision>
  <dcterms:created xsi:type="dcterms:W3CDTF">2017-08-11T20:34:10Z</dcterms:created>
  <dcterms:modified xsi:type="dcterms:W3CDTF">2021-09-02T17:24:37Z</dcterms:modified>
</cp:coreProperties>
</file>