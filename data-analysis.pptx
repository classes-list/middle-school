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media/image26.gif" ContentType="image/gif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Slide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Slide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Slid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Slide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gif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60020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Data Analysis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1219320" y="3124080"/>
            <a:ext cx="6705720" cy="1630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algn="ctr"/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Understanding your results by making a graph to analyze your data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 txBox="1"/>
          <p:nvPr/>
        </p:nvSpPr>
        <p:spPr>
          <a:xfrm>
            <a:off x="685800" y="2130480"/>
            <a:ext cx="7772400" cy="146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Graphs Tell a Story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"/>
          <p:cNvPicPr/>
          <p:nvPr/>
        </p:nvPicPr>
        <p:blipFill>
          <a:blip r:embed="rId1"/>
          <a:stretch/>
        </p:blipFill>
        <p:spPr>
          <a:xfrm>
            <a:off x="520560" y="380880"/>
            <a:ext cx="8102520" cy="608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457200" y="27468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Goals for today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380160" indent="-380160">
              <a:lnSpc>
                <a:spcPct val="90000"/>
              </a:lnSpc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Learn how to make a Graph from data you have collected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Data tables, labels, type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Learn how to describe a graph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linear, non-linear, exponential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Learn how to interpret a graph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is the relationship? – proportional, directly proportional, inversely proportional, negative relationship, positive relationship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physical quantity does the slope tell you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 txBox="1"/>
          <p:nvPr/>
        </p:nvSpPr>
        <p:spPr>
          <a:xfrm>
            <a:off x="457200" y="27468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Why Use Graphs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Organizing our data into a graph does more than make it aesthetically pleasing (pretty)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It tells a story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1"/>
          <a:stretch/>
        </p:blipFill>
        <p:spPr>
          <a:xfrm>
            <a:off x="304920" y="3124080"/>
            <a:ext cx="3733920" cy="373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2"/>
          <a:stretch/>
        </p:blipFill>
        <p:spPr>
          <a:xfrm>
            <a:off x="4092120" y="2895480"/>
            <a:ext cx="4746960" cy="356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 txBox="1"/>
          <p:nvPr/>
        </p:nvSpPr>
        <p:spPr>
          <a:xfrm>
            <a:off x="4498920" y="3244320"/>
            <a:ext cx="146160" cy="36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 txBox="1"/>
          <p:nvPr/>
        </p:nvSpPr>
        <p:spPr>
          <a:xfrm>
            <a:off x="155520" y="274680"/>
            <a:ext cx="868356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Data Tables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0880" y="1600200"/>
            <a:ext cx="8381880" cy="281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Make a data table and then use it to plot your data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" name=""/>
          <p:cNvGraphicFramePr/>
          <p:nvPr/>
        </p:nvGraphicFramePr>
        <p:xfrm>
          <a:off x="1214640" y="3124080"/>
          <a:ext cx="1444680" cy="2057400"/>
        </p:xfrm>
        <a:graphic>
          <a:graphicData uri="http://schemas.openxmlformats.org/drawingml/2006/table">
            <a:tbl>
              <a:tblPr/>
              <a:tblGrid>
                <a:gridCol w="722160"/>
                <a:gridCol w="722520"/>
              </a:tblGrid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X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Y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"/>
          <p:cNvGraphicFramePr/>
          <p:nvPr/>
        </p:nvGraphicFramePr>
        <p:xfrm>
          <a:off x="2895480" y="3124080"/>
          <a:ext cx="1444680" cy="2057400"/>
        </p:xfrm>
        <a:graphic>
          <a:graphicData uri="http://schemas.openxmlformats.org/drawingml/2006/table">
            <a:tbl>
              <a:tblPr/>
              <a:tblGrid>
                <a:gridCol w="722160"/>
                <a:gridCol w="722520"/>
              </a:tblGrid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IV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DV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1148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"/>
          <p:cNvGraphicFramePr/>
          <p:nvPr/>
        </p:nvGraphicFramePr>
        <p:xfrm>
          <a:off x="6327720" y="3124080"/>
          <a:ext cx="1444680" cy="2057400"/>
        </p:xfrm>
        <a:graphic>
          <a:graphicData uri="http://schemas.openxmlformats.org/drawingml/2006/table">
            <a:tbl>
              <a:tblPr/>
              <a:tblGrid>
                <a:gridCol w="722160"/>
                <a:gridCol w="722520"/>
              </a:tblGrid>
              <a:tr h="62244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t (s)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d (m)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</a:tr>
              <a:tr h="3589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89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89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820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" name=""/>
          <p:cNvGraphicFramePr/>
          <p:nvPr/>
        </p:nvGraphicFramePr>
        <p:xfrm>
          <a:off x="4572000" y="3124080"/>
          <a:ext cx="1444680" cy="2057400"/>
        </p:xfrm>
        <a:graphic>
          <a:graphicData uri="http://schemas.openxmlformats.org/drawingml/2006/table">
            <a:tbl>
              <a:tblPr/>
              <a:tblGrid>
                <a:gridCol w="722160"/>
                <a:gridCol w="722520"/>
              </a:tblGrid>
              <a:tr h="7441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Time (seconds)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-BoldMT"/>
                          <a:ea typeface="Arial-BoldMT"/>
                        </a:rPr>
                        <a:t>Distance (meters)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4E81BD"/>
                    </a:solidFill>
                  </a:tcPr>
                </a:tc>
              </a:tr>
              <a:tr h="3571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71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71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357120"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45720" rIns="45720" anchor="t" anchorCtr="1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MT"/>
                          <a:ea typeface="ArialMT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5720" marR="45720" marT="45720" marB="45720">
                    <a:lnL w="720">
                      <a:solidFill>
                        <a:srgbClr val="000000"/>
                      </a:solidFill>
                      <a:prstDash val="solid"/>
                    </a:lnL>
                    <a:lnR w="720">
                      <a:solidFill>
                        <a:srgbClr val="000000"/>
                      </a:solidFill>
                      <a:prstDash val="solid"/>
                    </a:lnR>
                    <a:lnT w="720">
                      <a:solidFill>
                        <a:srgbClr val="000000"/>
                      </a:solidFill>
                      <a:prstDash val="solid"/>
                    </a:lnT>
                    <a:lnB w="72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grpSp>
        <p:nvGrpSpPr>
          <p:cNvPr id="27" name=""/>
          <p:cNvGrpSpPr/>
          <p:nvPr/>
        </p:nvGrpSpPr>
        <p:grpSpPr>
          <a:xfrm>
            <a:off x="1219320" y="5486400"/>
            <a:ext cx="6553440" cy="1067040"/>
            <a:chOff x="1219320" y="5486400"/>
            <a:chExt cx="6553440" cy="1067040"/>
          </a:xfrm>
        </p:grpSpPr>
        <p:sp>
          <p:nvSpPr>
            <p:cNvPr id="28" name=""/>
            <p:cNvSpPr/>
            <p:nvPr/>
          </p:nvSpPr>
          <p:spPr>
            <a:xfrm>
              <a:off x="1219320" y="5486400"/>
              <a:ext cx="6553440" cy="1067040"/>
            </a:xfrm>
            <a:custGeom>
              <a:avLst/>
              <a:gdLst/>
              <a:ahLst/>
              <a:rect l="0" t="0" r="r" b="b"/>
              <a:pathLst>
                <a:path w="18204" h="2964">
                  <a:moveTo>
                    <a:pt x="0" y="2223"/>
                  </a:moveTo>
                  <a:lnTo>
                    <a:pt x="16722" y="2223"/>
                  </a:lnTo>
                  <a:lnTo>
                    <a:pt x="16722" y="2964"/>
                  </a:lnTo>
                  <a:lnTo>
                    <a:pt x="18204" y="1481"/>
                  </a:lnTo>
                  <a:lnTo>
                    <a:pt x="16722" y="0"/>
                  </a:lnTo>
                  <a:lnTo>
                    <a:pt x="16722" y="740"/>
                  </a:lnTo>
                  <a:lnTo>
                    <a:pt x="0" y="740"/>
                  </a:lnTo>
                  <a:lnTo>
                    <a:pt x="0" y="2223"/>
                  </a:lnTo>
                  <a:close/>
                </a:path>
              </a:pathLst>
            </a:custGeom>
            <a:solidFill>
              <a:srgbClr val="4E81BD"/>
            </a:solidFill>
            <a:ln w="25560">
              <a:solidFill>
                <a:srgbClr val="385D89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"/>
            <p:cNvSpPr txBox="1"/>
            <p:nvPr/>
          </p:nvSpPr>
          <p:spPr>
            <a:xfrm>
              <a:off x="1277640" y="5765760"/>
              <a:ext cx="6169680" cy="550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GENERAL -------------------------------------------------------------SPECIFIC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MATH------------------------------------------------------------------SCIENCE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 txBox="1"/>
          <p:nvPr/>
        </p:nvSpPr>
        <p:spPr>
          <a:xfrm>
            <a:off x="155520" y="274680"/>
            <a:ext cx="87598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Graph Types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80880" y="1600200"/>
            <a:ext cx="8381880" cy="281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X-Y Scatter Plot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Bar/Column Graph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Pie Chart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155520" y="4191120"/>
            <a:ext cx="276480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3200400" y="3389760"/>
            <a:ext cx="2617560" cy="302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"/>
          <p:cNvPicPr/>
          <p:nvPr/>
        </p:nvPicPr>
        <p:blipFill>
          <a:blip r:embed="rId3"/>
          <a:stretch/>
        </p:blipFill>
        <p:spPr>
          <a:xfrm>
            <a:off x="6553080" y="3862440"/>
            <a:ext cx="1839600" cy="208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 txBox="1"/>
          <p:nvPr/>
        </p:nvSpPr>
        <p:spPr>
          <a:xfrm>
            <a:off x="147240" y="274680"/>
            <a:ext cx="869184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X-Y Scatter Plot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80880" y="1600200"/>
            <a:ext cx="8381880" cy="281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80960" indent="-366480">
              <a:lnSpc>
                <a:spcPct val="90000"/>
              </a:lnSpc>
              <a:buClr>
                <a:srgbClr val="000000"/>
              </a:buClr>
              <a:buSzPct val="45000"/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lnSpc>
                <a:spcPct val="90000"/>
              </a:lnSpc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used to determine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relationships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between the two different variables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X-axis – Independent Variable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Y- axis – Dependent variable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most common type of graph you will use in science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Do not connect the dots, instead use a trendline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514600" y="4231800"/>
            <a:ext cx="3962520" cy="251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 flipV="1">
            <a:off x="3657600" y="4495680"/>
            <a:ext cx="2134080" cy="167688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155520" y="274680"/>
            <a:ext cx="868356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Bar/Column Graph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80880" y="1447920"/>
            <a:ext cx="8381880" cy="281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used to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compare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two or more different groups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they do not show changes over time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There is no relationship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65000" y="5334120"/>
            <a:ext cx="8150400" cy="1200240"/>
          </a:xfrm>
          <a:prstGeom prst="rect">
            <a:avLst/>
          </a:prstGeom>
          <a:solidFill>
            <a:srgbClr val="FFFF00"/>
          </a:solidFill>
          <a:ln w="9360">
            <a:solidFill>
              <a:srgbClr val="000000"/>
            </a:solidFill>
            <a:round/>
          </a:ln>
          <a:effectLst>
            <a:outerShdw dist="0" dir="0" rotWithShape="0">
              <a:srgbClr val="000000">
                <a:alpha val="0"/>
              </a:srgbClr>
            </a:outerShdw>
          </a:effectLst>
        </p:spPr>
        <p:txBody>
          <a:bodyPr lIns="94680" tIns="49680" rIns="94680" bIns="4968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Both the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Bar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and the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Column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charts display data using rectangular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bars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where the length of the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bar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is proportional to the data value. Both are used to compare two or more values. However, their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difference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lies in their orientation. A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Bar chart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is oriented horizontally whereas the 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Column chart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 is oriented vertically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1"/>
          <a:stretch/>
        </p:blipFill>
        <p:spPr>
          <a:xfrm>
            <a:off x="5410080" y="3172320"/>
            <a:ext cx="2836800" cy="194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"/>
          <p:cNvPicPr/>
          <p:nvPr/>
        </p:nvPicPr>
        <p:blipFill>
          <a:blip r:embed="rId2"/>
          <a:stretch/>
        </p:blipFill>
        <p:spPr>
          <a:xfrm>
            <a:off x="914400" y="3172320"/>
            <a:ext cx="2151000" cy="194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155520" y="274680"/>
            <a:ext cx="87598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Pie Chart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80880" y="1600200"/>
            <a:ext cx="8381880" cy="1828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380160" indent="-380160">
              <a:lnSpc>
                <a:spcPct val="80000"/>
              </a:lnSpc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used when you are trying to compare parts of a whole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8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they do not show changes over time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8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There is no relationship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"/>
          <p:cNvPicPr/>
          <p:nvPr/>
        </p:nvPicPr>
        <p:blipFill>
          <a:blip r:embed="rId1"/>
          <a:stretch/>
        </p:blipFill>
        <p:spPr>
          <a:xfrm>
            <a:off x="3276720" y="3405240"/>
            <a:ext cx="2819520" cy="318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457200" y="27468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Where is the Relationship Shown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304920" y="2364840"/>
            <a:ext cx="3962520" cy="251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"/>
          <p:cNvSpPr/>
          <p:nvPr/>
        </p:nvSpPr>
        <p:spPr>
          <a:xfrm flipV="1">
            <a:off x="1447920" y="2628720"/>
            <a:ext cx="2134080" cy="167688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"/>
          <p:cNvPicPr/>
          <p:nvPr/>
        </p:nvPicPr>
        <p:blipFill>
          <a:blip r:embed="rId2"/>
          <a:stretch/>
        </p:blipFill>
        <p:spPr>
          <a:xfrm>
            <a:off x="5791320" y="1544040"/>
            <a:ext cx="2116440" cy="144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"/>
          <p:cNvPicPr/>
          <p:nvPr/>
        </p:nvPicPr>
        <p:blipFill>
          <a:blip r:embed="rId3"/>
          <a:stretch/>
        </p:blipFill>
        <p:spPr>
          <a:xfrm>
            <a:off x="6149880" y="3379680"/>
            <a:ext cx="1717200" cy="1942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2" name=""/>
          <p:cNvGrpSpPr/>
          <p:nvPr/>
        </p:nvGrpSpPr>
        <p:grpSpPr>
          <a:xfrm>
            <a:off x="914400" y="5313960"/>
            <a:ext cx="3124440" cy="1010880"/>
            <a:chOff x="914400" y="5313960"/>
            <a:chExt cx="3124440" cy="1010880"/>
          </a:xfrm>
        </p:grpSpPr>
        <p:sp>
          <p:nvSpPr>
            <p:cNvPr id="53" name=""/>
            <p:cNvSpPr/>
            <p:nvPr/>
          </p:nvSpPr>
          <p:spPr>
            <a:xfrm>
              <a:off x="914400" y="5313960"/>
              <a:ext cx="3124440" cy="1010880"/>
            </a:xfrm>
            <a:custGeom>
              <a:avLst/>
              <a:gdLst/>
              <a:ahLst/>
              <a:rect l="0" t="0" r="r" b="b"/>
              <a:pathLst>
                <a:path w="8679" h="2808">
                  <a:moveTo>
                    <a:pt x="0" y="983"/>
                  </a:moveTo>
                  <a:lnTo>
                    <a:pt x="3988" y="983"/>
                  </a:lnTo>
                  <a:lnTo>
                    <a:pt x="3988" y="701"/>
                  </a:lnTo>
                  <a:lnTo>
                    <a:pt x="3637" y="701"/>
                  </a:lnTo>
                  <a:lnTo>
                    <a:pt x="4340" y="0"/>
                  </a:lnTo>
                  <a:lnTo>
                    <a:pt x="5041" y="701"/>
                  </a:lnTo>
                  <a:lnTo>
                    <a:pt x="4691" y="701"/>
                  </a:lnTo>
                  <a:lnTo>
                    <a:pt x="4691" y="983"/>
                  </a:lnTo>
                  <a:lnTo>
                    <a:pt x="8679" y="983"/>
                  </a:lnTo>
                  <a:lnTo>
                    <a:pt x="8679" y="2808"/>
                  </a:lnTo>
                  <a:lnTo>
                    <a:pt x="0" y="2808"/>
                  </a:lnTo>
                  <a:lnTo>
                    <a:pt x="0" y="983"/>
                  </a:lnTo>
                  <a:close/>
                </a:path>
              </a:pathLst>
            </a:custGeom>
            <a:solidFill>
              <a:srgbClr val="4E81BD"/>
            </a:solidFill>
            <a:ln w="25560">
              <a:solidFill>
                <a:srgbClr val="385D89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"/>
            <p:cNvSpPr txBox="1"/>
            <p:nvPr/>
          </p:nvSpPr>
          <p:spPr>
            <a:xfrm>
              <a:off x="972720" y="5680440"/>
              <a:ext cx="3007440" cy="6310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RELATIONSHIP BETWEEN Y-VALUE AND X-VALUE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5" name=""/>
          <p:cNvGrpSpPr/>
          <p:nvPr/>
        </p:nvGrpSpPr>
        <p:grpSpPr>
          <a:xfrm>
            <a:off x="5446080" y="5322240"/>
            <a:ext cx="3124440" cy="1010880"/>
            <a:chOff x="5446080" y="5322240"/>
            <a:chExt cx="3124440" cy="1010880"/>
          </a:xfrm>
        </p:grpSpPr>
        <p:sp>
          <p:nvSpPr>
            <p:cNvPr id="56" name=""/>
            <p:cNvSpPr/>
            <p:nvPr/>
          </p:nvSpPr>
          <p:spPr>
            <a:xfrm>
              <a:off x="5446080" y="5322240"/>
              <a:ext cx="3124440" cy="1010880"/>
            </a:xfrm>
            <a:custGeom>
              <a:avLst/>
              <a:gdLst/>
              <a:ahLst/>
              <a:rect l="0" t="0" r="r" b="b"/>
              <a:pathLst>
                <a:path w="8679" h="2808">
                  <a:moveTo>
                    <a:pt x="0" y="983"/>
                  </a:moveTo>
                  <a:lnTo>
                    <a:pt x="3988" y="983"/>
                  </a:lnTo>
                  <a:lnTo>
                    <a:pt x="3988" y="701"/>
                  </a:lnTo>
                  <a:lnTo>
                    <a:pt x="3637" y="701"/>
                  </a:lnTo>
                  <a:lnTo>
                    <a:pt x="4340" y="0"/>
                  </a:lnTo>
                  <a:lnTo>
                    <a:pt x="5041" y="701"/>
                  </a:lnTo>
                  <a:lnTo>
                    <a:pt x="4691" y="701"/>
                  </a:lnTo>
                  <a:lnTo>
                    <a:pt x="4691" y="983"/>
                  </a:lnTo>
                  <a:lnTo>
                    <a:pt x="8679" y="983"/>
                  </a:lnTo>
                  <a:lnTo>
                    <a:pt x="8679" y="2808"/>
                  </a:lnTo>
                  <a:lnTo>
                    <a:pt x="0" y="2808"/>
                  </a:lnTo>
                  <a:lnTo>
                    <a:pt x="0" y="983"/>
                  </a:lnTo>
                  <a:close/>
                </a:path>
              </a:pathLst>
            </a:custGeom>
            <a:solidFill>
              <a:srgbClr val="4E81BD"/>
            </a:solidFill>
            <a:ln w="25560">
              <a:solidFill>
                <a:srgbClr val="385D89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"/>
            <p:cNvSpPr txBox="1"/>
            <p:nvPr/>
          </p:nvSpPr>
          <p:spPr>
            <a:xfrm>
              <a:off x="5504760" y="5688720"/>
              <a:ext cx="3007440" cy="6310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NO RELATIONSHIP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85000" lnSpcReduction="9999"/>
          </a:bodyPr>
          <a:p>
            <a:pPr algn="ctr"/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-Bold"/>
                <a:ea typeface="Calibri-Bold"/>
              </a:rPr>
              <a:t>How to Interpret an X-Y Scatter Plot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80880" y="1600200"/>
            <a:ext cx="8381880" cy="281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Is it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Linear or non-linear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Proportional,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directly proportional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or inversely proportional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Positive or negative relationship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Linear &amp; Constant Slope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80880" y="1600200"/>
            <a:ext cx="8381880" cy="1295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These types of graphs will always have straight lines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tretch/>
        </p:blipFill>
        <p:spPr>
          <a:xfrm>
            <a:off x="914400" y="2621160"/>
            <a:ext cx="3247920" cy="200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"/>
          <p:cNvPicPr/>
          <p:nvPr/>
        </p:nvPicPr>
        <p:blipFill>
          <a:blip r:embed="rId2"/>
          <a:stretch/>
        </p:blipFill>
        <p:spPr>
          <a:xfrm>
            <a:off x="905040" y="4812480"/>
            <a:ext cx="3257640" cy="200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"/>
          <p:cNvPicPr/>
          <p:nvPr/>
        </p:nvPicPr>
        <p:blipFill>
          <a:blip r:embed="rId3"/>
          <a:stretch/>
        </p:blipFill>
        <p:spPr>
          <a:xfrm>
            <a:off x="4952880" y="2655000"/>
            <a:ext cx="3247920" cy="200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"/>
          <p:cNvPicPr/>
          <p:nvPr/>
        </p:nvPicPr>
        <p:blipFill>
          <a:blip r:embed="rId4"/>
          <a:stretch/>
        </p:blipFill>
        <p:spPr>
          <a:xfrm>
            <a:off x="4957920" y="4838760"/>
            <a:ext cx="3238560" cy="201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Non Linear &amp; Changing Slope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80880" y="1600200"/>
            <a:ext cx="8381880" cy="1295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These types of graphs will always have curved lines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/>
          <p:cNvPicPr/>
          <p:nvPr/>
        </p:nvPicPr>
        <p:blipFill>
          <a:blip r:embed="rId1"/>
          <a:stretch/>
        </p:blipFill>
        <p:spPr>
          <a:xfrm>
            <a:off x="914400" y="2692080"/>
            <a:ext cx="3247920" cy="201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/>
          <p:cNvPicPr/>
          <p:nvPr/>
        </p:nvPicPr>
        <p:blipFill>
          <a:blip r:embed="rId2"/>
          <a:stretch/>
        </p:blipFill>
        <p:spPr>
          <a:xfrm>
            <a:off x="5029200" y="2696760"/>
            <a:ext cx="3228840" cy="2009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Positive or Negative Relationship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80880" y="1600200"/>
            <a:ext cx="8381880" cy="495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Positive - as x-axis increases, y-axis increases too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Negative -as x-axis increases, y-axis decreases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/>
          <p:cNvPicPr/>
          <p:nvPr/>
        </p:nvPicPr>
        <p:blipFill>
          <a:blip r:embed="rId1"/>
          <a:stretch/>
        </p:blipFill>
        <p:spPr>
          <a:xfrm>
            <a:off x="1058760" y="2895480"/>
            <a:ext cx="2217960" cy="136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"/>
          <p:cNvPicPr/>
          <p:nvPr/>
        </p:nvPicPr>
        <p:blipFill>
          <a:blip r:embed="rId2"/>
          <a:stretch/>
        </p:blipFill>
        <p:spPr>
          <a:xfrm>
            <a:off x="3352680" y="2895480"/>
            <a:ext cx="2217960" cy="137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"/>
          <p:cNvPicPr/>
          <p:nvPr/>
        </p:nvPicPr>
        <p:blipFill>
          <a:blip r:embed="rId3"/>
          <a:stretch/>
        </p:blipFill>
        <p:spPr>
          <a:xfrm>
            <a:off x="5632560" y="2895480"/>
            <a:ext cx="2216160" cy="137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"/>
          <p:cNvPicPr/>
          <p:nvPr/>
        </p:nvPicPr>
        <p:blipFill>
          <a:blip r:embed="rId4"/>
          <a:stretch/>
        </p:blipFill>
        <p:spPr>
          <a:xfrm>
            <a:off x="2286000" y="5029200"/>
            <a:ext cx="2176560" cy="13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/>
          <p:cNvPicPr/>
          <p:nvPr/>
        </p:nvPicPr>
        <p:blipFill>
          <a:blip r:embed="rId5"/>
          <a:stretch/>
        </p:blipFill>
        <p:spPr>
          <a:xfrm>
            <a:off x="4673880" y="5029200"/>
            <a:ext cx="2182680" cy="135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Proportionality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80880" y="1600200"/>
            <a:ext cx="8381880" cy="297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Proportional – as IV increases, DV increases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Directly Proportional – as IV increases, DV increases and goes through 0,0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Inversely Proportional – as IV increases, DV decreases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"/>
          <p:cNvPicPr/>
          <p:nvPr/>
        </p:nvPicPr>
        <p:blipFill>
          <a:blip r:embed="rId1"/>
          <a:stretch/>
        </p:blipFill>
        <p:spPr>
          <a:xfrm>
            <a:off x="3497040" y="4652280"/>
            <a:ext cx="2217960" cy="136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"/>
          <p:cNvPicPr/>
          <p:nvPr/>
        </p:nvPicPr>
        <p:blipFill>
          <a:blip r:embed="rId2"/>
          <a:stretch/>
        </p:blipFill>
        <p:spPr>
          <a:xfrm>
            <a:off x="914400" y="4655880"/>
            <a:ext cx="2217960" cy="137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"/>
          <p:cNvPicPr/>
          <p:nvPr/>
        </p:nvPicPr>
        <p:blipFill>
          <a:blip r:embed="rId3"/>
          <a:stretch/>
        </p:blipFill>
        <p:spPr>
          <a:xfrm>
            <a:off x="6046920" y="4663440"/>
            <a:ext cx="2182680" cy="13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"/>
          <p:cNvSpPr txBox="1"/>
          <p:nvPr/>
        </p:nvSpPr>
        <p:spPr>
          <a:xfrm>
            <a:off x="198000" y="6019920"/>
            <a:ext cx="7985880" cy="36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       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PROPORTIONAL                             DIRECTLY                                INVERSELY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960120" y="6248520"/>
            <a:ext cx="7223760" cy="36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                                             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PROPORTIONAL                    PROPORTIONAL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 txBox="1"/>
          <p:nvPr/>
        </p:nvSpPr>
        <p:spPr>
          <a:xfrm>
            <a:off x="0" y="274680"/>
            <a:ext cx="91440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Nonlinear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28600" y="1447920"/>
            <a:ext cx="899172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Not a straight line path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Look at the WHOLE picture for trends or patterns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may or may not be present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3962520" y="4495680"/>
            <a:ext cx="3009960" cy="231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5410080" y="2743200"/>
            <a:ext cx="3432960" cy="177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3"/>
          <a:stretch/>
        </p:blipFill>
        <p:spPr>
          <a:xfrm>
            <a:off x="0" y="3124080"/>
            <a:ext cx="3962520" cy="276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 txBox="1"/>
          <p:nvPr/>
        </p:nvSpPr>
        <p:spPr>
          <a:xfrm>
            <a:off x="457200" y="27468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Exponential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Graph increases or decreases by huge factors (shaped as a curve)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4267080" y="4191120"/>
            <a:ext cx="4876920" cy="260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"/>
          <p:cNvPicPr/>
          <p:nvPr/>
        </p:nvPicPr>
        <p:blipFill>
          <a:blip r:embed="rId2"/>
          <a:stretch/>
        </p:blipFill>
        <p:spPr>
          <a:xfrm>
            <a:off x="152280" y="3805560"/>
            <a:ext cx="4584600" cy="302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"/>
          <p:cNvPicPr/>
          <p:nvPr/>
        </p:nvPicPr>
        <p:blipFill>
          <a:blip r:embed="rId3"/>
          <a:stretch/>
        </p:blipFill>
        <p:spPr>
          <a:xfrm>
            <a:off x="5486400" y="2324160"/>
            <a:ext cx="3505320" cy="186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 txBox="1"/>
          <p:nvPr/>
        </p:nvSpPr>
        <p:spPr>
          <a:xfrm>
            <a:off x="457200" y="27468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Examples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Discuss the following graphs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shape is the graph? (linear, nonlinear, exponential)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is the relationship between variables? (positive or negative)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Is it proportional, directly proportional, inversely proportional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story does it tell? (as X increases, Y _______)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"/>
          <p:cNvPicPr/>
          <p:nvPr/>
        </p:nvPicPr>
        <p:blipFill>
          <a:blip r:embed="rId1"/>
          <a:stretch/>
        </p:blipFill>
        <p:spPr>
          <a:xfrm>
            <a:off x="304920" y="838080"/>
            <a:ext cx="8588520" cy="514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838080" y="1219320"/>
            <a:ext cx="7230240" cy="483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"/>
          <p:cNvPicPr/>
          <p:nvPr/>
        </p:nvPicPr>
        <p:blipFill>
          <a:blip r:embed="rId1"/>
          <a:stretch/>
        </p:blipFill>
        <p:spPr>
          <a:xfrm>
            <a:off x="457200" y="1295280"/>
            <a:ext cx="7821360" cy="434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227160" y="762120"/>
            <a:ext cx="8134200" cy="441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Making a Graph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380160" indent="-380160">
              <a:lnSpc>
                <a:spcPct val="90000"/>
              </a:lnSpc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Make a data table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Choose a graph type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Plot your data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Do not connect the dots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Add a trendline if appropriate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If linear or exponential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Give your graph a title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Label your axes with variable and unit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Scale your axes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Make a data table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380880" y="1600200"/>
            <a:ext cx="8381880" cy="990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Put your data in two x-y columns and label it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/>
          <p:cNvPicPr/>
          <p:nvPr/>
        </p:nvPicPr>
        <p:blipFill>
          <a:blip r:embed="rId1"/>
          <a:stretch/>
        </p:blipFill>
        <p:spPr>
          <a:xfrm>
            <a:off x="4800600" y="2356560"/>
            <a:ext cx="3809880" cy="252396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</p:pic>
      <p:pic>
        <p:nvPicPr>
          <p:cNvPr id="105" name=""/>
          <p:cNvPicPr/>
          <p:nvPr/>
        </p:nvPicPr>
        <p:blipFill>
          <a:blip r:embed="rId2"/>
          <a:stretch/>
        </p:blipFill>
        <p:spPr>
          <a:xfrm>
            <a:off x="1447920" y="2790000"/>
            <a:ext cx="1581120" cy="16574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6" name=""/>
          <p:cNvGrpSpPr/>
          <p:nvPr/>
        </p:nvGrpSpPr>
        <p:grpSpPr>
          <a:xfrm>
            <a:off x="1347840" y="4984200"/>
            <a:ext cx="1781640" cy="914760"/>
            <a:chOff x="1347840" y="4984200"/>
            <a:chExt cx="1781640" cy="914760"/>
          </a:xfrm>
        </p:grpSpPr>
        <p:sp>
          <p:nvSpPr>
            <p:cNvPr id="107" name=""/>
            <p:cNvSpPr/>
            <p:nvPr/>
          </p:nvSpPr>
          <p:spPr>
            <a:xfrm>
              <a:off x="1347840" y="4984200"/>
              <a:ext cx="1781640" cy="914760"/>
            </a:xfrm>
            <a:custGeom>
              <a:avLst/>
              <a:gdLst/>
              <a:ahLst/>
              <a:rect l="0" t="0" r="r" b="b"/>
              <a:pathLst>
                <a:path w="4949" h="2541">
                  <a:moveTo>
                    <a:pt x="0" y="889"/>
                  </a:moveTo>
                  <a:lnTo>
                    <a:pt x="2157" y="889"/>
                  </a:lnTo>
                  <a:lnTo>
                    <a:pt x="2157" y="635"/>
                  </a:lnTo>
                  <a:lnTo>
                    <a:pt x="1839" y="635"/>
                  </a:lnTo>
                  <a:lnTo>
                    <a:pt x="2474" y="0"/>
                  </a:lnTo>
                  <a:lnTo>
                    <a:pt x="3109" y="635"/>
                  </a:lnTo>
                  <a:lnTo>
                    <a:pt x="2792" y="635"/>
                  </a:lnTo>
                  <a:lnTo>
                    <a:pt x="2792" y="889"/>
                  </a:lnTo>
                  <a:lnTo>
                    <a:pt x="4949" y="889"/>
                  </a:lnTo>
                  <a:lnTo>
                    <a:pt x="4949" y="2541"/>
                  </a:lnTo>
                  <a:lnTo>
                    <a:pt x="0" y="2541"/>
                  </a:lnTo>
                  <a:lnTo>
                    <a:pt x="0" y="889"/>
                  </a:lnTo>
                  <a:close/>
                </a:path>
              </a:pathLst>
            </a:custGeom>
            <a:solidFill>
              <a:srgbClr val="4E81BD"/>
            </a:solidFill>
            <a:ln w="25560">
              <a:solidFill>
                <a:srgbClr val="385D89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 txBox="1"/>
            <p:nvPr/>
          </p:nvSpPr>
          <p:spPr>
            <a:xfrm>
              <a:off x="1406160" y="5317200"/>
              <a:ext cx="1664280" cy="5688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MATH CLASS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9" name=""/>
          <p:cNvGrpSpPr/>
          <p:nvPr/>
        </p:nvGrpSpPr>
        <p:grpSpPr>
          <a:xfrm>
            <a:off x="5791320" y="4984200"/>
            <a:ext cx="1829160" cy="914760"/>
            <a:chOff x="5791320" y="4984200"/>
            <a:chExt cx="1829160" cy="914760"/>
          </a:xfrm>
        </p:grpSpPr>
        <p:sp>
          <p:nvSpPr>
            <p:cNvPr id="110" name=""/>
            <p:cNvSpPr/>
            <p:nvPr/>
          </p:nvSpPr>
          <p:spPr>
            <a:xfrm>
              <a:off x="5791320" y="4984200"/>
              <a:ext cx="1829160" cy="914760"/>
            </a:xfrm>
            <a:custGeom>
              <a:avLst/>
              <a:gdLst/>
              <a:ahLst/>
              <a:rect l="0" t="0" r="r" b="b"/>
              <a:pathLst>
                <a:path w="5081" h="2541">
                  <a:moveTo>
                    <a:pt x="0" y="889"/>
                  </a:moveTo>
                  <a:lnTo>
                    <a:pt x="2222" y="889"/>
                  </a:lnTo>
                  <a:lnTo>
                    <a:pt x="2222" y="635"/>
                  </a:lnTo>
                  <a:lnTo>
                    <a:pt x="1905" y="635"/>
                  </a:lnTo>
                  <a:lnTo>
                    <a:pt x="2541" y="0"/>
                  </a:lnTo>
                  <a:lnTo>
                    <a:pt x="3176" y="635"/>
                  </a:lnTo>
                  <a:lnTo>
                    <a:pt x="2858" y="635"/>
                  </a:lnTo>
                  <a:lnTo>
                    <a:pt x="2858" y="889"/>
                  </a:lnTo>
                  <a:lnTo>
                    <a:pt x="5081" y="889"/>
                  </a:lnTo>
                  <a:lnTo>
                    <a:pt x="5081" y="2541"/>
                  </a:lnTo>
                  <a:lnTo>
                    <a:pt x="0" y="2541"/>
                  </a:lnTo>
                  <a:lnTo>
                    <a:pt x="0" y="889"/>
                  </a:lnTo>
                  <a:close/>
                </a:path>
              </a:pathLst>
            </a:custGeom>
            <a:solidFill>
              <a:srgbClr val="4E81BD"/>
            </a:solidFill>
            <a:ln w="25560">
              <a:solidFill>
                <a:srgbClr val="385D89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 txBox="1"/>
            <p:nvPr/>
          </p:nvSpPr>
          <p:spPr>
            <a:xfrm>
              <a:off x="5849640" y="5317200"/>
              <a:ext cx="1711800" cy="5688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tIns="45000" rIns="90000" bIns="45000" anchor="t">
              <a:spAutoFit/>
            </a:bodyPr>
            <a:p>
              <a:pPr algn="ctr"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SCIENCE CLASS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"/>
          <p:cNvSpPr txBox="1"/>
          <p:nvPr/>
        </p:nvSpPr>
        <p:spPr>
          <a:xfrm>
            <a:off x="2177280" y="6066000"/>
            <a:ext cx="4789440" cy="369360"/>
          </a:xfrm>
          <a:prstGeom prst="rect">
            <a:avLst/>
          </a:prstGeom>
          <a:solidFill>
            <a:srgbClr val="FFFF00"/>
          </a:solidFill>
          <a:ln w="0">
            <a:noFill/>
          </a:ln>
          <a:effectLst>
            <a:outerShdw dist="0" dir="0" rotWithShape="0">
              <a:srgbClr val="000000">
                <a:alpha val="0"/>
              </a:srgbClr>
            </a:outerShdw>
          </a:effectLst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ONLY WRITE UNITS IN TOP BOXES WITH LABELS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Label Your Scatterplots in this Manner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380160" indent="-380160">
              <a:lnSpc>
                <a:spcPct val="90000"/>
              </a:lnSpc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Give your graph a descriptive title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“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 relationship between DV (y-axis quantity) and IDV (x-axis quantity)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”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160" indent="-38016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Label your axes with 3 things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it is measuring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4200" lvl="2" indent="-289800">
              <a:lnSpc>
                <a:spcPct val="90000"/>
              </a:lnSpc>
              <a:spcBef>
                <a:spcPts val="400"/>
              </a:spcBef>
              <a:buClr>
                <a:srgbClr val="000000"/>
              </a:buClr>
              <a:buSzPct val="45000"/>
              <a:buNone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i.e. temperature, time, mass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Units of measurement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4200" lvl="2" indent="-289800">
              <a:lnSpc>
                <a:spcPct val="90000"/>
              </a:lnSpc>
              <a:spcBef>
                <a:spcPts val="400"/>
              </a:spcBef>
              <a:buClr>
                <a:srgbClr val="000000"/>
              </a:buClr>
              <a:buSzPct val="45000"/>
              <a:buNone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i.e. Celsius, seconds, grams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86240" lvl="1" indent="-3290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Show your scale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4200" lvl="2" indent="-289800">
              <a:lnSpc>
                <a:spcPct val="90000"/>
              </a:lnSpc>
              <a:spcBef>
                <a:spcPts val="400"/>
              </a:spcBef>
              <a:buClr>
                <a:srgbClr val="000000"/>
              </a:buClr>
              <a:buSzPct val="45000"/>
              <a:buNone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numbers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Add a Trendline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DO NOT CONNECT THE DOTS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Add a trendline, linear, exponential or power series as appropriate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 trendline is the average of your data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1"/>
          <a:stretch/>
        </p:blipFill>
        <p:spPr>
          <a:xfrm>
            <a:off x="2362320" y="3809880"/>
            <a:ext cx="3809880" cy="2760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39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Label Your Bar and Pie Charts in this Manner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Give your chart a descriptive title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DO NOT call it a relationship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Explain what the chart is telling you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Comparison” might be a good title word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For Bar/Column Charts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Label your axes appropriately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22960" lvl="1" indent="-365760">
              <a:spcBef>
                <a:spcPts val="499"/>
              </a:spcBef>
              <a:buClr>
                <a:srgbClr val="000000"/>
              </a:buClr>
              <a:buSzPct val="45000"/>
              <a:buNone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if necessary provide a key to identify what bars are telling you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Let’s Try it In Google Sheets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Everybody open a blank Google Sheets file and follow along with your instructor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7696080" y="380880"/>
            <a:ext cx="1367280" cy="99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Let’s Plot a Relationship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The Force (F) a spring exerts is directly proportional to the distance it is stretched and can be written in the form of a linear [y = f(x)] equation as F = kx, where k is the spring constant.  Let’s make a scatterplot of F = kx for x = 0, .025, .045, .080 &amp; .095 m where k equals 100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3280" indent="-41436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F= 100x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5029200" y="4800600"/>
            <a:ext cx="2523960" cy="176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"/>
          <p:cNvPicPr/>
          <p:nvPr/>
        </p:nvPicPr>
        <p:blipFill>
          <a:blip r:embed="rId2"/>
          <a:stretch/>
        </p:blipFill>
        <p:spPr>
          <a:xfrm>
            <a:off x="7696080" y="380880"/>
            <a:ext cx="1367280" cy="99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Let’s Make a Pie Chart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What percentage of students in this class have birthdays during the following quarters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Q1 Jan-Mar- 25%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Q2 Apr-Jun-10%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Q3 Jul-Sep- 5%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Q4 Oct-Dec-60%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"/>
          <p:cNvPicPr/>
          <p:nvPr/>
        </p:nvPicPr>
        <p:blipFill>
          <a:blip r:embed="rId1"/>
          <a:stretch/>
        </p:blipFill>
        <p:spPr>
          <a:xfrm>
            <a:off x="7658280" y="228600"/>
            <a:ext cx="1257480" cy="125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 txBox="1"/>
          <p:nvPr/>
        </p:nvSpPr>
        <p:spPr>
          <a:xfrm>
            <a:off x="0" y="274680"/>
            <a:ext cx="883908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Let’s Make a Bar/Column Graph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80880" y="1600200"/>
            <a:ext cx="838188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17240" indent="-417240"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Compare the different cars at the car rental agency when the following cars are available for rent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7240" indent="-417240">
              <a:spcBef>
                <a:spcPts val="601"/>
              </a:spcBef>
              <a:buClr>
                <a:srgbClr val="000000"/>
              </a:buClr>
              <a:buSzPct val="45000"/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Jeeps, 25 SUVs, 15 Economy Cars, 25 mid-size cars, 5 luxury cars, and 15 convertibles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7696080" y="347400"/>
            <a:ext cx="1315440" cy="94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LibreOffice/26.2.4.2$Linux_AARCH64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