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Every measurement has some error. Today: where error comes from, how to describe it (precision vs. accuracy), and how to report it honestly (percent error).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we always repeat and always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trendline runs right through the middle of the scattered points — that IS the average of all your trials.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mistake: using 'precise' and 'accurate' interchangeably. They're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classic diagram. Precision is about clustering; accuracy is about hitting the yellow bullseye. Great data lands in the top-left.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Precision isn't just about tools — it's about HOW you use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Whale is actually MORE ACCURATE than the cat, even though the whale's error looks huge. Percent error lets us compare across scales.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raisins lab — a fast way to feel percent error in your hands.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194560"/>
            <a:ext cx="822960" cy="137160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423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FOUNDATIONS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109728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5029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good is my data?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Error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From?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GETS YOU CLOSER TO THE TRUTH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Repeat Experiments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↕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Trials Are High, Some Are Low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measurement is a guess. Repeat it, and some trials come out a bit high, others a bit low.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HIGHS and LOWS cancel each other out when you AVERAGE them — which brings you close to the true value.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315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Trendline IS the Average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plot your repeated trials on a graph, the trendline shows the average pattern — it's what you'd expect if random error had cancelled itself out.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trials → tighter average → better estimate of truth.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HIGHS CANCEL LOWS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Trendline IS the Average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Trendline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2676" y="1874520"/>
            <a:ext cx="5943600" cy="44074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EVERY MISTAKE COMES FROM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Sources of Error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2402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880360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 time, eyesight, technique, mood.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22402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394960" y="23317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Tools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394960" y="2880360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ruler, scale, or timer has a limit.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0" y="201168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402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235440" y="23317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Manipulation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35440" y="2880360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Nudging or moving the setup while measuring.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468880" y="420624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0" y="443484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265176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3474720" y="4526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influences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474720" y="5074920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A/C, drafts, vibrations, temperature drift.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420624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92240" y="443484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7315200" y="4526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design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315200" y="5074920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controls or too many variables changing.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Precision vs. Accuracy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MEAN VERY DIFFERENT THINGS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Words That Sound Alike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your repeated measurements are to EACH OTHER.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Repeatability.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spot precision problems DURING the experiment — if one trial is way off, just repeat it.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315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your data is to the EXPECTED (true) value.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the target.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only calculate accuracy AFTER the experiment — using percent error.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WAYS YOUR DATA CAN LAND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Bullseye Test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Precision-Accuracy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608076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49440" y="1920240"/>
            <a:ext cx="4663440" cy="96012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86600" y="2011680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Top-Left  ✓✓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086600" y="237744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AND accurate — the goal.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3017520"/>
            <a:ext cx="4663440" cy="96012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86600" y="3108960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Top-Right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086600" y="347472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but off-target — systematic error (bad calibration).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49440" y="4114800"/>
            <a:ext cx="4663440" cy="96012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86600" y="4206240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Bottom-Left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086600" y="457200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on average, but noisy — reproducibility error.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949440" y="5212080"/>
            <a:ext cx="4663440" cy="96012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86600" y="5303520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Bottom-Right ✗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086600" y="56692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— go home and start over.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DATA AS IT COMES 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Precision — Spot the Outlier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for a runner to finish a race (seconds):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2743200" cy="2468880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s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29000" y="2560320"/>
            <a:ext cx="2743200" cy="2468880"/>
          </a:xfrm>
          <a:prstGeom prst="roundRect">
            <a:avLst>
              <a:gd name="adj" fmla="val 5556"/>
            </a:avLst>
          </a:prstGeom>
          <a:solidFill>
            <a:srgbClr val="FEE2E2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29000" y="3200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s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3429000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2560320"/>
            <a:ext cx="2743200" cy="2468880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200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s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6309360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89720" y="2560320"/>
            <a:ext cx="2743200" cy="2468880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89720" y="3200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s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9189720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349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27 s is obviously wrong. Repeat that trial — don't average bad data in.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TOOL, BETTER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Matters Too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room length with meter sticks — which is more precise?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5486400" cy="3657600"/>
          </a:xfrm>
          <a:prstGeom prst="roundRect">
            <a:avLst>
              <a:gd name="adj" fmla="val 3750"/>
            </a:avLst>
          </a:prstGeom>
          <a:solidFill>
            <a:srgbClr val="FEE2E2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65176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   Sticks END-to-END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AIR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3931920"/>
            <a:ext cx="5486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Wobble. Shake. Gaps. Bad joints.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errors on every seam add up.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486400" cy="3657600"/>
          </a:xfrm>
          <a:prstGeom prst="roundRect">
            <a:avLst>
              <a:gd name="adj" fmla="val 3750"/>
            </a:avLst>
          </a:prstGeom>
          <a:solidFill>
            <a:srgbClr val="DCFCE7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265176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  Sticks END-to-END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FLOOR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217920" y="3931920"/>
            <a:ext cx="5486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Sticks stay flat. Seams are tight.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— much more precise.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Percent Error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|ACCEPTED − EXPERIMENTAL|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Error Formula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11064240" cy="1463040"/>
          </a:xfrm>
          <a:prstGeom prst="roundRect">
            <a:avLst>
              <a:gd name="adj" fmla="val 9375"/>
            </a:avLst>
          </a:prstGeom>
          <a:solidFill>
            <a:srgbClr val="21295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 =  | accepted − experimental |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3749040"/>
            <a:ext cx="5486400" cy="2468880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40233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645920" y="4023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Absolute Value?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754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vertical bars | | make the result POSITIVE, whether you measured too high or too low.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just tells us HOW FAR OFF — never a negative distance.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3749040"/>
            <a:ext cx="5486400" cy="2468880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402336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kg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315200" y="4023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Units As Original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83680" y="4754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is in the SAME units as your measurement.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175,000 kg vs. accepted 180,000 kg → Error = 5,000 kg.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WHALE-AND-CAT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Isn't Error Enough?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🐋  A Blue Whale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mass: 180,000 kg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154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measure: 175,000 kg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6576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= 5,000 kg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" y="4297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SOUNDS HUGE!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80160" y="502920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50292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Error = 2.8%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21945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🐈  A House Cat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217920" y="2788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mass: 8 kg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3154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measure: 7 kg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36576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= 1 kg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217920" y="4297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SOUNDS TINY!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949440" y="502920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F96167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0" y="50292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Error = 12.5%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COMPARE ERRORS FAIRLY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Percent Error Formula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11064240" cy="1737360"/>
          </a:xfrm>
          <a:prstGeom prst="roundRect">
            <a:avLst>
              <a:gd name="adj" fmla="val 7895"/>
            </a:avLst>
          </a:prstGeom>
          <a:solidFill>
            <a:srgbClr val="21295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Error  =  ( Error ÷ Accepted ) × 100%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4023360"/>
            <a:ext cx="11064240" cy="2103120"/>
          </a:xfrm>
          <a:prstGeom prst="roundRect">
            <a:avLst>
              <a:gd name="adj" fmla="val 6522"/>
            </a:avLst>
          </a:prstGeom>
          <a:solidFill>
            <a:srgbClr val="DCFCE7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0233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closer your percent error is to 0,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i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more ACCURATE your data.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ALL MEAN THE SAME THING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You'll See This Formula In Different 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194560"/>
            <a:ext cx="3657600" cy="384048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TEXTBOOKS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 accepted − experimental |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97280" y="3794760"/>
            <a:ext cx="2560320" cy="36576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886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accepted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100%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525780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no units,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add a 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2194560"/>
            <a:ext cx="3657600" cy="384048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2377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JOURNALS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9120" y="3108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 observed − true |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37760" y="3794760"/>
            <a:ext cx="2560320" cy="36576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16" name="Text 14"/>
          <p:cNvSpPr/>
          <p:nvPr/>
        </p:nvSpPr>
        <p:spPr>
          <a:xfrm>
            <a:off x="4389120" y="3886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389120" y="4663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100%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525780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no units,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add a 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0" y="2194560"/>
            <a:ext cx="3657600" cy="384048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2377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REPORTS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0" y="3108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 measured − actual |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778240" y="3794760"/>
            <a:ext cx="2560320" cy="36576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0" y="3886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229600" y="4663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100%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412480" y="525780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no units,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add a 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4 STEPS EVERY 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Density of Water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920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20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measure water's density as 0.96 g/mL. The accepted value is 1.00 g/mL. Find the error and percent error.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2743200" cy="3108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32918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3291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= 1.00 g/mL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= 0.96 g/mL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29000" y="3108960"/>
            <a:ext cx="2743200" cy="3108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0560" y="32918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4480560" y="3291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342900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11880" y="44805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|1.00 − 0.96|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0.04 g/mL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108960"/>
            <a:ext cx="2743200" cy="3108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60920" y="32918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7360920" y="3291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3093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ERROR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44805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(0.04 ÷ 1.00) × 100%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4%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89720" y="3108960"/>
            <a:ext cx="2743200" cy="310896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241280" y="32918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/>
          <p:nvPr/>
        </p:nvSpPr>
        <p:spPr>
          <a:xfrm>
            <a:off x="10241280" y="3291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18972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72600" y="44805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 error — pretty good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middle-school lab.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ESTIMATE. COUNT. COMPARE.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— Counting Raisins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8600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288036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raisins do you think are in the box?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228600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7498080" y="23774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98080" y="288036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them out. Count the actual number.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43484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434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828800" y="45262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ERROR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28800" y="502920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= |actual − estimate|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17920" y="416052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46520" y="443484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4434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7498080" y="45262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% ERROR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98080" y="502920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Error = (Error ÷ actual) × 100%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09728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Error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Set #1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5349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on Google Classroom.  Due next class meeting.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identify accepted, experimental, error, and % error — with units.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2026-07-11T20:28:54Z</dcterms:created>
  <dcterms:modified xsi:type="dcterms:W3CDTF">2026-07-11T20:28:54Z</dcterms:modified>
</cp:coreProperties>
</file>