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Slide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Slide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 txBox="1"/>
          <p:nvPr/>
        </p:nvSpPr>
        <p:spPr>
          <a:xfrm>
            <a:off x="685800" y="22860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p>
            <a:pPr algn="ctr" rtl="1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Experimental Error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"/>
          <p:cNvSpPr txBox="1"/>
          <p:nvPr/>
        </p:nvSpPr>
        <p:spPr>
          <a:xfrm>
            <a:off x="1371600" y="198432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p>
            <a:pPr algn="ctr" rtl="1">
              <a:spcBef>
                <a:spcPts val="768"/>
              </a:spcBef>
            </a:pPr>
            <a:r>
              <a:rPr lang="en-US" sz="3200" b="0" u="none" strike="noStrike">
                <a:solidFill>
                  <a:srgbClr val="878787"/>
                </a:solidFill>
                <a:effectLst/>
                <a:uFillTx/>
                <a:latin typeface="Calibri"/>
                <a:ea typeface="Calibri"/>
              </a:rPr>
              <a:t>How </a:t>
            </a:r>
            <a:r>
              <a:rPr lang="en-US" sz="3200" b="0" i="1" u="none" strike="noStrike">
                <a:solidFill>
                  <a:srgbClr val="878787"/>
                </a:solidFill>
                <a:effectLst/>
                <a:uFillTx/>
                <a:latin typeface="Calibri-Italic"/>
                <a:ea typeface="Calibri-Italic"/>
              </a:rPr>
              <a:t>good </a:t>
            </a:r>
            <a:r>
              <a:rPr lang="en-US" sz="3200" b="0" u="none" strike="noStrike">
                <a:solidFill>
                  <a:srgbClr val="878787"/>
                </a:solidFill>
                <a:effectLst/>
                <a:uFillTx/>
                <a:latin typeface="Calibri"/>
                <a:ea typeface="Calibri"/>
              </a:rPr>
              <a:t>is my data</a:t>
            </a:r>
            <a:r>
              <a:rPr lang="en-US" sz="3200" b="0" u="none" strike="noStrike">
                <a:solidFill>
                  <a:srgbClr val="878787"/>
                </a:solidFill>
                <a:effectLst/>
                <a:uFillTx/>
                <a:latin typeface="Calibri"/>
                <a:ea typeface="Calibri"/>
              </a:rPr>
              <a:t>?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" name=""/>
          <p:cNvPicPr/>
          <p:nvPr/>
        </p:nvPicPr>
        <p:blipFill>
          <a:blip r:embed="rId1"/>
          <a:stretch/>
        </p:blipFill>
        <p:spPr>
          <a:xfrm>
            <a:off x="1735200" y="3200400"/>
            <a:ext cx="5715000" cy="261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 txBox="1"/>
          <p:nvPr/>
        </p:nvSpPr>
        <p:spPr>
          <a:xfrm>
            <a:off x="457200" y="27468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p>
            <a:pPr algn="ctr" rtl="1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Experimental Error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457200" y="1447920"/>
            <a:ext cx="8229600" cy="5029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p>
            <a:pPr marL="417240" indent="-417240" rtl="1">
              <a:lnSpc>
                <a:spcPct val="150000"/>
              </a:lnSpc>
              <a:spcBef>
                <a:spcPts val="768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Why do you repeat your experiment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?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17240" indent="-417240" rtl="1">
              <a:lnSpc>
                <a:spcPct val="150000"/>
              </a:lnSpc>
              <a:spcBef>
                <a:spcPts val="768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How come when you do an experiment you do not get the exact same result every time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?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17240" indent="-417240" rtl="1">
              <a:lnSpc>
                <a:spcPct val="150000"/>
              </a:lnSpc>
              <a:spcBef>
                <a:spcPts val="768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Where does error come from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?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"/>
          <p:cNvSpPr txBox="1"/>
          <p:nvPr/>
        </p:nvSpPr>
        <p:spPr>
          <a:xfrm>
            <a:off x="457200" y="27468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p>
            <a:pPr algn="ctr" rtl="1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Repeating Experiments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457200" y="1447920"/>
            <a:ext cx="8229600" cy="5029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p>
            <a:pPr marL="417240" indent="-417240" rtl="1">
              <a:lnSpc>
                <a:spcPct val="135000"/>
              </a:lnSpc>
              <a:spcBef>
                <a:spcPts val="768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Allows for statistics to get you closer to the correct answer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17240" indent="-417240" rtl="1">
              <a:lnSpc>
                <a:spcPct val="135000"/>
              </a:lnSpc>
              <a:spcBef>
                <a:spcPts val="768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When you do multiple experiments you might be higher than actual and lower than actual approximately the same amount of times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17240" indent="-417240" rtl="1">
              <a:lnSpc>
                <a:spcPct val="135000"/>
              </a:lnSpc>
              <a:spcBef>
                <a:spcPts val="768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An average of your results gets you close to the true value (Graphically this is a trend line!)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 txBox="1"/>
          <p:nvPr/>
        </p:nvSpPr>
        <p:spPr>
          <a:xfrm>
            <a:off x="147240" y="274680"/>
            <a:ext cx="8691840" cy="1143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p>
            <a:pPr algn="ctr" rtl="1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Trendline is an Average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" name=""/>
          <p:cNvPicPr/>
          <p:nvPr/>
        </p:nvPicPr>
        <p:blipFill>
          <a:blip r:embed="rId1"/>
          <a:stretch/>
        </p:blipFill>
        <p:spPr>
          <a:xfrm>
            <a:off x="914400" y="1401480"/>
            <a:ext cx="7405560" cy="469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" name=""/>
          <p:cNvSpPr/>
          <p:nvPr/>
        </p:nvSpPr>
        <p:spPr>
          <a:xfrm flipV="1">
            <a:off x="3200400" y="1905120"/>
            <a:ext cx="3734280" cy="2895840"/>
          </a:xfrm>
          <a:prstGeom prst="line">
            <a:avLst/>
          </a:prstGeom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9080" tIns="64080" rIns="109080" bIns="64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3527280" y="3858840"/>
            <a:ext cx="720000" cy="620280"/>
          </a:xfrm>
          <a:custGeom>
            <a:avLst/>
            <a:gdLst/>
            <a:ahLst/>
            <a:rect l="0" t="0" r="r" b="b"/>
            <a:pathLst>
              <a:path w="2000" h="1723">
                <a:moveTo>
                  <a:pt x="1433" y="35"/>
                </a:moveTo>
                <a:cubicBezTo>
                  <a:pt x="1931" y="-99"/>
                  <a:pt x="2140" y="160"/>
                  <a:pt x="1900" y="616"/>
                </a:cubicBezTo>
                <a:cubicBezTo>
                  <a:pt x="1660" y="1072"/>
                  <a:pt x="1062" y="1552"/>
                  <a:pt x="566" y="1687"/>
                </a:cubicBezTo>
                <a:cubicBezTo>
                  <a:pt x="68" y="1822"/>
                  <a:pt x="-140" y="1562"/>
                  <a:pt x="99" y="1106"/>
                </a:cubicBezTo>
                <a:cubicBezTo>
                  <a:pt x="338" y="650"/>
                  <a:pt x="936" y="170"/>
                  <a:pt x="1433" y="35"/>
                </a:cubicBezTo>
                <a:close/>
              </a:path>
            </a:pathLst>
          </a:custGeom>
          <a:noFill/>
          <a:ln w="25560">
            <a:solidFill>
              <a:srgbClr val="FF0000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"/>
          <p:cNvSpPr/>
          <p:nvPr/>
        </p:nvSpPr>
        <p:spPr>
          <a:xfrm>
            <a:off x="5964120" y="1814400"/>
            <a:ext cx="720000" cy="620280"/>
          </a:xfrm>
          <a:custGeom>
            <a:avLst/>
            <a:gdLst/>
            <a:ahLst/>
            <a:rect l="0" t="0" r="r" b="b"/>
            <a:pathLst>
              <a:path w="2000" h="1723">
                <a:moveTo>
                  <a:pt x="1433" y="35"/>
                </a:moveTo>
                <a:cubicBezTo>
                  <a:pt x="1931" y="-99"/>
                  <a:pt x="2140" y="160"/>
                  <a:pt x="1900" y="616"/>
                </a:cubicBezTo>
                <a:cubicBezTo>
                  <a:pt x="1660" y="1072"/>
                  <a:pt x="1062" y="1552"/>
                  <a:pt x="566" y="1687"/>
                </a:cubicBezTo>
                <a:cubicBezTo>
                  <a:pt x="68" y="1822"/>
                  <a:pt x="-140" y="1562"/>
                  <a:pt x="99" y="1106"/>
                </a:cubicBezTo>
                <a:cubicBezTo>
                  <a:pt x="338" y="650"/>
                  <a:pt x="936" y="170"/>
                  <a:pt x="1433" y="35"/>
                </a:cubicBezTo>
                <a:close/>
              </a:path>
            </a:pathLst>
          </a:custGeom>
          <a:noFill/>
          <a:ln w="25560">
            <a:solidFill>
              <a:srgbClr val="FF0000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"/>
          <p:cNvSpPr/>
          <p:nvPr/>
        </p:nvSpPr>
        <p:spPr>
          <a:xfrm>
            <a:off x="4773240" y="2555280"/>
            <a:ext cx="1611000" cy="1342800"/>
          </a:xfrm>
          <a:custGeom>
            <a:avLst/>
            <a:gdLst/>
            <a:ahLst/>
            <a:rect l="0" t="0" r="r" b="b"/>
            <a:pathLst>
              <a:path w="4475" h="3730">
                <a:moveTo>
                  <a:pt x="3404" y="167"/>
                </a:moveTo>
                <a:cubicBezTo>
                  <a:pt x="4458" y="-258"/>
                  <a:pt x="4791" y="156"/>
                  <a:pt x="4148" y="1094"/>
                </a:cubicBezTo>
                <a:cubicBezTo>
                  <a:pt x="3504" y="2032"/>
                  <a:pt x="2126" y="3137"/>
                  <a:pt x="1071" y="3563"/>
                </a:cubicBezTo>
                <a:cubicBezTo>
                  <a:pt x="17" y="3988"/>
                  <a:pt x="-315" y="3573"/>
                  <a:pt x="327" y="2635"/>
                </a:cubicBezTo>
                <a:cubicBezTo>
                  <a:pt x="971" y="1697"/>
                  <a:pt x="2349" y="592"/>
                  <a:pt x="3404" y="167"/>
                </a:cubicBezTo>
                <a:close/>
              </a:path>
            </a:pathLst>
          </a:custGeom>
          <a:noFill/>
          <a:ln w="25560">
            <a:solidFill>
              <a:srgbClr val="00B04F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"/>
          <p:cNvSpPr/>
          <p:nvPr/>
        </p:nvSpPr>
        <p:spPr>
          <a:xfrm flipH="1">
            <a:off x="3886200" y="2666880"/>
            <a:ext cx="228960" cy="1295640"/>
          </a:xfrm>
          <a:prstGeom prst="line">
            <a:avLst/>
          </a:prstGeom>
          <a:ln w="25560">
            <a:solidFill>
              <a:srgbClr val="FF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 flipV="1">
            <a:off x="4115520" y="2109240"/>
            <a:ext cx="2133360" cy="558000"/>
          </a:xfrm>
          <a:prstGeom prst="line">
            <a:avLst/>
          </a:prstGeom>
          <a:ln w="25560">
            <a:solidFill>
              <a:srgbClr val="FF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 flipH="1" flipV="1">
            <a:off x="5768280" y="3462480"/>
            <a:ext cx="1116720" cy="286560"/>
          </a:xfrm>
          <a:prstGeom prst="line">
            <a:avLst/>
          </a:prstGeom>
          <a:ln w="25560">
            <a:solidFill>
              <a:srgbClr val="00B04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 flipH="1" flipV="1">
            <a:off x="4493160" y="3886200"/>
            <a:ext cx="356400" cy="886680"/>
          </a:xfrm>
          <a:prstGeom prst="line">
            <a:avLst/>
          </a:prstGeom>
          <a:ln w="25560">
            <a:solidFill>
              <a:srgbClr val="1E487C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2963880" y="1918440"/>
            <a:ext cx="1150920" cy="923400"/>
          </a:xfrm>
          <a:prstGeom prst="rect">
            <a:avLst/>
          </a:prstGeom>
          <a:solidFill>
            <a:srgbClr val="FFFFFF"/>
          </a:solidFill>
          <a:ln w="25560">
            <a:solidFill>
              <a:srgbClr val="FF0000"/>
            </a:solidFill>
            <a:round/>
          </a:ln>
          <a:effectLst>
            <a:outerShdw dist="0" dir="0" rotWithShape="0">
              <a:srgbClr val="000000">
                <a:alpha val="0"/>
              </a:srgbClr>
            </a:outerShdw>
          </a:effectLst>
        </p:spPr>
        <p:txBody>
          <a:bodyPr lIns="102600" tIns="57600" rIns="102600" bIns="576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Times you measured too high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6785280" y="3352680"/>
            <a:ext cx="1150920" cy="923400"/>
          </a:xfrm>
          <a:prstGeom prst="rect">
            <a:avLst/>
          </a:prstGeom>
          <a:solidFill>
            <a:srgbClr val="FFFFFF"/>
          </a:solidFill>
          <a:ln w="25560">
            <a:solidFill>
              <a:srgbClr val="00B04F"/>
            </a:solidFill>
            <a:round/>
          </a:ln>
          <a:effectLst>
            <a:outerShdw dist="0" dir="0" rotWithShape="0">
              <a:srgbClr val="000000">
                <a:alpha val="0"/>
              </a:srgbClr>
            </a:outerShdw>
          </a:effectLst>
        </p:spPr>
        <p:txBody>
          <a:bodyPr lIns="102600" tIns="57600" rIns="102600" bIns="576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Times you measured too low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4534920" y="4197600"/>
            <a:ext cx="2061360" cy="646200"/>
          </a:xfrm>
          <a:prstGeom prst="rect">
            <a:avLst/>
          </a:prstGeom>
          <a:solidFill>
            <a:srgbClr val="FFFFFF"/>
          </a:solidFill>
          <a:ln w="25560">
            <a:solidFill>
              <a:srgbClr val="1E487C"/>
            </a:solidFill>
            <a:round/>
          </a:ln>
          <a:effectLst>
            <a:outerShdw dist="0" dir="0" rotWithShape="0">
              <a:srgbClr val="000000">
                <a:alpha val="0"/>
              </a:srgbClr>
            </a:outerShdw>
          </a:effectLst>
        </p:spPr>
        <p:txBody>
          <a:bodyPr lIns="102600" tIns="57600" rIns="102600" bIns="576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Time you measured just right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"/>
          <p:cNvSpPr/>
          <p:nvPr/>
        </p:nvSpPr>
        <p:spPr>
          <a:xfrm flipH="1" flipV="1">
            <a:off x="6812640" y="1981080"/>
            <a:ext cx="921960" cy="820440"/>
          </a:xfrm>
          <a:prstGeom prst="line">
            <a:avLst/>
          </a:prstGeom>
          <a:ln w="2556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7419960" y="2226240"/>
            <a:ext cx="1264320" cy="646200"/>
          </a:xfrm>
          <a:prstGeom prst="rect">
            <a:avLst/>
          </a:prstGeom>
          <a:solidFill>
            <a:srgbClr val="FFFFFF"/>
          </a:solidFill>
          <a:ln w="25560">
            <a:solidFill>
              <a:srgbClr val="000000"/>
            </a:solidFill>
            <a:round/>
          </a:ln>
          <a:effectLst>
            <a:outerShdw dist="0" dir="0" rotWithShape="0">
              <a:srgbClr val="000000">
                <a:alpha val="0"/>
              </a:srgbClr>
            </a:outerShdw>
          </a:effectLst>
        </p:spPr>
        <p:txBody>
          <a:bodyPr lIns="102600" tIns="57600" rIns="102600" bIns="576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Average of your data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"/>
          <p:cNvSpPr txBox="1"/>
          <p:nvPr/>
        </p:nvSpPr>
        <p:spPr>
          <a:xfrm>
            <a:off x="457200" y="27468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p>
            <a:pPr algn="ctr" rtl="1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Sources of Error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457200" y="1447920"/>
            <a:ext cx="8229600" cy="5029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p>
            <a:pPr marL="380160" indent="-380160" rtl="1">
              <a:lnSpc>
                <a:spcPct val="135000"/>
              </a:lnSpc>
              <a:spcBef>
                <a:spcPts val="697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29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You (reaction time, sight, etc.)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160" indent="-380160" rtl="1">
              <a:lnSpc>
                <a:spcPct val="135000"/>
              </a:lnSpc>
              <a:spcBef>
                <a:spcPts val="697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29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Tools you use (limitations come from how small of measurements they can take)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160" indent="-380160" rtl="1">
              <a:lnSpc>
                <a:spcPct val="135000"/>
              </a:lnSpc>
              <a:spcBef>
                <a:spcPts val="697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29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Manipulation/changing the environment slightly (moving something from its original position)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160" indent="-380160" rtl="1">
              <a:lnSpc>
                <a:spcPct val="135000"/>
              </a:lnSpc>
              <a:spcBef>
                <a:spcPts val="697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29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External influences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160" indent="-380160" rtl="1">
              <a:lnSpc>
                <a:spcPct val="135000"/>
              </a:lnSpc>
              <a:spcBef>
                <a:spcPts val="697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29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Experimental design (not well controlled)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"/>
          <p:cNvSpPr txBox="1"/>
          <p:nvPr/>
        </p:nvSpPr>
        <p:spPr>
          <a:xfrm>
            <a:off x="457200" y="27468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p>
            <a:pPr algn="ctr" rtl="1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Analyzing Data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p>
            <a:pPr marL="417240" indent="-417240" rtl="1">
              <a:spcBef>
                <a:spcPts val="768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Look for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: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22960" lvl="1" indent="-365760" rtl="1">
              <a:spcBef>
                <a:spcPts val="672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Precision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22960" lvl="1" indent="-365760" rtl="1">
              <a:spcBef>
                <a:spcPts val="672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Accuracy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28680" lvl="2" indent="-314280" rtl="1">
              <a:spcBef>
                <a:spcPts val="575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Error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28680" lvl="2" indent="-314280" rtl="1">
              <a:spcBef>
                <a:spcPts val="575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%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Error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" name=""/>
          <p:cNvPicPr/>
          <p:nvPr/>
        </p:nvPicPr>
        <p:blipFill>
          <a:blip r:embed="rId1"/>
          <a:stretch/>
        </p:blipFill>
        <p:spPr>
          <a:xfrm>
            <a:off x="4114800" y="1905120"/>
            <a:ext cx="3995640" cy="4367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"/>
          <p:cNvSpPr txBox="1"/>
          <p:nvPr/>
        </p:nvSpPr>
        <p:spPr>
          <a:xfrm>
            <a:off x="457200" y="27468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p>
            <a:pPr algn="ctr" rtl="1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Analyzing Data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p>
            <a:pPr marL="417240" indent="-417240" rtl="1">
              <a:spcBef>
                <a:spcPts val="768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Precision: how close your data is when you repeat the experiment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17240" indent="-417240" rtl="1">
              <a:spcBef>
                <a:spcPts val="768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Accuracy: how close your data is to the expected value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"/>
          <p:cNvPicPr/>
          <p:nvPr/>
        </p:nvPicPr>
        <p:blipFill>
          <a:blip r:embed="rId1"/>
          <a:stretch/>
        </p:blipFill>
        <p:spPr>
          <a:xfrm>
            <a:off x="533520" y="533520"/>
            <a:ext cx="8077320" cy="5914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"/>
          <p:cNvSpPr txBox="1"/>
          <p:nvPr/>
        </p:nvSpPr>
        <p:spPr>
          <a:xfrm>
            <a:off x="457200" y="27468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p>
            <a:pPr algn="ctr" rtl="1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Precision – During Experiment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457200" y="1600200"/>
            <a:ext cx="8077320" cy="4525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p>
            <a:pPr marL="417240" indent="-417240" rtl="1">
              <a:spcBef>
                <a:spcPts val="768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Repeatability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17240" indent="-417240" rtl="1">
              <a:spcBef>
                <a:spcPts val="768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Can be observed and potentially corrected during experiment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17240" indent="-417240" rtl="1">
              <a:spcBef>
                <a:spcPts val="768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If you notice an “outlier” or a data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  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point that is totally off, just repeat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  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measurement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8" name=""/>
          <p:cNvGraphicFramePr/>
          <p:nvPr/>
        </p:nvGraphicFramePr>
        <p:xfrm>
          <a:off x="6781680" y="3657600"/>
          <a:ext cx="2209680" cy="2819520"/>
        </p:xfrm>
        <a:graphic>
          <a:graphicData uri="http://schemas.openxmlformats.org/drawingml/2006/table">
            <a:tbl>
              <a:tblPr/>
              <a:tblGrid>
                <a:gridCol w="914400"/>
                <a:gridCol w="1295280"/>
              </a:tblGrid>
              <a:tr h="952560">
                <a:tc>
                  <a:txBody>
                    <a:bodyPr lIns="45720" rIns="45720" anchor="t" anchorCtr="1">
                      <a:noAutofit/>
                    </a:bodyPr>
                    <a:p>
                      <a:r>
                        <a:rPr lang="en-US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-Bold"/>
                          <a:ea typeface="Calibri-Bold"/>
                        </a:rPr>
                        <a:t>Trial #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45720" marR="45720" marT="45720" marB="4572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4E81BD"/>
                    </a:solidFill>
                  </a:tcPr>
                </a:tc>
                <a:tc>
                  <a:txBody>
                    <a:bodyPr lIns="45720" rIns="45720" anchor="t" anchorCtr="1">
                      <a:noAutofit/>
                    </a:bodyPr>
                    <a:p>
                      <a:r>
                        <a:rPr lang="en-US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-Bold"/>
                          <a:ea typeface="Calibri-Bold"/>
                        </a:rPr>
                        <a:t>Time to finish line (s)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45720" marR="45720" marT="45720" marB="4572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4E81BD"/>
                    </a:solidFill>
                  </a:tcPr>
                </a:tc>
              </a:tr>
              <a:tr h="466560">
                <a:tc>
                  <a:txBody>
                    <a:bodyPr lIns="45720" rIns="45720" anchor="t" anchorCtr="1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45720" marR="45720" marT="45720" marB="4572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45720" rIns="45720" anchor="t" anchorCtr="1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45720" marR="45720" marT="45720" marB="4572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  <a:tr h="466560">
                <a:tc>
                  <a:txBody>
                    <a:bodyPr lIns="45720" rIns="45720" anchor="t" anchorCtr="1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45720" marR="45720" marT="45720" marB="4572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45720" rIns="45720" anchor="t" anchorCtr="1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27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45720" marR="45720" marT="45720" marB="4572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  <a:tr h="466560">
                <a:tc>
                  <a:txBody>
                    <a:bodyPr lIns="45720" rIns="45720" anchor="t" anchorCtr="1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45720" marR="45720" marT="45720" marB="4572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45720" rIns="45720" anchor="t" anchorCtr="1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45720" marR="45720" marT="45720" marB="4572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  <a:tr h="467280">
                <a:tc>
                  <a:txBody>
                    <a:bodyPr lIns="45720" rIns="45720" anchor="t" anchorCtr="1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4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45720" marR="45720" marT="45720" marB="4572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45720" rIns="45720" anchor="t" anchorCtr="1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45720" marR="45720" marT="45720" marB="4572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"/>
          <p:cNvSpPr txBox="1"/>
          <p:nvPr/>
        </p:nvSpPr>
        <p:spPr>
          <a:xfrm>
            <a:off x="457200" y="27468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p>
            <a:pPr algn="ctr" rtl="1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Precision – During Experiment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457200" y="1600200"/>
            <a:ext cx="8077320" cy="4525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p>
            <a:pPr marL="417240" indent="-417240" rtl="1">
              <a:spcBef>
                <a:spcPts val="768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When measuring the 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room's volume with meter sticks, which method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do you think will give you a more precise measurement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?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22960" lvl="1" indent="-365760" rtl="1">
              <a:spcBef>
                <a:spcPts val="672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Placing the meter sticks end to end while holding them in the air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22960" lvl="1" indent="-365760" rtl="1">
              <a:spcBef>
                <a:spcPts val="672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Placing the meter sticks end to end while laying them on the floor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"/>
          <p:cNvSpPr txBox="1"/>
          <p:nvPr/>
        </p:nvSpPr>
        <p:spPr>
          <a:xfrm>
            <a:off x="457200" y="27468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p>
            <a:pPr algn="ctr" rtl="1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Accuracy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p>
            <a:pPr marL="417240" indent="-417240" rtl="1">
              <a:spcBef>
                <a:spcPts val="768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Proximity (closeness) to target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17240" indent="-417240" rtl="1">
              <a:spcBef>
                <a:spcPts val="768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17240" indent="-417240" rtl="1">
              <a:spcBef>
                <a:spcPts val="768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17240" indent="-417240" rtl="1">
              <a:spcBef>
                <a:spcPts val="768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17240" indent="-417240" rtl="1">
              <a:spcBef>
                <a:spcPts val="768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17240" indent="-417240" rtl="1">
              <a:spcBef>
                <a:spcPts val="768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Analyzed after data collection using 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-Bold"/>
                <a:ea typeface="Calibri-Bold"/>
              </a:rPr>
              <a:t>percent error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3" name=""/>
          <p:cNvPicPr/>
          <p:nvPr/>
        </p:nvPicPr>
        <p:blipFill>
          <a:blip r:embed="rId1"/>
          <a:stretch/>
        </p:blipFill>
        <p:spPr>
          <a:xfrm>
            <a:off x="1066680" y="2514600"/>
            <a:ext cx="7053480" cy="1595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"/>
          <p:cNvSpPr txBox="1"/>
          <p:nvPr/>
        </p:nvSpPr>
        <p:spPr>
          <a:xfrm>
            <a:off x="457200" y="432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p>
            <a:pPr algn="ctr" rtl="1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Error and Percent Error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5" name=""/>
          <p:cNvGrpSpPr/>
          <p:nvPr/>
        </p:nvGrpSpPr>
        <p:grpSpPr>
          <a:xfrm>
            <a:off x="6885360" y="1853640"/>
            <a:ext cx="1987560" cy="991080"/>
            <a:chOff x="6885360" y="1853640"/>
            <a:chExt cx="1987560" cy="991080"/>
          </a:xfrm>
        </p:grpSpPr>
        <p:sp>
          <p:nvSpPr>
            <p:cNvPr id="46" name=""/>
            <p:cNvSpPr/>
            <p:nvPr/>
          </p:nvSpPr>
          <p:spPr>
            <a:xfrm>
              <a:off x="6885360" y="1853640"/>
              <a:ext cx="1987560" cy="991080"/>
            </a:xfrm>
            <a:custGeom>
              <a:avLst/>
              <a:gdLst/>
              <a:ahLst/>
              <a:rect l="0" t="0" r="r" b="b"/>
              <a:pathLst>
                <a:path w="5521" h="2753">
                  <a:moveTo>
                    <a:pt x="4145" y="0"/>
                  </a:moveTo>
                  <a:cubicBezTo>
                    <a:pt x="5062" y="0"/>
                    <a:pt x="5521" y="459"/>
                    <a:pt x="5521" y="1376"/>
                  </a:cubicBezTo>
                  <a:lnTo>
                    <a:pt x="5521" y="1376"/>
                  </a:lnTo>
                  <a:cubicBezTo>
                    <a:pt x="5521" y="2294"/>
                    <a:pt x="5062" y="2753"/>
                    <a:pt x="4145" y="2753"/>
                  </a:cubicBezTo>
                  <a:lnTo>
                    <a:pt x="2663" y="2753"/>
                  </a:lnTo>
                  <a:cubicBezTo>
                    <a:pt x="1745" y="2753"/>
                    <a:pt x="1286" y="2294"/>
                    <a:pt x="1286" y="1376"/>
                  </a:cubicBezTo>
                  <a:lnTo>
                    <a:pt x="1286" y="1376"/>
                  </a:lnTo>
                  <a:cubicBezTo>
                    <a:pt x="1286" y="1362"/>
                    <a:pt x="1287" y="1348"/>
                    <a:pt x="1287" y="1333"/>
                  </a:cubicBezTo>
                  <a:lnTo>
                    <a:pt x="0" y="865"/>
                  </a:lnTo>
                  <a:lnTo>
                    <a:pt x="1399" y="832"/>
                  </a:lnTo>
                  <a:cubicBezTo>
                    <a:pt x="1638" y="277"/>
                    <a:pt x="2059" y="0"/>
                    <a:pt x="2663" y="0"/>
                  </a:cubicBezTo>
                  <a:lnTo>
                    <a:pt x="4145" y="0"/>
                  </a:lnTo>
                  <a:close/>
                </a:path>
              </a:pathLst>
            </a:custGeom>
            <a:gradFill rotWithShape="0">
              <a:gsLst>
                <a:gs pos="0">
                  <a:srgbClr val="A5E6FF"/>
                </a:gs>
                <a:gs pos="100000">
                  <a:srgbClr val="E6F8FF"/>
                </a:gs>
              </a:gsLst>
              <a:lin ang="16200000"/>
            </a:gradFill>
            <a:ln w="9360">
              <a:solidFill>
                <a:srgbClr val="46A9C4"/>
              </a:solidFill>
              <a:round/>
            </a:ln>
          </p:spPr>
          <p:txBody>
            <a:bodyPr lIns="94680" tIns="49680" rIns="94680" bIns="4968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" name=""/>
            <p:cNvSpPr txBox="1"/>
            <p:nvPr/>
          </p:nvSpPr>
          <p:spPr>
            <a:xfrm>
              <a:off x="7622280" y="2003400"/>
              <a:ext cx="976680" cy="70092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spAutoFit/>
            </a:bodyPr>
            <a:p>
              <a:pPr algn="ctr" rtl="1"/>
              <a:r>
                <a:rPr lang="en-US" sz="1200" b="0" u="none" strike="noStrike">
                  <a:solidFill>
                    <a:srgbClr val="000000"/>
                  </a:solidFill>
                  <a:effectLst/>
                  <a:uFillTx/>
                  <a:latin typeface="Calibri"/>
                  <a:ea typeface="Calibri"/>
                </a:rPr>
                <a:t>Absolute value means NO NEGATIVES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8" name=""/>
          <p:cNvGrpSpPr/>
          <p:nvPr/>
        </p:nvGrpSpPr>
        <p:grpSpPr>
          <a:xfrm>
            <a:off x="838080" y="5573160"/>
            <a:ext cx="3498480" cy="1278000"/>
            <a:chOff x="838080" y="5573160"/>
            <a:chExt cx="3498480" cy="1278000"/>
          </a:xfrm>
        </p:grpSpPr>
        <p:sp>
          <p:nvSpPr>
            <p:cNvPr id="49" name=""/>
            <p:cNvSpPr/>
            <p:nvPr/>
          </p:nvSpPr>
          <p:spPr>
            <a:xfrm>
              <a:off x="838080" y="5573160"/>
              <a:ext cx="3498480" cy="1132920"/>
            </a:xfrm>
            <a:custGeom>
              <a:avLst/>
              <a:gdLst/>
              <a:ahLst/>
              <a:rect l="0" t="0" r="r" b="b"/>
              <a:pathLst>
                <a:path w="9718" h="3147">
                  <a:moveTo>
                    <a:pt x="0" y="1029"/>
                  </a:moveTo>
                  <a:cubicBezTo>
                    <a:pt x="0" y="795"/>
                    <a:pt x="189" y="606"/>
                    <a:pt x="423" y="606"/>
                  </a:cubicBezTo>
                  <a:lnTo>
                    <a:pt x="2345" y="606"/>
                  </a:lnTo>
                  <a:lnTo>
                    <a:pt x="3599" y="606"/>
                  </a:lnTo>
                  <a:cubicBezTo>
                    <a:pt x="3833" y="606"/>
                    <a:pt x="4022" y="795"/>
                    <a:pt x="4022" y="1029"/>
                  </a:cubicBezTo>
                  <a:lnTo>
                    <a:pt x="4022" y="1029"/>
                  </a:lnTo>
                  <a:lnTo>
                    <a:pt x="9718" y="0"/>
                  </a:lnTo>
                  <a:lnTo>
                    <a:pt x="4022" y="1665"/>
                  </a:lnTo>
                  <a:lnTo>
                    <a:pt x="4022" y="2723"/>
                  </a:lnTo>
                  <a:cubicBezTo>
                    <a:pt x="4022" y="2957"/>
                    <a:pt x="3833" y="3147"/>
                    <a:pt x="3599" y="3147"/>
                  </a:cubicBezTo>
                  <a:lnTo>
                    <a:pt x="423" y="3147"/>
                  </a:lnTo>
                  <a:cubicBezTo>
                    <a:pt x="189" y="3147"/>
                    <a:pt x="0" y="2957"/>
                    <a:pt x="0" y="2723"/>
                  </a:cubicBezTo>
                  <a:lnTo>
                    <a:pt x="0" y="1029"/>
                  </a:lnTo>
                  <a:close/>
                </a:path>
              </a:pathLst>
            </a:custGeom>
            <a:gradFill rotWithShape="0">
              <a:gsLst>
                <a:gs pos="0">
                  <a:srgbClr val="DAFEA4"/>
                </a:gs>
                <a:gs pos="100000">
                  <a:srgbClr val="F5FFE6"/>
                </a:gs>
              </a:gsLst>
              <a:lin ang="16200000"/>
            </a:gradFill>
            <a:ln w="9360">
              <a:solidFill>
                <a:srgbClr val="98B954"/>
              </a:solidFill>
              <a:round/>
            </a:ln>
          </p:spPr>
          <p:txBody>
            <a:bodyPr lIns="94680" tIns="49680" rIns="94680" bIns="4968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" name=""/>
            <p:cNvSpPr txBox="1"/>
            <p:nvPr/>
          </p:nvSpPr>
          <p:spPr>
            <a:xfrm>
              <a:off x="933480" y="5840640"/>
              <a:ext cx="1257480" cy="101052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spAutoFit/>
            </a:bodyPr>
            <a:p>
              <a:pPr algn="ctr" rtl="1"/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  <a:ea typeface="Calibri"/>
                </a:rPr>
                <a:t>No units, just put a % at the end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1" name=""/>
          <p:cNvGrpSpPr/>
          <p:nvPr/>
        </p:nvGrpSpPr>
        <p:grpSpPr>
          <a:xfrm>
            <a:off x="1494000" y="2843280"/>
            <a:ext cx="2382840" cy="1188360"/>
            <a:chOff x="1494000" y="2843280"/>
            <a:chExt cx="2382840" cy="1188360"/>
          </a:xfrm>
        </p:grpSpPr>
        <p:sp>
          <p:nvSpPr>
            <p:cNvPr id="52" name=""/>
            <p:cNvSpPr/>
            <p:nvPr/>
          </p:nvSpPr>
          <p:spPr>
            <a:xfrm>
              <a:off x="1494000" y="2843280"/>
              <a:ext cx="2382840" cy="1188360"/>
            </a:xfrm>
            <a:custGeom>
              <a:avLst/>
              <a:gdLst/>
              <a:ahLst/>
              <a:rect l="0" t="0" r="r" b="b"/>
              <a:pathLst>
                <a:path w="6619" h="3301">
                  <a:moveTo>
                    <a:pt x="480" y="2031"/>
                  </a:moveTo>
                  <a:cubicBezTo>
                    <a:pt x="480" y="2878"/>
                    <a:pt x="903" y="3301"/>
                    <a:pt x="1750" y="3301"/>
                  </a:cubicBezTo>
                  <a:lnTo>
                    <a:pt x="5349" y="3301"/>
                  </a:lnTo>
                  <a:cubicBezTo>
                    <a:pt x="6196" y="3301"/>
                    <a:pt x="6619" y="2878"/>
                    <a:pt x="6619" y="2031"/>
                  </a:cubicBezTo>
                  <a:lnTo>
                    <a:pt x="6619" y="2031"/>
                  </a:lnTo>
                  <a:cubicBezTo>
                    <a:pt x="6619" y="1184"/>
                    <a:pt x="6196" y="760"/>
                    <a:pt x="5349" y="760"/>
                  </a:cubicBezTo>
                  <a:lnTo>
                    <a:pt x="1750" y="760"/>
                  </a:lnTo>
                  <a:cubicBezTo>
                    <a:pt x="1694" y="760"/>
                    <a:pt x="1639" y="764"/>
                    <a:pt x="1584" y="770"/>
                  </a:cubicBezTo>
                  <a:lnTo>
                    <a:pt x="0" y="0"/>
                  </a:lnTo>
                  <a:lnTo>
                    <a:pt x="1153" y="908"/>
                  </a:lnTo>
                  <a:cubicBezTo>
                    <a:pt x="704" y="1148"/>
                    <a:pt x="480" y="1522"/>
                    <a:pt x="480" y="2031"/>
                  </a:cubicBezTo>
                  <a:close/>
                </a:path>
              </a:pathLst>
            </a:custGeom>
            <a:gradFill rotWithShape="0">
              <a:gsLst>
                <a:gs pos="0">
                  <a:srgbClr val="FFD1BB"/>
                </a:gs>
                <a:gs pos="100000">
                  <a:srgbClr val="FFF2ED"/>
                </a:gs>
              </a:gsLst>
              <a:lin ang="16200000"/>
            </a:gradFill>
            <a:ln w="9360">
              <a:solidFill>
                <a:srgbClr val="F6923F"/>
              </a:solidFill>
              <a:round/>
            </a:ln>
          </p:spPr>
          <p:txBody>
            <a:bodyPr lIns="94680" tIns="49680" rIns="94680" bIns="4968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" name=""/>
            <p:cNvSpPr txBox="1"/>
            <p:nvPr/>
          </p:nvSpPr>
          <p:spPr>
            <a:xfrm>
              <a:off x="2040840" y="3255480"/>
              <a:ext cx="1461600" cy="6984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spAutoFit/>
            </a:bodyPr>
            <a:p>
              <a:pPr algn="ctr" rtl="1"/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Calibri"/>
                  <a:ea typeface="Calibri"/>
                </a:rPr>
                <a:t>Why can’t we just use this value</a:t>
              </a: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Calibri"/>
                  <a:ea typeface="Calibri"/>
                </a:rPr>
                <a:t>?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8110440" y="304920"/>
            <a:ext cx="424080" cy="381240"/>
          </a:xfrm>
          <a:custGeom>
            <a:avLst/>
            <a:gdLst/>
            <a:ahLst/>
            <a:rect l="0" t="0" r="r" b="b"/>
            <a:pathLst>
              <a:path w="1178" h="1059">
                <a:moveTo>
                  <a:pt x="588" y="0"/>
                </a:moveTo>
                <a:lnTo>
                  <a:pt x="728" y="404"/>
                </a:lnTo>
                <a:lnTo>
                  <a:pt x="1178" y="404"/>
                </a:lnTo>
                <a:lnTo>
                  <a:pt x="814" y="655"/>
                </a:lnTo>
                <a:lnTo>
                  <a:pt x="953" y="1059"/>
                </a:lnTo>
                <a:lnTo>
                  <a:pt x="588" y="809"/>
                </a:lnTo>
                <a:lnTo>
                  <a:pt x="224" y="1059"/>
                </a:lnTo>
                <a:lnTo>
                  <a:pt x="363" y="655"/>
                </a:lnTo>
                <a:lnTo>
                  <a:pt x="0" y="404"/>
                </a:lnTo>
                <a:lnTo>
                  <a:pt x="449" y="404"/>
                </a:lnTo>
                <a:lnTo>
                  <a:pt x="588" y="0"/>
                </a:lnTo>
                <a:close/>
              </a:path>
            </a:pathLst>
          </a:custGeom>
          <a:solidFill>
            <a:srgbClr val="4E81BD"/>
          </a:solidFill>
          <a:ln w="25560">
            <a:solidFill>
              <a:srgbClr val="395E89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779400" y="1853640"/>
            <a:ext cx="5994720" cy="1107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3270" b="0" u="none" strike="noStrike">
                <a:solidFill>
                  <a:srgbClr val="1E2836"/>
                </a:solidFill>
                <a:effectLst/>
                <a:highlight>
                  <a:srgbClr val="F8FAFC"/>
                </a:highlight>
                <a:uFillTx/>
                <a:latin typeface="Tahoma"/>
                <a:ea typeface="Tahoma"/>
              </a:rPr>
              <a:t>error = | measured − actual |</a:t>
            </a:r>
            <a:endParaRPr lang="en-US" sz="3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473040" y="4637880"/>
            <a:ext cx="8229600" cy="999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3070" b="0" u="none" strike="noStrike">
                <a:solidFill>
                  <a:srgbClr val="1E2836"/>
                </a:solidFill>
                <a:effectLst/>
                <a:highlight>
                  <a:srgbClr val="FFFFFF"/>
                </a:highlight>
                <a:uFillTx/>
                <a:latin typeface="Tahoma"/>
                <a:ea typeface="Tahoma"/>
              </a:rPr>
              <a:t>% error = </a:t>
            </a:r>
            <a:r>
              <a:rPr lang="en-US" sz="3070" b="0" u="none" strike="noStrike">
                <a:solidFill>
                  <a:srgbClr val="1E2836"/>
                </a:solidFill>
                <a:effectLst/>
                <a:highlight>
                  <a:srgbClr val="FFFFFF"/>
                </a:highlight>
                <a:uFillTx/>
                <a:latin typeface="Tahoma"/>
                <a:ea typeface="Tahoma"/>
              </a:rPr>
              <a:t>|measured − actual| ÷ actual × 100</a:t>
            </a:r>
            <a:endParaRPr lang="en-US" sz="30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"/>
          <p:cNvSpPr txBox="1"/>
          <p:nvPr/>
        </p:nvSpPr>
        <p:spPr>
          <a:xfrm>
            <a:off x="457200" y="27468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p>
            <a:pPr algn="ctr" rtl="1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Why is “Percent Error” Important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?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457200" y="1600200"/>
            <a:ext cx="8229600" cy="5029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p>
            <a:pPr marL="417240" indent="-417240" rtl="1">
              <a:spcBef>
                <a:spcPts val="768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A blue whale has a mass of 180,000 Kg. YOU measured it to be 175,000 Kg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22960" lvl="1" indent="-365760" rtl="1">
              <a:spcBef>
                <a:spcPts val="672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What is your error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8000" lvl="2" indent="-363600" rtl="1">
              <a:spcBef>
                <a:spcPts val="672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2800" b="0" u="none" strike="noStrike">
                <a:solidFill>
                  <a:srgbClr val="FF0000"/>
                </a:solidFill>
                <a:effectLst/>
                <a:uFillTx/>
                <a:latin typeface="Calibri"/>
                <a:ea typeface="Calibri"/>
              </a:rPr>
              <a:t>180,000</a:t>
            </a:r>
            <a:r>
              <a:rPr lang="en-US" sz="2800" b="0" u="none" strike="noStrike">
                <a:solidFill>
                  <a:srgbClr val="FF000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2800" b="0" u="none" strike="noStrike">
                <a:solidFill>
                  <a:srgbClr val="FF0000"/>
                </a:solidFill>
                <a:effectLst/>
                <a:uFillTx/>
                <a:latin typeface="Calibri"/>
                <a:ea typeface="Calibri"/>
              </a:rPr>
              <a:t>kg - 175,000 kg = 5,000 kg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22960" lvl="1" indent="-365760" rtl="1">
              <a:spcBef>
                <a:spcPts val="672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17240" indent="-417240" rtl="1">
              <a:spcBef>
                <a:spcPts val="768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Your cat has a mass of 8 Kg. YOU measured it to be 7 Kg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.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22960" lvl="1" indent="-365760" rtl="1">
              <a:spcBef>
                <a:spcPts val="672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What is your error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8000" lvl="2" indent="-363600" rtl="1">
              <a:spcBef>
                <a:spcPts val="575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2400" b="0" u="none" strike="noStrike">
                <a:solidFill>
                  <a:srgbClr val="FF0000"/>
                </a:solidFill>
                <a:effectLst/>
                <a:uFillTx/>
                <a:latin typeface="Calibri"/>
                <a:ea typeface="Calibri"/>
              </a:rPr>
              <a:t>8</a:t>
            </a:r>
            <a:r>
              <a:rPr lang="en-US" sz="2400" b="0" u="none" strike="noStrike">
                <a:solidFill>
                  <a:srgbClr val="FF000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2400" b="0" u="none" strike="noStrike">
                <a:solidFill>
                  <a:srgbClr val="FF0000"/>
                </a:solidFill>
                <a:effectLst/>
                <a:uFillTx/>
                <a:latin typeface="Calibri"/>
                <a:ea typeface="Calibri"/>
              </a:rPr>
              <a:t>kg – 7 kg = 1 kg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9" name=""/>
          <p:cNvGrpSpPr/>
          <p:nvPr/>
        </p:nvGrpSpPr>
        <p:grpSpPr>
          <a:xfrm>
            <a:off x="3876840" y="5257800"/>
            <a:ext cx="3591000" cy="1143360"/>
            <a:chOff x="3876840" y="5257800"/>
            <a:chExt cx="3591000" cy="1143360"/>
          </a:xfrm>
        </p:grpSpPr>
        <p:sp>
          <p:nvSpPr>
            <p:cNvPr id="60" name=""/>
            <p:cNvSpPr/>
            <p:nvPr/>
          </p:nvSpPr>
          <p:spPr>
            <a:xfrm>
              <a:off x="3876840" y="5257800"/>
              <a:ext cx="3591000" cy="1143360"/>
            </a:xfrm>
            <a:custGeom>
              <a:avLst/>
              <a:gdLst/>
              <a:ahLst/>
              <a:rect l="0" t="0" r="r" b="b"/>
              <a:pathLst>
                <a:path w="9975" h="3176">
                  <a:moveTo>
                    <a:pt x="8387" y="3176"/>
                  </a:moveTo>
                  <a:cubicBezTo>
                    <a:pt x="9446" y="3176"/>
                    <a:pt x="9975" y="2646"/>
                    <a:pt x="9975" y="1587"/>
                  </a:cubicBezTo>
                  <a:lnTo>
                    <a:pt x="9975" y="1587"/>
                  </a:lnTo>
                  <a:cubicBezTo>
                    <a:pt x="9975" y="529"/>
                    <a:pt x="9446" y="0"/>
                    <a:pt x="8387" y="0"/>
                  </a:cubicBezTo>
                  <a:lnTo>
                    <a:pt x="7117" y="0"/>
                  </a:lnTo>
                  <a:cubicBezTo>
                    <a:pt x="6059" y="0"/>
                    <a:pt x="5530" y="529"/>
                    <a:pt x="5530" y="1587"/>
                  </a:cubicBezTo>
                  <a:lnTo>
                    <a:pt x="0" y="2067"/>
                  </a:lnTo>
                  <a:lnTo>
                    <a:pt x="5591" y="2025"/>
                  </a:lnTo>
                  <a:cubicBezTo>
                    <a:pt x="5811" y="2792"/>
                    <a:pt x="6319" y="3176"/>
                    <a:pt x="7117" y="3176"/>
                  </a:cubicBezTo>
                  <a:lnTo>
                    <a:pt x="8387" y="3176"/>
                  </a:lnTo>
                  <a:close/>
                </a:path>
              </a:pathLst>
            </a:custGeom>
            <a:gradFill rotWithShape="0">
              <a:gsLst>
                <a:gs pos="0">
                  <a:srgbClr val="C8B2E9"/>
                </a:gs>
                <a:gs pos="100000">
                  <a:srgbClr val="F0EAF9"/>
                </a:gs>
              </a:gsLst>
              <a:lin ang="16200000"/>
            </a:gradFill>
            <a:ln w="9360">
              <a:solidFill>
                <a:srgbClr val="7C609F"/>
              </a:solidFill>
              <a:round/>
            </a:ln>
          </p:spPr>
          <p:txBody>
            <a:bodyPr lIns="94680" tIns="49680" rIns="94680" bIns="4968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" name=""/>
            <p:cNvSpPr txBox="1"/>
            <p:nvPr/>
          </p:nvSpPr>
          <p:spPr>
            <a:xfrm>
              <a:off x="6152400" y="5429880"/>
              <a:ext cx="1030680" cy="79884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spAutoFit/>
            </a:bodyPr>
            <a:p>
              <a:pPr algn="ctr" rtl="1"/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  <a:ea typeface="Calibri"/>
                </a:rPr>
                <a:t>Much better!....Right</a:t>
              </a: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  <a:ea typeface="Calibri"/>
                </a:rPr>
                <a:t>?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"/>
          <p:cNvSpPr txBox="1"/>
          <p:nvPr/>
        </p:nvSpPr>
        <p:spPr>
          <a:xfrm>
            <a:off x="457200" y="27468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p>
            <a:pPr algn="ctr" rtl="1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Accuracy and Percent Error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457200" y="1344600"/>
            <a:ext cx="8229600" cy="5284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p>
            <a:pPr marL="367920" indent="-367920" rtl="1">
              <a:lnSpc>
                <a:spcPct val="80000"/>
              </a:lnSpc>
              <a:spcBef>
                <a:spcPts val="575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A blue whale has a mass of 180,000 Kg. YOU measured it to be 175,000 Kg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22960" lvl="1" indent="-365760" rtl="1">
              <a:lnSpc>
                <a:spcPct val="80000"/>
              </a:lnSpc>
              <a:spcBef>
                <a:spcPts val="505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What is your error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8000" lvl="2" indent="-363600" rtl="1">
              <a:lnSpc>
                <a:spcPct val="80000"/>
              </a:lnSpc>
              <a:spcBef>
                <a:spcPts val="505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5,000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22960" lvl="1" indent="-365760" rtl="1">
              <a:lnSpc>
                <a:spcPct val="80000"/>
              </a:lnSpc>
              <a:spcBef>
                <a:spcPts val="505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What is your % error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22960" lvl="1" indent="-365760" rtl="1">
              <a:lnSpc>
                <a:spcPct val="80000"/>
              </a:lnSpc>
              <a:spcBef>
                <a:spcPts val="505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7920" indent="-367920" rtl="1">
              <a:lnSpc>
                <a:spcPct val="80000"/>
              </a:lnSpc>
              <a:spcBef>
                <a:spcPts val="575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Your cat has a mass of 8 Kg. YOU measured it to be 7 Kg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.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22960" lvl="1" indent="-365760" rtl="1">
              <a:lnSpc>
                <a:spcPct val="80000"/>
              </a:lnSpc>
              <a:spcBef>
                <a:spcPts val="505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What is your error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8000" lvl="2" indent="-363600" rtl="1">
              <a:lnSpc>
                <a:spcPct val="80000"/>
              </a:lnSpc>
              <a:spcBef>
                <a:spcPts val="431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22960" lvl="1" indent="-365760" rtl="1">
              <a:lnSpc>
                <a:spcPct val="80000"/>
              </a:lnSpc>
              <a:spcBef>
                <a:spcPts val="505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What is your % error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457200" y="6095880"/>
            <a:ext cx="8229600" cy="621000"/>
          </a:xfrm>
          <a:prstGeom prst="rect">
            <a:avLst/>
          </a:prstGeom>
          <a:solidFill>
            <a:srgbClr val="FFFF00"/>
          </a:solidFill>
          <a:ln w="0">
            <a:noFill/>
          </a:ln>
          <a:effectLst>
            <a:outerShdw dist="0" dir="0" rotWithShape="0">
              <a:srgbClr val="000000">
                <a:alpha val="0"/>
              </a:srgbClr>
            </a:outerShdw>
          </a:effectLst>
        </p:spPr>
        <p:txBody>
          <a:bodyPr lIns="90000" tIns="45000" rIns="90000" bIns="45000" anchor="t">
            <a:spAutoFit/>
          </a:bodyPr>
          <a:p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alibri-Bold"/>
                <a:ea typeface="Calibri-Bold"/>
              </a:rPr>
              <a:t>THE CLOSER YOUR PERCENT ERROR IS TO 0, THE MORE ACCURATE YOUR DATA IS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alibri-Bold"/>
                <a:ea typeface="Calibri-Bold"/>
              </a:rPr>
              <a:t>!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LibreOffice/26.2.4.2$Linux_AARCH64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