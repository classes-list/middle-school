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Opening. Every measurement has some error. Today: where error comes from, how to describe it (precision vs. accuracy), and how to report it honestly (percent error).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" name="Google Shape;22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" name="Google Shape;3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why we always repeat and always graph.</a:t>
            </a:r>
            <a:endParaRPr/>
          </a:p>
        </p:txBody>
      </p:sp>
      <p:sp>
        <p:nvSpPr>
          <p:cNvPr id="31" name="Google Shape;3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" name="Google Shape;5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Common mistake: using 'precise' and 'accurate' interchangeably. They're not.</a:t>
            </a:r>
            <a:endParaRPr/>
          </a:p>
        </p:txBody>
      </p:sp>
      <p:sp>
        <p:nvSpPr>
          <p:cNvPr id="128" name="Google Shape;12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7" name="Google Shape;14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6" name="Google Shape;17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Precision isn't just about tools — it's about HOW you use them.</a:t>
            </a:r>
            <a:endParaRPr/>
          </a:p>
        </p:txBody>
      </p:sp>
      <p:sp>
        <p:nvSpPr>
          <p:cNvPr id="177" name="Google Shape;177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3" name="Google Shape;19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Whale is actually MORE ACCURATE than the cat, even though the whale's error looks huge. Percent error lets us compare across scales.</a:t>
            </a:r>
            <a:endParaRPr/>
          </a:p>
        </p:txBody>
      </p:sp>
      <p:sp>
        <p:nvSpPr>
          <p:cNvPr id="224" name="Google Shape;224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9" name="Google Shape;24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6" name="Google Shape;326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raisins lab — a fast way to feel percent error in your hands.</a:t>
            </a:r>
            <a:endParaRPr/>
          </a:p>
        </p:txBody>
      </p:sp>
      <p:sp>
        <p:nvSpPr>
          <p:cNvPr id="327" name="Google Shape;327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1295C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548640" y="2194560"/>
            <a:ext cx="822960" cy="13716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548640" y="242316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107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SCIENCE FOUNDATIONS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548640" y="2834640"/>
            <a:ext cx="109728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Cambria"/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Experimental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0"/>
              <a:buFont typeface="Cambria"/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Error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548640" y="50292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2200"/>
              <a:buFont typeface="Calibri"/>
              <a:buNone/>
            </a:pPr>
            <a:r>
              <a:rPr b="0" i="1" lang="en-US" sz="2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How good is my data?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5A82"/>
        </a:solid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107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PART 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4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Where Does Error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Come From?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4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STATISTICS GETS YOU CLOSER TO THE TRUTH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5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Why We Repeat Experiments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5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5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fmla="val 3333" name="adj"/>
            </a:avLst>
          </a:prstGeom>
          <a:solidFill>
            <a:srgbClr val="F7F9FC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5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5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↕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Some Trials Are High, Some Are Low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5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One measurement is a guess. Repeat it, and some trials come out a bit high, others a bit low.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HIGHS and LOWS cancel each other out when you AVERAGE them — which brings you close to the true value.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fmla="val 3333" name="adj"/>
            </a:avLst>
          </a:prstGeom>
          <a:solidFill>
            <a:srgbClr val="F7F9FC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5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5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~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5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rPr>
              <a:t>The Trendline IS the Average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When you plot your repeated trials on a graph, the trendline shows the average pattern — it's what you'd expect if random error had cancelled itself out.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More trials → tighter average → better estimate of truth.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6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HIGHS CANCEL LOWS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Trendline = Average of the Data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6"/>
          <p:cNvSpPr/>
          <p:nvPr/>
        </p:nvSpPr>
        <p:spPr>
          <a:xfrm>
            <a:off x="2286000" y="5486400"/>
            <a:ext cx="7589520" cy="36576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6"/>
          <p:cNvSpPr/>
          <p:nvPr/>
        </p:nvSpPr>
        <p:spPr>
          <a:xfrm>
            <a:off x="2286000" y="2286000"/>
            <a:ext cx="36576" cy="32004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58" name="Google Shape;58;p6"/>
          <p:cNvCxnSpPr/>
          <p:nvPr/>
        </p:nvCxnSpPr>
        <p:spPr>
          <a:xfrm flipH="1" rot="10800000">
            <a:off x="2331720" y="2743200"/>
            <a:ext cx="7406640" cy="2194560"/>
          </a:xfrm>
          <a:prstGeom prst="straightConnector1">
            <a:avLst/>
          </a:prstGeom>
          <a:noFill/>
          <a:ln cap="flat" cmpd="sng" w="38100">
            <a:solidFill>
              <a:srgbClr val="1C729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9" name="Google Shape;59;p6"/>
          <p:cNvSpPr/>
          <p:nvPr/>
        </p:nvSpPr>
        <p:spPr>
          <a:xfrm>
            <a:off x="2843784" y="4581144"/>
            <a:ext cx="164592" cy="164592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6"/>
          <p:cNvSpPr/>
          <p:nvPr/>
        </p:nvSpPr>
        <p:spPr>
          <a:xfrm>
            <a:off x="3483864" y="4215384"/>
            <a:ext cx="164592" cy="164592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6"/>
          <p:cNvSpPr/>
          <p:nvPr/>
        </p:nvSpPr>
        <p:spPr>
          <a:xfrm>
            <a:off x="4123944" y="4489704"/>
            <a:ext cx="164592" cy="164592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6"/>
          <p:cNvSpPr/>
          <p:nvPr/>
        </p:nvSpPr>
        <p:spPr>
          <a:xfrm>
            <a:off x="4764024" y="3666744"/>
            <a:ext cx="164592" cy="164592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6"/>
          <p:cNvSpPr/>
          <p:nvPr/>
        </p:nvSpPr>
        <p:spPr>
          <a:xfrm>
            <a:off x="5404104" y="4032504"/>
            <a:ext cx="164592" cy="164592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6"/>
          <p:cNvSpPr/>
          <p:nvPr/>
        </p:nvSpPr>
        <p:spPr>
          <a:xfrm>
            <a:off x="6044184" y="3300984"/>
            <a:ext cx="164592" cy="164592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6"/>
          <p:cNvSpPr/>
          <p:nvPr/>
        </p:nvSpPr>
        <p:spPr>
          <a:xfrm>
            <a:off x="6684264" y="3575304"/>
            <a:ext cx="164592" cy="164592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7324344" y="2935224"/>
            <a:ext cx="164592" cy="164592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7964424" y="3118104"/>
            <a:ext cx="164592" cy="164592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/>
          <p:nvPr/>
        </p:nvSpPr>
        <p:spPr>
          <a:xfrm>
            <a:off x="8604504" y="2478024"/>
            <a:ext cx="164592" cy="164592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6"/>
          <p:cNvSpPr/>
          <p:nvPr/>
        </p:nvSpPr>
        <p:spPr>
          <a:xfrm>
            <a:off x="9244584" y="2843784"/>
            <a:ext cx="164592" cy="164592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6"/>
          <p:cNvSpPr/>
          <p:nvPr/>
        </p:nvSpPr>
        <p:spPr>
          <a:xfrm>
            <a:off x="5943600" y="56235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X = the variable you change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/>
          <p:nvPr/>
        </p:nvSpPr>
        <p:spPr>
          <a:xfrm>
            <a:off x="2011680" y="18745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Y = what you measure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6"/>
          <p:cNvSpPr/>
          <p:nvPr/>
        </p:nvSpPr>
        <p:spPr>
          <a:xfrm>
            <a:off x="457200" y="2011680"/>
            <a:ext cx="1737360" cy="3474720"/>
          </a:xfrm>
          <a:prstGeom prst="roundRect">
            <a:avLst>
              <a:gd fmla="val 7895" name="adj"/>
            </a:avLst>
          </a:prstGeom>
          <a:solidFill>
            <a:srgbClr val="F7F9FC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6"/>
          <p:cNvSpPr/>
          <p:nvPr/>
        </p:nvSpPr>
        <p:spPr>
          <a:xfrm>
            <a:off x="822960" y="228600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96167"/>
                </a:solidFill>
                <a:latin typeface="Cambria"/>
                <a:ea typeface="Cambria"/>
                <a:cs typeface="Cambria"/>
                <a:sym typeface="Cambria"/>
              </a:rPr>
              <a:t>TOO HIGH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/>
          <p:nvPr/>
        </p:nvSpPr>
        <p:spPr>
          <a:xfrm>
            <a:off x="822960" y="2788920"/>
            <a:ext cx="100584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Trials above the line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/>
          <p:nvPr/>
        </p:nvSpPr>
        <p:spPr>
          <a:xfrm>
            <a:off x="457200" y="475488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4000"/>
              <a:buFont typeface="Calibri"/>
              <a:buNone/>
            </a:pPr>
            <a:r>
              <a:rPr b="0" i="0" lang="en-US" sz="400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↗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/>
          <p:nvPr/>
        </p:nvSpPr>
        <p:spPr>
          <a:xfrm>
            <a:off x="9966960" y="2011680"/>
            <a:ext cx="1737360" cy="3474720"/>
          </a:xfrm>
          <a:prstGeom prst="roundRect">
            <a:avLst>
              <a:gd fmla="val 7895" name="adj"/>
            </a:avLst>
          </a:prstGeom>
          <a:solidFill>
            <a:srgbClr val="F7F9FC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6"/>
          <p:cNvSpPr/>
          <p:nvPr/>
        </p:nvSpPr>
        <p:spPr>
          <a:xfrm>
            <a:off x="10332720" y="2286000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16A34A"/>
                </a:solidFill>
                <a:latin typeface="Cambria"/>
                <a:ea typeface="Cambria"/>
                <a:cs typeface="Cambria"/>
                <a:sym typeface="Cambria"/>
              </a:rPr>
              <a:t>TOO LOW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10332720" y="2788920"/>
            <a:ext cx="1005840" cy="2240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Trials below the line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9966960" y="475488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6A34A"/>
              </a:buClr>
              <a:buSzPts val="4000"/>
              <a:buFont typeface="Calibri"/>
              <a:buNone/>
            </a:pPr>
            <a:r>
              <a:rPr b="0" i="0" lang="en-US" sz="4000" u="none" cap="none" strike="noStrike">
                <a:solidFill>
                  <a:srgbClr val="16A34A"/>
                </a:solidFill>
                <a:latin typeface="Calibri"/>
                <a:ea typeface="Calibri"/>
                <a:cs typeface="Calibri"/>
                <a:sym typeface="Calibri"/>
              </a:rPr>
              <a:t>↘</a:t>
            </a:r>
            <a:endParaRPr b="0" i="0" sz="4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7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WHERE EVERY MISTAKE COMES FROM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The Five Sources of Error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7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7"/>
          <p:cNvSpPr/>
          <p:nvPr/>
        </p:nvSpPr>
        <p:spPr>
          <a:xfrm>
            <a:off x="548640" y="2011680"/>
            <a:ext cx="3657600" cy="2011680"/>
          </a:xfrm>
          <a:prstGeom prst="roundRect">
            <a:avLst>
              <a:gd fmla="val 5455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7"/>
          <p:cNvSpPr/>
          <p:nvPr/>
        </p:nvSpPr>
        <p:spPr>
          <a:xfrm>
            <a:off x="731520" y="224028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7"/>
          <p:cNvSpPr/>
          <p:nvPr/>
        </p:nvSpPr>
        <p:spPr>
          <a:xfrm>
            <a:off x="731520" y="22402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7"/>
          <p:cNvSpPr/>
          <p:nvPr/>
        </p:nvSpPr>
        <p:spPr>
          <a:xfrm>
            <a:off x="1554480" y="233172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YOU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/>
          <p:nvPr/>
        </p:nvSpPr>
        <p:spPr>
          <a:xfrm>
            <a:off x="1554480" y="2880360"/>
            <a:ext cx="24688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Reaction time, eyesight, technique, mood.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/>
          <p:nvPr/>
        </p:nvSpPr>
        <p:spPr>
          <a:xfrm>
            <a:off x="4389120" y="2011680"/>
            <a:ext cx="3657600" cy="2011680"/>
          </a:xfrm>
          <a:prstGeom prst="roundRect">
            <a:avLst>
              <a:gd fmla="val 5455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7"/>
          <p:cNvSpPr/>
          <p:nvPr/>
        </p:nvSpPr>
        <p:spPr>
          <a:xfrm>
            <a:off x="4572000" y="224028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7"/>
          <p:cNvSpPr/>
          <p:nvPr/>
        </p:nvSpPr>
        <p:spPr>
          <a:xfrm>
            <a:off x="4572000" y="22402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5394960" y="233172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Your Tools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5394960" y="2880360"/>
            <a:ext cx="24688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Every ruler, scale, or timer has a limit.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8229600" y="2011680"/>
            <a:ext cx="3657600" cy="2011680"/>
          </a:xfrm>
          <a:prstGeom prst="roundRect">
            <a:avLst>
              <a:gd fmla="val 5455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7"/>
          <p:cNvSpPr/>
          <p:nvPr/>
        </p:nvSpPr>
        <p:spPr>
          <a:xfrm>
            <a:off x="8412480" y="224028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7"/>
          <p:cNvSpPr/>
          <p:nvPr/>
        </p:nvSpPr>
        <p:spPr>
          <a:xfrm>
            <a:off x="8412480" y="224028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/>
          <p:nvPr/>
        </p:nvSpPr>
        <p:spPr>
          <a:xfrm>
            <a:off x="9235440" y="233172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Manipulation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9235440" y="2880360"/>
            <a:ext cx="24688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Nudging or moving the setup while measuring.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2468880" y="4206240"/>
            <a:ext cx="3657600" cy="2011680"/>
          </a:xfrm>
          <a:prstGeom prst="roundRect">
            <a:avLst>
              <a:gd fmla="val 5455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7"/>
          <p:cNvSpPr/>
          <p:nvPr/>
        </p:nvSpPr>
        <p:spPr>
          <a:xfrm>
            <a:off x="2651760" y="443484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7"/>
          <p:cNvSpPr/>
          <p:nvPr/>
        </p:nvSpPr>
        <p:spPr>
          <a:xfrm>
            <a:off x="2651760" y="44348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7"/>
          <p:cNvSpPr/>
          <p:nvPr/>
        </p:nvSpPr>
        <p:spPr>
          <a:xfrm>
            <a:off x="3474720" y="452628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External influences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3474720" y="5074920"/>
            <a:ext cx="24688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A/C, drafts, vibrations, temperature drift.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6309360" y="4206240"/>
            <a:ext cx="3657600" cy="2011680"/>
          </a:xfrm>
          <a:prstGeom prst="roundRect">
            <a:avLst>
              <a:gd fmla="val 5455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7"/>
          <p:cNvSpPr/>
          <p:nvPr/>
        </p:nvSpPr>
        <p:spPr>
          <a:xfrm>
            <a:off x="6492240" y="443484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7"/>
          <p:cNvSpPr/>
          <p:nvPr/>
        </p:nvSpPr>
        <p:spPr>
          <a:xfrm>
            <a:off x="6492240" y="44348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5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7315200" y="4526280"/>
            <a:ext cx="24688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Experimental design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/>
          <p:nvPr/>
        </p:nvSpPr>
        <p:spPr>
          <a:xfrm>
            <a:off x="7315200" y="5074920"/>
            <a:ext cx="24688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Poor controls or too many variables changing.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7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5A8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8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107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PART 2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8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Precision vs. Accuracy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8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9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THEY MEAN VERY DIFFERENT THINGS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9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Two Words That Sound Alike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9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9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fmla="val 3333" name="adj"/>
            </a:avLst>
          </a:prstGeom>
          <a:solidFill>
            <a:srgbClr val="F7F9FC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9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9"/>
          <p:cNvSpPr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9"/>
          <p:cNvSpPr/>
          <p:nvPr/>
        </p:nvSpPr>
        <p:spPr>
          <a:xfrm>
            <a:off x="1645920" y="22860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PRECISION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9"/>
          <p:cNvSpPr/>
          <p:nvPr/>
        </p:nvSpPr>
        <p:spPr>
          <a:xfrm>
            <a:off x="914400" y="3017520"/>
            <a:ext cx="4754880" cy="2880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How close your repeated measurements are to EACH OTHER.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Repeatability.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You can spot precision problems DURING the experiment — if one trial is way off, just repeat it.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9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fmla="val 3333" name="adj"/>
            </a:avLst>
          </a:prstGeom>
          <a:solidFill>
            <a:srgbClr val="F7F9FC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9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9"/>
          <p:cNvSpPr/>
          <p:nvPr/>
        </p:nvSpPr>
        <p:spPr>
          <a:xfrm>
            <a:off x="6492240" y="228600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A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9"/>
          <p:cNvSpPr/>
          <p:nvPr/>
        </p:nvSpPr>
        <p:spPr>
          <a:xfrm>
            <a:off x="7315200" y="228600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rPr>
              <a:t>ACCURACY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9"/>
          <p:cNvSpPr/>
          <p:nvPr/>
        </p:nvSpPr>
        <p:spPr>
          <a:xfrm>
            <a:off x="6583680" y="3017520"/>
            <a:ext cx="4754880" cy="28803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How close your data is to the EXPECTED (true) value.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Hit the target.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You can only calculate accuracy AFTER the experiment — using percent error.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9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9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WATCH DATA AS IT COMES IN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0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Precision — Spot the Outlier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0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0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Time for a runner to finish a race (seconds):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0"/>
          <p:cNvSpPr/>
          <p:nvPr/>
        </p:nvSpPr>
        <p:spPr>
          <a:xfrm>
            <a:off x="548640" y="2560320"/>
            <a:ext cx="2743200" cy="2468880"/>
          </a:xfrm>
          <a:prstGeom prst="roundRect">
            <a:avLst>
              <a:gd fmla="val 5556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"/>
          <p:cNvSpPr/>
          <p:nvPr/>
        </p:nvSpPr>
        <p:spPr>
          <a:xfrm>
            <a:off x="548640" y="274320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TRIAL 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0"/>
          <p:cNvSpPr/>
          <p:nvPr/>
        </p:nvSpPr>
        <p:spPr>
          <a:xfrm>
            <a:off x="548640" y="3200400"/>
            <a:ext cx="2743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4800"/>
              <a:buFont typeface="Cambria"/>
              <a:buNone/>
            </a:pPr>
            <a:r>
              <a:rPr b="1" i="0" lang="en-US" sz="4800" u="none" cap="none" strike="noStrike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12 s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0"/>
          <p:cNvSpPr/>
          <p:nvPr/>
        </p:nvSpPr>
        <p:spPr>
          <a:xfrm>
            <a:off x="548640" y="46177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consistent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10"/>
          <p:cNvSpPr/>
          <p:nvPr/>
        </p:nvSpPr>
        <p:spPr>
          <a:xfrm>
            <a:off x="3429000" y="2560320"/>
            <a:ext cx="2743200" cy="2468880"/>
          </a:xfrm>
          <a:prstGeom prst="roundRect">
            <a:avLst>
              <a:gd fmla="val 5556" name="adj"/>
            </a:avLst>
          </a:prstGeom>
          <a:solidFill>
            <a:srgbClr val="FEE2E2"/>
          </a:solidFill>
          <a:ln cap="flat" cmpd="sng" w="254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"/>
          <p:cNvSpPr/>
          <p:nvPr/>
        </p:nvSpPr>
        <p:spPr>
          <a:xfrm>
            <a:off x="3429000" y="274320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TRIAL 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10"/>
          <p:cNvSpPr/>
          <p:nvPr/>
        </p:nvSpPr>
        <p:spPr>
          <a:xfrm>
            <a:off x="3429000" y="3200400"/>
            <a:ext cx="2743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4800"/>
              <a:buFont typeface="Cambria"/>
              <a:buNone/>
            </a:pPr>
            <a:r>
              <a:rPr b="1" i="0" lang="en-US" sz="4800" u="none" cap="none" strike="noStrike">
                <a:solidFill>
                  <a:srgbClr val="F96167"/>
                </a:solidFill>
                <a:latin typeface="Cambria"/>
                <a:ea typeface="Cambria"/>
                <a:cs typeface="Cambria"/>
                <a:sym typeface="Cambria"/>
              </a:rPr>
              <a:t>27 s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0"/>
          <p:cNvSpPr/>
          <p:nvPr/>
        </p:nvSpPr>
        <p:spPr>
          <a:xfrm>
            <a:off x="3429000" y="46177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F96167"/>
                </a:solidFill>
                <a:latin typeface="Calibri"/>
                <a:ea typeface="Calibri"/>
                <a:cs typeface="Calibri"/>
                <a:sym typeface="Calibri"/>
              </a:rPr>
              <a:t>OUTLIER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0"/>
          <p:cNvSpPr/>
          <p:nvPr/>
        </p:nvSpPr>
        <p:spPr>
          <a:xfrm>
            <a:off x="6309360" y="2560320"/>
            <a:ext cx="2743200" cy="2468880"/>
          </a:xfrm>
          <a:prstGeom prst="roundRect">
            <a:avLst>
              <a:gd fmla="val 5556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10"/>
          <p:cNvSpPr/>
          <p:nvPr/>
        </p:nvSpPr>
        <p:spPr>
          <a:xfrm>
            <a:off x="6309360" y="274320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TRIAL 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0"/>
          <p:cNvSpPr/>
          <p:nvPr/>
        </p:nvSpPr>
        <p:spPr>
          <a:xfrm>
            <a:off x="6309360" y="3200400"/>
            <a:ext cx="2743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4800"/>
              <a:buFont typeface="Cambria"/>
              <a:buNone/>
            </a:pPr>
            <a:r>
              <a:rPr b="1" i="0" lang="en-US" sz="4800" u="none" cap="none" strike="noStrike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13 s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0"/>
          <p:cNvSpPr/>
          <p:nvPr/>
        </p:nvSpPr>
        <p:spPr>
          <a:xfrm>
            <a:off x="6309360" y="46177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consistent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0"/>
          <p:cNvSpPr/>
          <p:nvPr/>
        </p:nvSpPr>
        <p:spPr>
          <a:xfrm>
            <a:off x="9189720" y="2560320"/>
            <a:ext cx="2743200" cy="2468880"/>
          </a:xfrm>
          <a:prstGeom prst="roundRect">
            <a:avLst>
              <a:gd fmla="val 5556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0"/>
          <p:cNvSpPr/>
          <p:nvPr/>
        </p:nvSpPr>
        <p:spPr>
          <a:xfrm>
            <a:off x="9189720" y="274320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TRIAL 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9189720" y="3200400"/>
            <a:ext cx="27432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4800"/>
              <a:buFont typeface="Cambria"/>
              <a:buNone/>
            </a:pPr>
            <a:r>
              <a:rPr b="1" i="0" lang="en-US" sz="4800" u="none" cap="none" strike="noStrike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11 s</a:t>
            </a:r>
            <a:endParaRPr b="0" i="0" sz="4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0"/>
          <p:cNvSpPr/>
          <p:nvPr/>
        </p:nvSpPr>
        <p:spPr>
          <a:xfrm>
            <a:off x="9189720" y="46177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consistent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fmla="val 12000" name="adj"/>
            </a:avLst>
          </a:prstGeom>
          <a:solidFill>
            <a:srgbClr val="FFF8E1"/>
          </a:solidFill>
          <a:ln cap="flat" cmpd="sng" w="25400">
            <a:solidFill>
              <a:srgbClr val="FFC10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0"/>
          <p:cNvSpPr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60B"/>
              </a:buClr>
              <a:buSzPts val="1600"/>
              <a:buFont typeface="Cambria"/>
              <a:buNone/>
            </a:pPr>
            <a:r>
              <a:rPr b="1" i="1" lang="en-US" sz="1600" u="none" cap="none" strike="noStrike">
                <a:solidFill>
                  <a:srgbClr val="B8860B"/>
                </a:solidFill>
                <a:latin typeface="Cambria"/>
                <a:ea typeface="Cambria"/>
                <a:cs typeface="Cambria"/>
                <a:sym typeface="Cambria"/>
              </a:rPr>
              <a:t>The 27 s is obviously wrong. Repeat that trial — don't average bad data in.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0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0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1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SAME TOOL, BETTER RESULT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1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Technique Matters Too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1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1"/>
          <p:cNvSpPr/>
          <p:nvPr/>
        </p:nvSpPr>
        <p:spPr>
          <a:xfrm>
            <a:off x="548640" y="1828800"/>
            <a:ext cx="11064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Measuring room length with meter sticks — which is more precise?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1"/>
          <p:cNvSpPr/>
          <p:nvPr/>
        </p:nvSpPr>
        <p:spPr>
          <a:xfrm>
            <a:off x="548640" y="2468880"/>
            <a:ext cx="5486400" cy="3657600"/>
          </a:xfrm>
          <a:prstGeom prst="roundRect">
            <a:avLst>
              <a:gd fmla="val 3750" name="adj"/>
            </a:avLst>
          </a:prstGeom>
          <a:solidFill>
            <a:srgbClr val="FEE2E2"/>
          </a:solidFill>
          <a:ln cap="flat" cmpd="sng" w="25400">
            <a:solidFill>
              <a:srgbClr val="F9616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1"/>
          <p:cNvSpPr/>
          <p:nvPr/>
        </p:nvSpPr>
        <p:spPr>
          <a:xfrm>
            <a:off x="548640" y="2651760"/>
            <a:ext cx="5486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96167"/>
                </a:solidFill>
                <a:latin typeface="Cambria"/>
                <a:ea typeface="Cambria"/>
                <a:cs typeface="Cambria"/>
                <a:sym typeface="Cambria"/>
              </a:rPr>
              <a:t>✗   Sticks END-to-END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6167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96167"/>
                </a:solidFill>
                <a:latin typeface="Cambria"/>
                <a:ea typeface="Cambria"/>
                <a:cs typeface="Cambria"/>
                <a:sym typeface="Cambria"/>
              </a:rPr>
              <a:t>IN THE AIR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1"/>
          <p:cNvSpPr/>
          <p:nvPr/>
        </p:nvSpPr>
        <p:spPr>
          <a:xfrm>
            <a:off x="548640" y="3931920"/>
            <a:ext cx="548640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Wobble. Shake. Gaps. Bad joints.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Small errors on every seam add up.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1"/>
          <p:cNvSpPr/>
          <p:nvPr/>
        </p:nvSpPr>
        <p:spPr>
          <a:xfrm>
            <a:off x="6217920" y="2468880"/>
            <a:ext cx="5486400" cy="3657600"/>
          </a:xfrm>
          <a:prstGeom prst="roundRect">
            <a:avLst>
              <a:gd fmla="val 3750" name="adj"/>
            </a:avLst>
          </a:prstGeom>
          <a:solidFill>
            <a:srgbClr val="DCFCE7"/>
          </a:solidFill>
          <a:ln cap="flat" cmpd="sng" w="254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1"/>
          <p:cNvSpPr/>
          <p:nvPr/>
        </p:nvSpPr>
        <p:spPr>
          <a:xfrm>
            <a:off x="6217920" y="2651760"/>
            <a:ext cx="5486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532D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14532D"/>
                </a:solidFill>
                <a:latin typeface="Cambria"/>
                <a:ea typeface="Cambria"/>
                <a:cs typeface="Cambria"/>
                <a:sym typeface="Cambria"/>
              </a:rPr>
              <a:t>✓   Sticks END-to-END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532D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14532D"/>
                </a:solidFill>
                <a:latin typeface="Cambria"/>
                <a:ea typeface="Cambria"/>
                <a:cs typeface="Cambria"/>
                <a:sym typeface="Cambria"/>
              </a:rPr>
              <a:t>ON THE FLOOR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1"/>
          <p:cNvSpPr/>
          <p:nvPr/>
        </p:nvSpPr>
        <p:spPr>
          <a:xfrm>
            <a:off x="6217920" y="3931920"/>
            <a:ext cx="548640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Sticks stay flat. Seams are tight.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Repeatable — much more precise.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1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1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65A82"/>
        </a:solid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2"/>
          <p:cNvSpPr/>
          <p:nvPr/>
        </p:nvSpPr>
        <p:spPr>
          <a:xfrm>
            <a:off x="548640" y="228600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107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PART 3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2"/>
          <p:cNvSpPr/>
          <p:nvPr/>
        </p:nvSpPr>
        <p:spPr>
          <a:xfrm>
            <a:off x="548640" y="2743200"/>
            <a:ext cx="109728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Error &amp;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Cambria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Percent Error</a:t>
            </a:r>
            <a:endParaRPr b="0" i="0" sz="4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2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3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|ACCEPTED − EXPERIMENTAL|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3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The Error Formula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3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3"/>
          <p:cNvSpPr/>
          <p:nvPr/>
        </p:nvSpPr>
        <p:spPr>
          <a:xfrm>
            <a:off x="548640" y="2011680"/>
            <a:ext cx="11064240" cy="1463040"/>
          </a:xfrm>
          <a:prstGeom prst="roundRect">
            <a:avLst>
              <a:gd fmla="val 9375" name="adj"/>
            </a:avLst>
          </a:prstGeom>
          <a:solidFill>
            <a:srgbClr val="2129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3"/>
          <p:cNvSpPr/>
          <p:nvPr/>
        </p:nvSpPr>
        <p:spPr>
          <a:xfrm>
            <a:off x="548640" y="2011680"/>
            <a:ext cx="110642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Error  =  | accepted − experimental |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3"/>
          <p:cNvSpPr/>
          <p:nvPr/>
        </p:nvSpPr>
        <p:spPr>
          <a:xfrm>
            <a:off x="548640" y="3749040"/>
            <a:ext cx="5486400" cy="2468880"/>
          </a:xfrm>
          <a:prstGeom prst="roundRect">
            <a:avLst>
              <a:gd fmla="val 5556" name="adj"/>
            </a:avLst>
          </a:prstGeom>
          <a:solidFill>
            <a:srgbClr val="F7F9FC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13"/>
          <p:cNvSpPr/>
          <p:nvPr/>
        </p:nvSpPr>
        <p:spPr>
          <a:xfrm>
            <a:off x="822960" y="4023360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3"/>
          <p:cNvSpPr/>
          <p:nvPr/>
        </p:nvSpPr>
        <p:spPr>
          <a:xfrm>
            <a:off x="822960" y="402336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|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3"/>
          <p:cNvSpPr/>
          <p:nvPr/>
        </p:nvSpPr>
        <p:spPr>
          <a:xfrm>
            <a:off x="1645920" y="402336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Why Absolute Value?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3"/>
          <p:cNvSpPr/>
          <p:nvPr/>
        </p:nvSpPr>
        <p:spPr>
          <a:xfrm>
            <a:off x="914400" y="4754880"/>
            <a:ext cx="47548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vertical bars | | make the result POSITIVE, whether you measured too high or too low.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Error just tells us HOW FAR OFF — never a negative distance.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3"/>
          <p:cNvSpPr/>
          <p:nvPr/>
        </p:nvSpPr>
        <p:spPr>
          <a:xfrm>
            <a:off x="6217920" y="3749040"/>
            <a:ext cx="5486400" cy="2468880"/>
          </a:xfrm>
          <a:prstGeom prst="roundRect">
            <a:avLst>
              <a:gd fmla="val 5556" name="adj"/>
            </a:avLst>
          </a:prstGeom>
          <a:solidFill>
            <a:srgbClr val="F7F9FC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3"/>
          <p:cNvSpPr/>
          <p:nvPr/>
        </p:nvSpPr>
        <p:spPr>
          <a:xfrm>
            <a:off x="6492240" y="402336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3"/>
          <p:cNvSpPr/>
          <p:nvPr/>
        </p:nvSpPr>
        <p:spPr>
          <a:xfrm>
            <a:off x="6492240" y="402336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kg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3"/>
          <p:cNvSpPr/>
          <p:nvPr/>
        </p:nvSpPr>
        <p:spPr>
          <a:xfrm>
            <a:off x="7315200" y="402336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1C7293"/>
                </a:solidFill>
                <a:latin typeface="Cambria"/>
                <a:ea typeface="Cambria"/>
                <a:cs typeface="Cambria"/>
                <a:sym typeface="Cambria"/>
              </a:rPr>
              <a:t>Same Units As Original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3"/>
          <p:cNvSpPr/>
          <p:nvPr/>
        </p:nvSpPr>
        <p:spPr>
          <a:xfrm>
            <a:off x="6583680" y="4754880"/>
            <a:ext cx="47548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Error is in the SAME units as your measurement.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Measured 175,000 kg vs. accepted 180,000 kg → Error = 5,000 kg.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3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3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4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THE WHALE-AND-CAT PROBLEM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4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Why Isn't Error Enough?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4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4"/>
          <p:cNvSpPr/>
          <p:nvPr/>
        </p:nvSpPr>
        <p:spPr>
          <a:xfrm>
            <a:off x="548640" y="2011680"/>
            <a:ext cx="5486400" cy="4114800"/>
          </a:xfrm>
          <a:prstGeom prst="roundRect">
            <a:avLst>
              <a:gd fmla="val 3333" name="adj"/>
            </a:avLst>
          </a:prstGeom>
          <a:solidFill>
            <a:srgbClr val="065A8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4"/>
          <p:cNvSpPr/>
          <p:nvPr/>
        </p:nvSpPr>
        <p:spPr>
          <a:xfrm>
            <a:off x="548640" y="219456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🐋  A Blue Whale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4"/>
          <p:cNvSpPr/>
          <p:nvPr/>
        </p:nvSpPr>
        <p:spPr>
          <a:xfrm>
            <a:off x="548640" y="27889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Accepted mass: 180,000 kg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4"/>
          <p:cNvSpPr/>
          <p:nvPr/>
        </p:nvSpPr>
        <p:spPr>
          <a:xfrm>
            <a:off x="548640" y="31546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You measure: 175,000 kg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4"/>
          <p:cNvSpPr/>
          <p:nvPr/>
        </p:nvSpPr>
        <p:spPr>
          <a:xfrm>
            <a:off x="548640" y="365760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C107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FFC107"/>
                </a:solidFill>
                <a:latin typeface="Cambria"/>
                <a:ea typeface="Cambria"/>
                <a:cs typeface="Cambria"/>
                <a:sym typeface="Cambria"/>
              </a:rPr>
              <a:t>Error = 5,000 kg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4"/>
          <p:cNvSpPr/>
          <p:nvPr/>
        </p:nvSpPr>
        <p:spPr>
          <a:xfrm>
            <a:off x="548640" y="42976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SOUNDS HUGE!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4"/>
          <p:cNvSpPr/>
          <p:nvPr/>
        </p:nvSpPr>
        <p:spPr>
          <a:xfrm>
            <a:off x="1280160" y="5029200"/>
            <a:ext cx="4023360" cy="822960"/>
          </a:xfrm>
          <a:prstGeom prst="roundRect">
            <a:avLst>
              <a:gd fmla="val 11111" name="adj"/>
            </a:avLst>
          </a:prstGeom>
          <a:solidFill>
            <a:srgbClr val="16A34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4"/>
          <p:cNvSpPr/>
          <p:nvPr/>
        </p:nvSpPr>
        <p:spPr>
          <a:xfrm>
            <a:off x="1280160" y="5029200"/>
            <a:ext cx="4023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% Error = 2.8%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4"/>
          <p:cNvSpPr/>
          <p:nvPr/>
        </p:nvSpPr>
        <p:spPr>
          <a:xfrm>
            <a:off x="6217920" y="2011680"/>
            <a:ext cx="5486400" cy="4114800"/>
          </a:xfrm>
          <a:prstGeom prst="roundRect">
            <a:avLst>
              <a:gd fmla="val 3333" name="adj"/>
            </a:avLst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4"/>
          <p:cNvSpPr/>
          <p:nvPr/>
        </p:nvSpPr>
        <p:spPr>
          <a:xfrm>
            <a:off x="6217920" y="219456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mbria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🐈  A House Cat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4"/>
          <p:cNvSpPr/>
          <p:nvPr/>
        </p:nvSpPr>
        <p:spPr>
          <a:xfrm>
            <a:off x="6217920" y="27889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0F2FE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E0F2FE"/>
                </a:solidFill>
                <a:latin typeface="Calibri"/>
                <a:ea typeface="Calibri"/>
                <a:cs typeface="Calibri"/>
                <a:sym typeface="Calibri"/>
              </a:rPr>
              <a:t>Accepted mass: 8 kg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4"/>
          <p:cNvSpPr/>
          <p:nvPr/>
        </p:nvSpPr>
        <p:spPr>
          <a:xfrm>
            <a:off x="6217920" y="31546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0F2FE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E0F2FE"/>
                </a:solidFill>
                <a:latin typeface="Calibri"/>
                <a:ea typeface="Calibri"/>
                <a:cs typeface="Calibri"/>
                <a:sym typeface="Calibri"/>
              </a:rPr>
              <a:t>You measure: 7 kg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4"/>
          <p:cNvSpPr/>
          <p:nvPr/>
        </p:nvSpPr>
        <p:spPr>
          <a:xfrm>
            <a:off x="6217920" y="365760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C107"/>
              </a:buClr>
              <a:buSzPts val="2400"/>
              <a:buFont typeface="Cambria"/>
              <a:buNone/>
            </a:pPr>
            <a:r>
              <a:rPr b="1" i="0" lang="en-US" sz="2400" u="none" cap="none" strike="noStrike">
                <a:solidFill>
                  <a:srgbClr val="FFC107"/>
                </a:solidFill>
                <a:latin typeface="Cambria"/>
                <a:ea typeface="Cambria"/>
                <a:cs typeface="Cambria"/>
                <a:sym typeface="Cambria"/>
              </a:rPr>
              <a:t>Error = 1 kg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4"/>
          <p:cNvSpPr/>
          <p:nvPr/>
        </p:nvSpPr>
        <p:spPr>
          <a:xfrm>
            <a:off x="6217920" y="42976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SOUNDS TINY!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14"/>
          <p:cNvSpPr/>
          <p:nvPr/>
        </p:nvSpPr>
        <p:spPr>
          <a:xfrm>
            <a:off x="6949440" y="5029200"/>
            <a:ext cx="4023360" cy="822960"/>
          </a:xfrm>
          <a:prstGeom prst="roundRect">
            <a:avLst>
              <a:gd fmla="val 11111" name="adj"/>
            </a:avLst>
          </a:prstGeom>
          <a:solidFill>
            <a:srgbClr val="F9616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4"/>
          <p:cNvSpPr/>
          <p:nvPr/>
        </p:nvSpPr>
        <p:spPr>
          <a:xfrm>
            <a:off x="6949440" y="5029200"/>
            <a:ext cx="40233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mbria"/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% Error = 12.5%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4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4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5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HOW TO COMPARE ERRORS FAIRLY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5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The Percent Error Formula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5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5"/>
          <p:cNvSpPr/>
          <p:nvPr/>
        </p:nvSpPr>
        <p:spPr>
          <a:xfrm>
            <a:off x="548640" y="2011680"/>
            <a:ext cx="11064240" cy="1737360"/>
          </a:xfrm>
          <a:prstGeom prst="roundRect">
            <a:avLst>
              <a:gd fmla="val 7895" name="adj"/>
            </a:avLst>
          </a:prstGeom>
          <a:solidFill>
            <a:srgbClr val="2129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5"/>
          <p:cNvSpPr/>
          <p:nvPr/>
        </p:nvSpPr>
        <p:spPr>
          <a:xfrm>
            <a:off x="548640" y="2011680"/>
            <a:ext cx="1106424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% Error  =  ( Error ÷ Accepted ) × 100%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5"/>
          <p:cNvSpPr/>
          <p:nvPr/>
        </p:nvSpPr>
        <p:spPr>
          <a:xfrm>
            <a:off x="548640" y="4023360"/>
            <a:ext cx="11064240" cy="2103120"/>
          </a:xfrm>
          <a:prstGeom prst="roundRect">
            <a:avLst>
              <a:gd fmla="val 6522" name="adj"/>
            </a:avLst>
          </a:prstGeom>
          <a:solidFill>
            <a:srgbClr val="DCFCE7"/>
          </a:solidFill>
          <a:ln cap="flat" cmpd="sng" w="254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5"/>
          <p:cNvSpPr/>
          <p:nvPr/>
        </p:nvSpPr>
        <p:spPr>
          <a:xfrm>
            <a:off x="548640" y="4023360"/>
            <a:ext cx="1106424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532D"/>
              </a:buClr>
              <a:buSzPts val="2400"/>
              <a:buFont typeface="Cambria"/>
              <a:buNone/>
            </a:pPr>
            <a:r>
              <a:rPr b="1" i="1" lang="en-US" sz="2400" u="none" cap="none" strike="noStrike">
                <a:solidFill>
                  <a:srgbClr val="14532D"/>
                </a:solidFill>
                <a:latin typeface="Cambria"/>
                <a:ea typeface="Cambria"/>
                <a:cs typeface="Cambria"/>
                <a:sym typeface="Cambria"/>
              </a:rPr>
              <a:t>The closer your percent error is to 0,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532D"/>
              </a:buClr>
              <a:buSzPts val="2400"/>
              <a:buFont typeface="Cambria"/>
              <a:buNone/>
            </a:pPr>
            <a:r>
              <a:rPr b="1" i="1" lang="en-US" sz="2400" u="none" cap="none" strike="noStrike">
                <a:solidFill>
                  <a:srgbClr val="14532D"/>
                </a:solidFill>
                <a:latin typeface="Cambria"/>
                <a:ea typeface="Cambria"/>
                <a:cs typeface="Cambria"/>
                <a:sym typeface="Cambria"/>
              </a:rPr>
              <a:t>the more ACCURATE your data.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15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15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6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THEY ALL MEAN THE SAME THING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6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You'll See This Formula In Different Ways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6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6"/>
          <p:cNvSpPr/>
          <p:nvPr/>
        </p:nvSpPr>
        <p:spPr>
          <a:xfrm>
            <a:off x="548640" y="2194560"/>
            <a:ext cx="3657600" cy="3840480"/>
          </a:xfrm>
          <a:prstGeom prst="roundRect">
            <a:avLst>
              <a:gd fmla="val 3750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6"/>
          <p:cNvSpPr/>
          <p:nvPr/>
        </p:nvSpPr>
        <p:spPr>
          <a:xfrm>
            <a:off x="548640" y="23774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MOST TEXTBOOKS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6"/>
          <p:cNvSpPr/>
          <p:nvPr/>
        </p:nvSpPr>
        <p:spPr>
          <a:xfrm>
            <a:off x="548640" y="310896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| accepted − experimental |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6"/>
          <p:cNvSpPr/>
          <p:nvPr/>
        </p:nvSpPr>
        <p:spPr>
          <a:xfrm>
            <a:off x="1097280" y="3794760"/>
            <a:ext cx="2560320" cy="36576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6"/>
          <p:cNvSpPr/>
          <p:nvPr/>
        </p:nvSpPr>
        <p:spPr>
          <a:xfrm>
            <a:off x="548640" y="388620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accepted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6"/>
          <p:cNvSpPr/>
          <p:nvPr/>
        </p:nvSpPr>
        <p:spPr>
          <a:xfrm>
            <a:off x="548640" y="466344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60B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B8860B"/>
                </a:solidFill>
                <a:latin typeface="Cambria"/>
                <a:ea typeface="Cambria"/>
                <a:cs typeface="Cambria"/>
                <a:sym typeface="Cambria"/>
              </a:rPr>
              <a:t>× 100%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6"/>
          <p:cNvSpPr/>
          <p:nvPr/>
        </p:nvSpPr>
        <p:spPr>
          <a:xfrm>
            <a:off x="731520" y="525780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Result: no units,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just add a 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6"/>
          <p:cNvSpPr/>
          <p:nvPr/>
        </p:nvSpPr>
        <p:spPr>
          <a:xfrm>
            <a:off x="4389120" y="2194560"/>
            <a:ext cx="3657600" cy="3840480"/>
          </a:xfrm>
          <a:prstGeom prst="roundRect">
            <a:avLst>
              <a:gd fmla="val 3750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6"/>
          <p:cNvSpPr/>
          <p:nvPr/>
        </p:nvSpPr>
        <p:spPr>
          <a:xfrm>
            <a:off x="4389120" y="23774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SCIENCE JOURNALS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6"/>
          <p:cNvSpPr/>
          <p:nvPr/>
        </p:nvSpPr>
        <p:spPr>
          <a:xfrm>
            <a:off x="4389120" y="310896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| observed − true |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6"/>
          <p:cNvSpPr/>
          <p:nvPr/>
        </p:nvSpPr>
        <p:spPr>
          <a:xfrm>
            <a:off x="4937760" y="3794760"/>
            <a:ext cx="2560320" cy="36576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6"/>
          <p:cNvSpPr/>
          <p:nvPr/>
        </p:nvSpPr>
        <p:spPr>
          <a:xfrm>
            <a:off x="4389120" y="388620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true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6"/>
          <p:cNvSpPr/>
          <p:nvPr/>
        </p:nvSpPr>
        <p:spPr>
          <a:xfrm>
            <a:off x="4389120" y="466344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60B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B8860B"/>
                </a:solidFill>
                <a:latin typeface="Cambria"/>
                <a:ea typeface="Cambria"/>
                <a:cs typeface="Cambria"/>
                <a:sym typeface="Cambria"/>
              </a:rPr>
              <a:t>× 100%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6"/>
          <p:cNvSpPr/>
          <p:nvPr/>
        </p:nvSpPr>
        <p:spPr>
          <a:xfrm>
            <a:off x="4572000" y="525780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Result: no units,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just add a 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6"/>
          <p:cNvSpPr/>
          <p:nvPr/>
        </p:nvSpPr>
        <p:spPr>
          <a:xfrm>
            <a:off x="8229600" y="2194560"/>
            <a:ext cx="3657600" cy="3840480"/>
          </a:xfrm>
          <a:prstGeom prst="roundRect">
            <a:avLst>
              <a:gd fmla="val 3750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6"/>
          <p:cNvSpPr/>
          <p:nvPr/>
        </p:nvSpPr>
        <p:spPr>
          <a:xfrm>
            <a:off x="8229600" y="23774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LAB REPORTS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6"/>
          <p:cNvSpPr/>
          <p:nvPr/>
        </p:nvSpPr>
        <p:spPr>
          <a:xfrm>
            <a:off x="8229600" y="310896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Cambria"/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| measured − actual |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6"/>
          <p:cNvSpPr/>
          <p:nvPr/>
        </p:nvSpPr>
        <p:spPr>
          <a:xfrm>
            <a:off x="8778240" y="3794760"/>
            <a:ext cx="2560320" cy="36576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6"/>
          <p:cNvSpPr/>
          <p:nvPr/>
        </p:nvSpPr>
        <p:spPr>
          <a:xfrm>
            <a:off x="8229600" y="388620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600"/>
              <a:buFont typeface="Cambria"/>
              <a:buNone/>
            </a:pPr>
            <a:r>
              <a:rPr b="1" i="0" lang="en-US" sz="1600" u="none" cap="none" strike="noStrike">
                <a:solidFill>
                  <a:srgbClr val="1F2937"/>
                </a:solidFill>
                <a:latin typeface="Cambria"/>
                <a:ea typeface="Cambria"/>
                <a:cs typeface="Cambria"/>
                <a:sym typeface="Cambria"/>
              </a:rPr>
              <a:t>actual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6"/>
          <p:cNvSpPr/>
          <p:nvPr/>
        </p:nvSpPr>
        <p:spPr>
          <a:xfrm>
            <a:off x="8229600" y="466344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8860B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B8860B"/>
                </a:solidFill>
                <a:latin typeface="Cambria"/>
                <a:ea typeface="Cambria"/>
                <a:cs typeface="Cambria"/>
                <a:sym typeface="Cambria"/>
              </a:rPr>
              <a:t>× 100%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6"/>
          <p:cNvSpPr/>
          <p:nvPr/>
        </p:nvSpPr>
        <p:spPr>
          <a:xfrm>
            <a:off x="8412480" y="5257800"/>
            <a:ext cx="32918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Result: no units,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just add a %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6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6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7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SAME 4 STEPS EVERY 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7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Worked Example — Density of Water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7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7"/>
          <p:cNvSpPr/>
          <p:nvPr/>
        </p:nvSpPr>
        <p:spPr>
          <a:xfrm>
            <a:off x="548640" y="1920240"/>
            <a:ext cx="11064240" cy="914400"/>
          </a:xfrm>
          <a:prstGeom prst="roundRect">
            <a:avLst>
              <a:gd fmla="val 12000" name="adj"/>
            </a:avLst>
          </a:prstGeom>
          <a:solidFill>
            <a:srgbClr val="2129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7"/>
          <p:cNvSpPr/>
          <p:nvPr/>
        </p:nvSpPr>
        <p:spPr>
          <a:xfrm>
            <a:off x="548640" y="1920240"/>
            <a:ext cx="110642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You measure water's density as 0.96 g/mL. The accepted value is 1.00 g/mL. Find the error and percent error.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7"/>
          <p:cNvSpPr/>
          <p:nvPr/>
        </p:nvSpPr>
        <p:spPr>
          <a:xfrm>
            <a:off x="548640" y="3108960"/>
            <a:ext cx="2743200" cy="3108960"/>
          </a:xfrm>
          <a:prstGeom prst="roundRect">
            <a:avLst>
              <a:gd fmla="val 4000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7"/>
          <p:cNvSpPr/>
          <p:nvPr/>
        </p:nvSpPr>
        <p:spPr>
          <a:xfrm>
            <a:off x="1600200" y="329184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7"/>
          <p:cNvSpPr/>
          <p:nvPr/>
        </p:nvSpPr>
        <p:spPr>
          <a:xfrm>
            <a:off x="1600200" y="32918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7"/>
          <p:cNvSpPr/>
          <p:nvPr/>
        </p:nvSpPr>
        <p:spPr>
          <a:xfrm>
            <a:off x="548640" y="402336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IDENTIFY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7"/>
          <p:cNvSpPr/>
          <p:nvPr/>
        </p:nvSpPr>
        <p:spPr>
          <a:xfrm>
            <a:off x="731520" y="4480560"/>
            <a:ext cx="23774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Accepted = 1.00 g/mL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Experimental = 0.96 g/mL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7"/>
          <p:cNvSpPr/>
          <p:nvPr/>
        </p:nvSpPr>
        <p:spPr>
          <a:xfrm>
            <a:off x="3429000" y="3108960"/>
            <a:ext cx="2743200" cy="3108960"/>
          </a:xfrm>
          <a:prstGeom prst="roundRect">
            <a:avLst>
              <a:gd fmla="val 4000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7"/>
          <p:cNvSpPr/>
          <p:nvPr/>
        </p:nvSpPr>
        <p:spPr>
          <a:xfrm>
            <a:off x="4480560" y="329184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7"/>
          <p:cNvSpPr/>
          <p:nvPr/>
        </p:nvSpPr>
        <p:spPr>
          <a:xfrm>
            <a:off x="4480560" y="32918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7"/>
          <p:cNvSpPr/>
          <p:nvPr/>
        </p:nvSpPr>
        <p:spPr>
          <a:xfrm>
            <a:off x="3429000" y="402336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ERROR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7"/>
          <p:cNvSpPr/>
          <p:nvPr/>
        </p:nvSpPr>
        <p:spPr>
          <a:xfrm>
            <a:off x="3611880" y="4480560"/>
            <a:ext cx="23774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|1.00 − 0.96|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= 0.04 g/mL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7"/>
          <p:cNvSpPr/>
          <p:nvPr/>
        </p:nvSpPr>
        <p:spPr>
          <a:xfrm>
            <a:off x="6309360" y="3108960"/>
            <a:ext cx="2743200" cy="3108960"/>
          </a:xfrm>
          <a:prstGeom prst="roundRect">
            <a:avLst>
              <a:gd fmla="val 4000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7"/>
          <p:cNvSpPr/>
          <p:nvPr/>
        </p:nvSpPr>
        <p:spPr>
          <a:xfrm>
            <a:off x="7360920" y="329184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7"/>
          <p:cNvSpPr/>
          <p:nvPr/>
        </p:nvSpPr>
        <p:spPr>
          <a:xfrm>
            <a:off x="7360920" y="32918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6309360" y="402336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% ERROR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7"/>
          <p:cNvSpPr/>
          <p:nvPr/>
        </p:nvSpPr>
        <p:spPr>
          <a:xfrm>
            <a:off x="6492240" y="4480560"/>
            <a:ext cx="23774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(0.04 ÷ 1.00) × 100%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= 4%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7"/>
          <p:cNvSpPr/>
          <p:nvPr/>
        </p:nvSpPr>
        <p:spPr>
          <a:xfrm>
            <a:off x="9189720" y="3108960"/>
            <a:ext cx="2743200" cy="3108960"/>
          </a:xfrm>
          <a:prstGeom prst="roundRect">
            <a:avLst>
              <a:gd fmla="val 4000" name="adj"/>
            </a:avLst>
          </a:prstGeom>
          <a:solidFill>
            <a:srgbClr val="DCFCE7"/>
          </a:solidFill>
          <a:ln cap="flat" cmpd="sng" w="25400">
            <a:solidFill>
              <a:srgbClr val="16A34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7"/>
          <p:cNvSpPr/>
          <p:nvPr/>
        </p:nvSpPr>
        <p:spPr>
          <a:xfrm>
            <a:off x="10241280" y="3291840"/>
            <a:ext cx="640080" cy="64008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7"/>
          <p:cNvSpPr/>
          <p:nvPr/>
        </p:nvSpPr>
        <p:spPr>
          <a:xfrm>
            <a:off x="10241280" y="3291840"/>
            <a:ext cx="64008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Cambria"/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7"/>
          <p:cNvSpPr/>
          <p:nvPr/>
        </p:nvSpPr>
        <p:spPr>
          <a:xfrm>
            <a:off x="9189720" y="402336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JUDGE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7"/>
          <p:cNvSpPr/>
          <p:nvPr/>
        </p:nvSpPr>
        <p:spPr>
          <a:xfrm>
            <a:off x="9372600" y="4480560"/>
            <a:ext cx="237744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4% error — pretty good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for a middle-school lab.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8"/>
          <p:cNvSpPr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7293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C7293"/>
                </a:solidFill>
                <a:latin typeface="Calibri"/>
                <a:ea typeface="Calibri"/>
                <a:cs typeface="Calibri"/>
                <a:sym typeface="Calibri"/>
              </a:rPr>
              <a:t>ESTIMATE. COUNT. COMPARE.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8"/>
          <p:cNvSpPr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3200"/>
              <a:buFont typeface="Cambria"/>
              <a:buNone/>
            </a:pPr>
            <a:r>
              <a:rPr b="1" i="0" lang="en-US" sz="3200" u="none" cap="none" strike="noStrike">
                <a:solidFill>
                  <a:srgbClr val="065A82"/>
                </a:solidFill>
                <a:latin typeface="Cambria"/>
                <a:ea typeface="Cambria"/>
                <a:cs typeface="Cambria"/>
                <a:sym typeface="Cambria"/>
              </a:rPr>
              <a:t>Practice — Counting Raisins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8"/>
          <p:cNvSpPr/>
          <p:nvPr/>
        </p:nvSpPr>
        <p:spPr>
          <a:xfrm>
            <a:off x="548640" y="1463040"/>
            <a:ext cx="640080" cy="54864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8"/>
          <p:cNvSpPr/>
          <p:nvPr/>
        </p:nvSpPr>
        <p:spPr>
          <a:xfrm>
            <a:off x="548640" y="2011680"/>
            <a:ext cx="5486400" cy="1965960"/>
          </a:xfrm>
          <a:prstGeom prst="roundRect">
            <a:avLst>
              <a:gd fmla="val 5581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8"/>
          <p:cNvSpPr/>
          <p:nvPr/>
        </p:nvSpPr>
        <p:spPr>
          <a:xfrm>
            <a:off x="777240" y="2286000"/>
            <a:ext cx="822960" cy="8229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8"/>
          <p:cNvSpPr/>
          <p:nvPr/>
        </p:nvSpPr>
        <p:spPr>
          <a:xfrm>
            <a:off x="777240" y="2286000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mbria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1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8"/>
          <p:cNvSpPr/>
          <p:nvPr/>
        </p:nvSpPr>
        <p:spPr>
          <a:xfrm>
            <a:off x="1828800" y="23774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ESTIMATE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8"/>
          <p:cNvSpPr/>
          <p:nvPr/>
        </p:nvSpPr>
        <p:spPr>
          <a:xfrm>
            <a:off x="1828800" y="2880360"/>
            <a:ext cx="40233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How many raisins do you think are in the box?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8"/>
          <p:cNvSpPr/>
          <p:nvPr/>
        </p:nvSpPr>
        <p:spPr>
          <a:xfrm>
            <a:off x="6217920" y="2011680"/>
            <a:ext cx="5486400" cy="1965960"/>
          </a:xfrm>
          <a:prstGeom prst="roundRect">
            <a:avLst>
              <a:gd fmla="val 5581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8"/>
          <p:cNvSpPr/>
          <p:nvPr/>
        </p:nvSpPr>
        <p:spPr>
          <a:xfrm>
            <a:off x="6446520" y="2286000"/>
            <a:ext cx="822960" cy="8229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8"/>
          <p:cNvSpPr/>
          <p:nvPr/>
        </p:nvSpPr>
        <p:spPr>
          <a:xfrm>
            <a:off x="6446520" y="2286000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mbria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2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8"/>
          <p:cNvSpPr/>
          <p:nvPr/>
        </p:nvSpPr>
        <p:spPr>
          <a:xfrm>
            <a:off x="7498080" y="237744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COUNT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8"/>
          <p:cNvSpPr/>
          <p:nvPr/>
        </p:nvSpPr>
        <p:spPr>
          <a:xfrm>
            <a:off x="7498080" y="2880360"/>
            <a:ext cx="40233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Pour them out. Count the actual number.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8"/>
          <p:cNvSpPr/>
          <p:nvPr/>
        </p:nvSpPr>
        <p:spPr>
          <a:xfrm>
            <a:off x="548640" y="4160520"/>
            <a:ext cx="5486400" cy="1965960"/>
          </a:xfrm>
          <a:prstGeom prst="roundRect">
            <a:avLst>
              <a:gd fmla="val 5581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8"/>
          <p:cNvSpPr/>
          <p:nvPr/>
        </p:nvSpPr>
        <p:spPr>
          <a:xfrm>
            <a:off x="777240" y="4434840"/>
            <a:ext cx="822960" cy="8229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8"/>
          <p:cNvSpPr/>
          <p:nvPr/>
        </p:nvSpPr>
        <p:spPr>
          <a:xfrm>
            <a:off x="777240" y="4434840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mbria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3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18"/>
          <p:cNvSpPr/>
          <p:nvPr/>
        </p:nvSpPr>
        <p:spPr>
          <a:xfrm>
            <a:off x="1828800" y="452628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FIND ERROR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18"/>
          <p:cNvSpPr/>
          <p:nvPr/>
        </p:nvSpPr>
        <p:spPr>
          <a:xfrm>
            <a:off x="1828800" y="5029200"/>
            <a:ext cx="40233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Error = |actual − estimate|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8"/>
          <p:cNvSpPr/>
          <p:nvPr/>
        </p:nvSpPr>
        <p:spPr>
          <a:xfrm>
            <a:off x="6217920" y="4160520"/>
            <a:ext cx="5486400" cy="1965960"/>
          </a:xfrm>
          <a:prstGeom prst="roundRect">
            <a:avLst>
              <a:gd fmla="val 5581" name="adj"/>
            </a:avLst>
          </a:prstGeom>
          <a:solidFill>
            <a:srgbClr val="F7F9FC"/>
          </a:solidFill>
          <a:ln cap="flat" cmpd="sng" w="12700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p18"/>
          <p:cNvSpPr/>
          <p:nvPr/>
        </p:nvSpPr>
        <p:spPr>
          <a:xfrm>
            <a:off x="6446520" y="4434840"/>
            <a:ext cx="822960" cy="82296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8"/>
          <p:cNvSpPr/>
          <p:nvPr/>
        </p:nvSpPr>
        <p:spPr>
          <a:xfrm>
            <a:off x="6446520" y="4434840"/>
            <a:ext cx="8229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Cambria"/>
              <a:buNone/>
            </a:pPr>
            <a:r>
              <a:rPr b="1" i="0" lang="en-US" sz="27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4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8"/>
          <p:cNvSpPr/>
          <p:nvPr/>
        </p:nvSpPr>
        <p:spPr>
          <a:xfrm>
            <a:off x="7498080" y="452628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65A82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065A82"/>
                </a:solidFill>
                <a:latin typeface="Calibri"/>
                <a:ea typeface="Calibri"/>
                <a:cs typeface="Calibri"/>
                <a:sym typeface="Calibri"/>
              </a:rPr>
              <a:t>FIND % ERROR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8"/>
          <p:cNvSpPr/>
          <p:nvPr/>
        </p:nvSpPr>
        <p:spPr>
          <a:xfrm>
            <a:off x="7498080" y="5029200"/>
            <a:ext cx="40233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% Error = (Error ÷ actual) × 100%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8"/>
          <p:cNvSpPr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1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Experimental Error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8"/>
          <p:cNvSpPr/>
          <p:nvPr/>
        </p:nvSpPr>
        <p:spPr>
          <a:xfrm>
            <a:off x="11338560" y="649224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21295C"/>
        </a:solidFill>
      </p:bgPr>
    </p:bg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9"/>
          <p:cNvSpPr/>
          <p:nvPr/>
        </p:nvSpPr>
        <p:spPr>
          <a:xfrm>
            <a:off x="548640" y="228600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107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HOMEWORK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9"/>
          <p:cNvSpPr/>
          <p:nvPr/>
        </p:nvSpPr>
        <p:spPr>
          <a:xfrm>
            <a:off x="548640" y="2834640"/>
            <a:ext cx="109728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mbria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Experimental Error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mbria"/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rPr>
              <a:t>Problem Set #1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9"/>
          <p:cNvSpPr/>
          <p:nvPr/>
        </p:nvSpPr>
        <p:spPr>
          <a:xfrm>
            <a:off x="548640" y="5120640"/>
            <a:ext cx="640080" cy="7315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9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2000"/>
              <a:buFont typeface="Calibri"/>
              <a:buNone/>
            </a:pPr>
            <a:r>
              <a:rPr b="0" i="0" lang="en-US" sz="20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Posted on Google Classroom.  Due next class meeting.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9"/>
          <p:cNvSpPr/>
          <p:nvPr/>
        </p:nvSpPr>
        <p:spPr>
          <a:xfrm>
            <a:off x="548640" y="598932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C107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FFC107"/>
                </a:solidFill>
                <a:latin typeface="Calibri"/>
                <a:ea typeface="Calibri"/>
                <a:cs typeface="Calibri"/>
                <a:sym typeface="Calibri"/>
              </a:rPr>
              <a:t>Remember: identify accepted, experimental, error, and % error — with units.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