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12.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cx="9144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MasterSlide0">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lvl1pPr indent="0" algn="ctr">
              <a:buNone/>
              <a:defRPr lang="en-US" sz="4400" b="0" u="none" strike="noStrike">
                <a:solidFill>
                  <a:srgbClr val="000000"/>
                </a:solidFill>
                <a:effectLst/>
                <a:uFillTx/>
                <a:latin typeface="Arial"/>
              </a:defRPr>
            </a:lvl1pPr>
          </a:lstStyle>
          <a:p>
            <a:pPr indent="0" algn="ctr">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3"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Slide1">
    <p:bg>
      <p:bgPr>
        <a:solidFill>
          <a:srgbClr val="FFFFFF"/>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lvl1pPr indent="0" algn="ctr">
              <a:buNone/>
              <a:defRPr lang="en-US" sz="4400" b="0" u="none" strike="noStrike">
                <a:solidFill>
                  <a:srgbClr val="000000"/>
                </a:solidFill>
                <a:effectLst/>
                <a:uFillTx/>
                <a:latin typeface="Arial"/>
              </a:defRPr>
            </a:lvl1pPr>
          </a:lstStyle>
          <a:p>
            <a:pPr indent="0" algn="ctr">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5"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
          <p:cNvSpPr txBox="1"/>
          <p:nvPr/>
        </p:nvSpPr>
        <p:spPr>
          <a:xfrm>
            <a:off x="685800" y="609480"/>
            <a:ext cx="7772400" cy="5943600"/>
          </a:xfrm>
          <a:prstGeom prst="rect">
            <a:avLst/>
          </a:prstGeom>
          <a:noFill/>
          <a:ln w="0">
            <a:noFill/>
          </a:ln>
        </p:spPr>
        <p:txBody>
          <a:bodyPr lIns="90000" tIns="45000" rIns="90000" bIns="45000" anchor="ctr">
            <a:normAutofit/>
          </a:bodyPr>
          <a:p>
            <a:pPr algn="ctr"/>
            <a:r>
              <a:rPr lang="en-US" sz="4400" b="0" u="none" strike="noStrike">
                <a:solidFill>
                  <a:srgbClr val="000000"/>
                </a:solidFill>
                <a:effectLst/>
                <a:uFillTx/>
                <a:latin typeface="Calibri"/>
                <a:ea typeface="Calibri"/>
              </a:rPr>
              <a:t>Writing a Lab Report       How to Write Like a Scientist</a:t>
            </a:r>
            <a:endParaRPr lang="en-US" sz="4400" b="0" u="none" strike="noStrike">
              <a:solidFill>
                <a:srgbClr val="000000"/>
              </a:solidFill>
              <a:effectLst/>
              <a:uFillTx/>
              <a:latin typeface="Arial"/>
            </a:endParaRPr>
          </a:p>
        </p:txBody>
      </p:sp>
      <p:pic>
        <p:nvPicPr>
          <p:cNvPr id="7" name=""/>
          <p:cNvPicPr/>
          <p:nvPr/>
        </p:nvPicPr>
        <p:blipFill>
          <a:blip r:embed="rId1"/>
          <a:stretch/>
        </p:blipFill>
        <p:spPr>
          <a:xfrm>
            <a:off x="2552760" y="1676520"/>
            <a:ext cx="3695760" cy="392004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 name=""/>
          <p:cNvSpPr txBox="1"/>
          <p:nvPr/>
        </p:nvSpPr>
        <p:spPr>
          <a:xfrm>
            <a:off x="457200" y="274680"/>
            <a:ext cx="8229600" cy="1143000"/>
          </a:xfrm>
          <a:prstGeom prst="rect">
            <a:avLst/>
          </a:prstGeom>
          <a:noFill/>
          <a:ln w="0">
            <a:noFill/>
          </a:ln>
        </p:spPr>
        <p:txBody>
          <a:bodyPr lIns="90000" tIns="45000" rIns="90000" bIns="45000" anchor="ctr">
            <a:normAutofit/>
          </a:bodyPr>
          <a:p>
            <a:pPr algn="ctr"/>
            <a:r>
              <a:rPr lang="en-US" sz="4400" b="0" u="none" strike="noStrike">
                <a:solidFill>
                  <a:srgbClr val="000000"/>
                </a:solidFill>
                <a:effectLst/>
                <a:uFillTx/>
                <a:latin typeface="Calibri"/>
                <a:ea typeface="Calibri"/>
              </a:rPr>
              <a:t>What is it For</a:t>
            </a:r>
            <a:r>
              <a:rPr lang="en-US" sz="4400" b="0" u="none" strike="noStrike">
                <a:solidFill>
                  <a:srgbClr val="000000"/>
                </a:solidFill>
                <a:effectLst/>
                <a:uFillTx/>
                <a:latin typeface="Calibri"/>
                <a:ea typeface="Calibri"/>
              </a:rPr>
              <a:t>?</a:t>
            </a:r>
            <a:endParaRPr lang="en-US" sz="4400" b="0" u="none" strike="noStrike">
              <a:solidFill>
                <a:srgbClr val="000000"/>
              </a:solidFill>
              <a:effectLst/>
              <a:uFillTx/>
              <a:latin typeface="Arial"/>
            </a:endParaRPr>
          </a:p>
        </p:txBody>
      </p:sp>
      <p:sp>
        <p:nvSpPr>
          <p:cNvPr id="9" name=""/>
          <p:cNvSpPr txBox="1"/>
          <p:nvPr/>
        </p:nvSpPr>
        <p:spPr>
          <a:xfrm>
            <a:off x="457200" y="1447920"/>
            <a:ext cx="8229600" cy="5029200"/>
          </a:xfrm>
          <a:prstGeom prst="rect">
            <a:avLst/>
          </a:prstGeom>
          <a:noFill/>
          <a:ln w="0">
            <a:noFill/>
          </a:ln>
        </p:spPr>
        <p:txBody>
          <a:bodyPr lIns="90000" tIns="45000" rIns="90000" bIns="45000" anchor="t">
            <a:normAutofit/>
          </a:bodyPr>
          <a:p>
            <a:pPr marL="417240" indent="-417240">
              <a:spcBef>
                <a:spcPts val="768"/>
              </a:spcBef>
              <a:buClr>
                <a:srgbClr val="000000"/>
              </a:buClr>
              <a:buSzPct val="45000"/>
              <a:buNone/>
            </a:pPr>
            <a:r>
              <a:rPr lang="en-US" sz="3200" b="1" u="none" strike="noStrike">
                <a:solidFill>
                  <a:srgbClr val="000000"/>
                </a:solidFill>
                <a:effectLst/>
                <a:uFillTx/>
                <a:latin typeface="Calibri-Bold"/>
                <a:ea typeface="Calibri-Bold"/>
              </a:rPr>
              <a:t>Your lab report is your means of communicating to the world what you have observed</a:t>
            </a:r>
            <a:r>
              <a:rPr lang="en-US" sz="3200" b="1" u="none" strike="noStrike">
                <a:solidFill>
                  <a:srgbClr val="000000"/>
                </a:solidFill>
                <a:effectLst/>
                <a:uFillTx/>
                <a:latin typeface="Calibri-Bold"/>
                <a:ea typeface="Calibri-Bold"/>
              </a:rPr>
              <a:t>.</a:t>
            </a:r>
            <a:endParaRPr lang="en-US" sz="3200" b="0" u="none" strike="noStrike">
              <a:solidFill>
                <a:srgbClr val="000000"/>
              </a:solidFill>
              <a:effectLst/>
              <a:uFillTx/>
              <a:latin typeface="Arial"/>
            </a:endParaRPr>
          </a:p>
          <a:p>
            <a:pPr marL="417240" indent="-417240">
              <a:spcBef>
                <a:spcPts val="768"/>
              </a:spcBef>
              <a:buClr>
                <a:srgbClr val="000000"/>
              </a:buClr>
              <a:buSzPct val="45000"/>
              <a:buNone/>
            </a:pPr>
            <a:r>
              <a:rPr lang="en-US" sz="3200" b="1" u="none" strike="noStrike">
                <a:solidFill>
                  <a:srgbClr val="000000"/>
                </a:solidFill>
                <a:effectLst/>
                <a:uFillTx/>
                <a:latin typeface="Calibri-Bold"/>
                <a:ea typeface="Calibri-Bold"/>
              </a:rPr>
              <a:t>You are writing to an audience who has </a:t>
            </a:r>
            <a:r>
              <a:rPr lang="en-US" sz="3200" b="1" u="sng" strike="noStrike">
                <a:solidFill>
                  <a:srgbClr val="000000"/>
                </a:solidFill>
                <a:effectLst/>
                <a:uFillTx/>
                <a:latin typeface="Calibri-Bold"/>
                <a:ea typeface="Calibri-Bold"/>
              </a:rPr>
              <a:t>never seen your experiment</a:t>
            </a:r>
            <a:r>
              <a:rPr lang="en-US" sz="3200" b="1" u="none" strike="noStrike">
                <a:solidFill>
                  <a:srgbClr val="000000"/>
                </a:solidFill>
                <a:effectLst/>
                <a:uFillTx/>
                <a:latin typeface="Calibri-Bold"/>
                <a:ea typeface="Calibri-Bold"/>
              </a:rPr>
              <a:t>.</a:t>
            </a:r>
            <a:endParaRPr lang="en-US" sz="3200" b="0" u="none" strike="noStrike">
              <a:solidFill>
                <a:srgbClr val="000000"/>
              </a:solidFill>
              <a:effectLst/>
              <a:uFillTx/>
              <a:latin typeface="Arial"/>
            </a:endParaRPr>
          </a:p>
          <a:p>
            <a:pPr marL="417240" indent="-417240">
              <a:spcBef>
                <a:spcPts val="768"/>
              </a:spcBef>
              <a:buClr>
                <a:srgbClr val="000000"/>
              </a:buClr>
              <a:buSzPct val="45000"/>
              <a:buNone/>
            </a:pPr>
            <a:r>
              <a:rPr lang="en-US" sz="3200" b="1" u="none" strike="noStrike">
                <a:solidFill>
                  <a:srgbClr val="000000"/>
                </a:solidFill>
                <a:effectLst/>
                <a:uFillTx/>
                <a:latin typeface="Calibri-Bold"/>
                <a:ea typeface="Calibri-Bold"/>
              </a:rPr>
              <a:t>You should make clear descriptions; use writing to ‘put them in the room.’  All writing should be objective</a:t>
            </a:r>
            <a:r>
              <a:rPr lang="en-US" sz="3200" b="1" u="none" strike="noStrike">
                <a:solidFill>
                  <a:srgbClr val="000000"/>
                </a:solidFill>
                <a:effectLst/>
                <a:uFillTx/>
                <a:latin typeface="Calibri-Bold"/>
                <a:ea typeface="Calibri-Bold"/>
              </a:rPr>
              <a:t>.</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 name=""/>
          <p:cNvSpPr txBox="1"/>
          <p:nvPr/>
        </p:nvSpPr>
        <p:spPr>
          <a:xfrm>
            <a:off x="457200" y="274680"/>
            <a:ext cx="8229600" cy="1143000"/>
          </a:xfrm>
          <a:prstGeom prst="rect">
            <a:avLst/>
          </a:prstGeom>
          <a:noFill/>
          <a:ln w="0">
            <a:noFill/>
          </a:ln>
        </p:spPr>
        <p:txBody>
          <a:bodyPr lIns="90000" tIns="45000" rIns="90000" bIns="45000" anchor="ctr">
            <a:normAutofit/>
          </a:bodyPr>
          <a:p>
            <a:pPr algn="ctr"/>
            <a:r>
              <a:rPr lang="en-US" sz="4400" b="0" u="none" strike="noStrike">
                <a:solidFill>
                  <a:srgbClr val="000000"/>
                </a:solidFill>
                <a:effectLst/>
                <a:uFillTx/>
                <a:latin typeface="Calibri"/>
                <a:ea typeface="Calibri"/>
              </a:rPr>
              <a:t>What is it For</a:t>
            </a:r>
            <a:r>
              <a:rPr lang="en-US" sz="4400" b="0" u="none" strike="noStrike">
                <a:solidFill>
                  <a:srgbClr val="000000"/>
                </a:solidFill>
                <a:effectLst/>
                <a:uFillTx/>
                <a:latin typeface="Calibri"/>
                <a:ea typeface="Calibri"/>
              </a:rPr>
              <a:t>?</a:t>
            </a:r>
            <a:endParaRPr lang="en-US" sz="4400" b="0" u="none" strike="noStrike">
              <a:solidFill>
                <a:srgbClr val="000000"/>
              </a:solidFill>
              <a:effectLst/>
              <a:uFillTx/>
              <a:latin typeface="Arial"/>
            </a:endParaRPr>
          </a:p>
        </p:txBody>
      </p:sp>
      <p:sp>
        <p:nvSpPr>
          <p:cNvPr id="11" name=""/>
          <p:cNvSpPr txBox="1"/>
          <p:nvPr/>
        </p:nvSpPr>
        <p:spPr>
          <a:xfrm>
            <a:off x="457200" y="1447920"/>
            <a:ext cx="8229600" cy="5029200"/>
          </a:xfrm>
          <a:prstGeom prst="rect">
            <a:avLst/>
          </a:prstGeom>
          <a:noFill/>
          <a:ln w="0">
            <a:noFill/>
          </a:ln>
        </p:spPr>
        <p:txBody>
          <a:bodyPr lIns="90000" tIns="45000" rIns="90000" bIns="45000" anchor="t">
            <a:normAutofit/>
          </a:bodyPr>
          <a:p>
            <a:pPr marL="380160" indent="-380160">
              <a:lnSpc>
                <a:spcPct val="90000"/>
              </a:lnSpc>
              <a:spcBef>
                <a:spcPts val="697"/>
              </a:spcBef>
              <a:buClr>
                <a:srgbClr val="000000"/>
              </a:buClr>
              <a:buSzPct val="45000"/>
              <a:buNone/>
            </a:pPr>
            <a:r>
              <a:rPr lang="en-US" sz="2900" b="0" u="none" strike="noStrike">
                <a:solidFill>
                  <a:srgbClr val="000000"/>
                </a:solidFill>
                <a:effectLst/>
                <a:uFillTx/>
                <a:latin typeface="Calibri"/>
                <a:ea typeface="Calibri"/>
              </a:rPr>
              <a:t>You are part of a scientific community, and the people who participate in this community tend to share the same values</a:t>
            </a:r>
            <a:endParaRPr lang="en-US" sz="2900" b="0" u="none" strike="noStrike">
              <a:solidFill>
                <a:srgbClr val="000000"/>
              </a:solidFill>
              <a:effectLst/>
              <a:uFillTx/>
              <a:latin typeface="Arial"/>
            </a:endParaRPr>
          </a:p>
          <a:p>
            <a:pPr marL="380160" indent="-380160">
              <a:lnSpc>
                <a:spcPct val="90000"/>
              </a:lnSpc>
              <a:spcBef>
                <a:spcPts val="697"/>
              </a:spcBef>
              <a:buClr>
                <a:srgbClr val="000000"/>
              </a:buClr>
              <a:buSzPct val="45000"/>
              <a:buNone/>
            </a:pPr>
            <a:r>
              <a:rPr lang="en-US" sz="2900" b="0" u="none" strike="noStrike">
                <a:solidFill>
                  <a:srgbClr val="000000"/>
                </a:solidFill>
                <a:effectLst/>
                <a:uFillTx/>
                <a:latin typeface="Calibri"/>
                <a:ea typeface="Calibri"/>
              </a:rPr>
              <a:t>You have a responsibility to the rest of the scientific world to report your findings</a:t>
            </a:r>
            <a:endParaRPr lang="en-US" sz="2900" b="0" u="none" strike="noStrike">
              <a:solidFill>
                <a:srgbClr val="000000"/>
              </a:solidFill>
              <a:effectLst/>
              <a:uFillTx/>
              <a:latin typeface="Arial"/>
            </a:endParaRPr>
          </a:p>
          <a:p>
            <a:pPr marL="380160" indent="-380160">
              <a:lnSpc>
                <a:spcPct val="90000"/>
              </a:lnSpc>
              <a:spcBef>
                <a:spcPts val="697"/>
              </a:spcBef>
              <a:buClr>
                <a:srgbClr val="000000"/>
              </a:buClr>
              <a:buSzPct val="45000"/>
              <a:buNone/>
            </a:pPr>
            <a:r>
              <a:rPr lang="en-US" sz="2900" b="1" u="none" strike="noStrike">
                <a:solidFill>
                  <a:srgbClr val="000000"/>
                </a:solidFill>
                <a:effectLst/>
                <a:uFillTx/>
                <a:latin typeface="Calibri-Bold"/>
                <a:ea typeface="Calibri-Bold"/>
              </a:rPr>
              <a:t>The people reading such reports have two primary goals</a:t>
            </a:r>
            <a:r>
              <a:rPr lang="en-US" sz="2900" b="1" u="none" strike="noStrike">
                <a:solidFill>
                  <a:srgbClr val="000000"/>
                </a:solidFill>
                <a:effectLst/>
                <a:uFillTx/>
                <a:latin typeface="Calibri-Bold"/>
                <a:ea typeface="Calibri-Bold"/>
              </a:rPr>
              <a:t>:</a:t>
            </a:r>
            <a:endParaRPr lang="en-US" sz="2900" b="0" u="none" strike="noStrike">
              <a:solidFill>
                <a:srgbClr val="000000"/>
              </a:solidFill>
              <a:effectLst/>
              <a:uFillTx/>
              <a:latin typeface="Arial"/>
            </a:endParaRPr>
          </a:p>
          <a:p>
            <a:pPr marL="786240" lvl="1" indent="-329040">
              <a:lnSpc>
                <a:spcPct val="90000"/>
              </a:lnSpc>
              <a:spcBef>
                <a:spcPts val="601"/>
              </a:spcBef>
              <a:buClr>
                <a:srgbClr val="000000"/>
              </a:buClr>
              <a:buSzPct val="45000"/>
              <a:buNone/>
            </a:pPr>
            <a:r>
              <a:rPr lang="en-US" sz="2500" b="0" u="none" strike="noStrike">
                <a:solidFill>
                  <a:srgbClr val="000000"/>
                </a:solidFill>
                <a:effectLst/>
                <a:uFillTx/>
                <a:latin typeface="Calibri"/>
                <a:ea typeface="Calibri"/>
              </a:rPr>
              <a:t>to gather the information presented</a:t>
            </a:r>
            <a:endParaRPr lang="en-US" sz="2500" b="0" u="none" strike="noStrike">
              <a:solidFill>
                <a:srgbClr val="000000"/>
              </a:solidFill>
              <a:effectLst/>
              <a:uFillTx/>
              <a:latin typeface="Arial"/>
            </a:endParaRPr>
          </a:p>
          <a:p>
            <a:pPr marL="786240" lvl="1" indent="-329040">
              <a:lnSpc>
                <a:spcPct val="90000"/>
              </a:lnSpc>
              <a:spcBef>
                <a:spcPts val="601"/>
              </a:spcBef>
              <a:buClr>
                <a:srgbClr val="000000"/>
              </a:buClr>
              <a:buSzPct val="45000"/>
              <a:buNone/>
            </a:pPr>
            <a:r>
              <a:rPr lang="en-US" sz="2500" b="0" u="none" strike="noStrike">
                <a:solidFill>
                  <a:srgbClr val="000000"/>
                </a:solidFill>
                <a:effectLst/>
                <a:uFillTx/>
                <a:latin typeface="Calibri"/>
                <a:ea typeface="Calibri"/>
              </a:rPr>
              <a:t>to know that the findings are legitimate</a:t>
            </a:r>
            <a:endParaRPr lang="en-US" sz="2500" b="0" u="none" strike="noStrike">
              <a:solidFill>
                <a:srgbClr val="000000"/>
              </a:solidFill>
              <a:effectLst/>
              <a:uFillTx/>
              <a:latin typeface="Arial"/>
            </a:endParaRPr>
          </a:p>
          <a:p>
            <a:pPr marL="380160" indent="-380160">
              <a:lnSpc>
                <a:spcPct val="90000"/>
              </a:lnSpc>
              <a:spcBef>
                <a:spcPts val="697"/>
              </a:spcBef>
              <a:buClr>
                <a:srgbClr val="000000"/>
              </a:buClr>
              <a:buSzPct val="45000"/>
              <a:buNone/>
            </a:pPr>
            <a:r>
              <a:rPr lang="en-US" sz="2900" b="0" u="none" strike="noStrike">
                <a:solidFill>
                  <a:srgbClr val="000000"/>
                </a:solidFill>
                <a:effectLst/>
                <a:uFillTx/>
                <a:latin typeface="Calibri"/>
                <a:ea typeface="Calibri"/>
              </a:rPr>
              <a:t>Your job as a writer, then, is to fulfill these two goals</a:t>
            </a:r>
            <a:r>
              <a:rPr lang="en-US" sz="2900" b="0" u="none" strike="noStrike">
                <a:solidFill>
                  <a:srgbClr val="000000"/>
                </a:solidFill>
                <a:effectLst/>
                <a:uFillTx/>
                <a:latin typeface="Calibri"/>
                <a:ea typeface="Calibri"/>
              </a:rPr>
              <a:t>.</a:t>
            </a:r>
            <a:endParaRPr lang="en-US" sz="2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
          <p:cNvSpPr txBox="1"/>
          <p:nvPr/>
        </p:nvSpPr>
        <p:spPr>
          <a:xfrm>
            <a:off x="457200" y="274680"/>
            <a:ext cx="8229600" cy="1143000"/>
          </a:xfrm>
          <a:prstGeom prst="rect">
            <a:avLst/>
          </a:prstGeom>
          <a:noFill/>
          <a:ln w="0">
            <a:noFill/>
          </a:ln>
        </p:spPr>
        <p:txBody>
          <a:bodyPr lIns="90000" tIns="45000" rIns="90000" bIns="45000" anchor="ctr">
            <a:normAutofit/>
          </a:bodyPr>
          <a:p>
            <a:pPr algn="ctr"/>
            <a:r>
              <a:rPr lang="en-US" sz="4400" b="0" u="none" strike="noStrike">
                <a:solidFill>
                  <a:srgbClr val="000000"/>
                </a:solidFill>
                <a:effectLst/>
                <a:uFillTx/>
                <a:latin typeface="Calibri"/>
                <a:ea typeface="Calibri"/>
              </a:rPr>
              <a:t>Preparing the Lab Report</a:t>
            </a:r>
            <a:endParaRPr lang="en-US" sz="4400" b="0" u="none" strike="noStrike">
              <a:solidFill>
                <a:srgbClr val="000000"/>
              </a:solidFill>
              <a:effectLst/>
              <a:uFillTx/>
              <a:latin typeface="Arial"/>
            </a:endParaRPr>
          </a:p>
        </p:txBody>
      </p:sp>
      <p:sp>
        <p:nvSpPr>
          <p:cNvPr id="13" name=""/>
          <p:cNvSpPr txBox="1"/>
          <p:nvPr/>
        </p:nvSpPr>
        <p:spPr>
          <a:xfrm>
            <a:off x="457200" y="1447920"/>
            <a:ext cx="8229600" cy="5029200"/>
          </a:xfrm>
          <a:prstGeom prst="rect">
            <a:avLst/>
          </a:prstGeom>
          <a:noFill/>
          <a:ln w="0">
            <a:noFill/>
          </a:ln>
        </p:spPr>
        <p:txBody>
          <a:bodyPr lIns="90000" tIns="45000" rIns="90000" bIns="45000" anchor="t">
            <a:normAutofit/>
          </a:bodyPr>
          <a:p>
            <a:pPr marL="417240" indent="-417240">
              <a:spcBef>
                <a:spcPts val="768"/>
              </a:spcBef>
              <a:buClr>
                <a:srgbClr val="000000"/>
              </a:buClr>
              <a:buSzPct val="45000"/>
              <a:buNone/>
            </a:pPr>
            <a:r>
              <a:rPr lang="en-US" sz="3200" b="0" u="none" strike="noStrike">
                <a:solidFill>
                  <a:srgbClr val="000000"/>
                </a:solidFill>
                <a:effectLst/>
                <a:uFillTx/>
                <a:latin typeface="Calibri"/>
                <a:ea typeface="Calibri"/>
              </a:rPr>
              <a:t>The best way to prepare to write the lab report is to make sure that you fully understand everything you need to about the experiment. Obviously, if you don’t quite know what went on during the lab, you’re going to find it difficult to explain the lab satisfactorily to someone else. </a:t>
            </a:r>
            <a:r>
              <a:rPr lang="en-US" sz="3200" b="1" u="none" strike="noStrike">
                <a:solidFill>
                  <a:srgbClr val="000000"/>
                </a:solidFill>
                <a:effectLst/>
                <a:uFillTx/>
                <a:latin typeface="Calibri-Bold"/>
                <a:ea typeface="Calibri-Bold"/>
              </a:rPr>
              <a:t>To make sure you know enough to write the report, complete the following steps</a:t>
            </a:r>
            <a:r>
              <a:rPr lang="en-US" sz="3200" b="1" u="none" strike="noStrike">
                <a:solidFill>
                  <a:srgbClr val="000000"/>
                </a:solidFill>
                <a:effectLst/>
                <a:uFillTx/>
                <a:latin typeface="Calibri-Bold"/>
                <a:ea typeface="Calibri-Bold"/>
              </a:rPr>
              <a:t>:</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
          <p:cNvSpPr txBox="1"/>
          <p:nvPr/>
        </p:nvSpPr>
        <p:spPr>
          <a:xfrm>
            <a:off x="457200" y="274680"/>
            <a:ext cx="8229600" cy="1143000"/>
          </a:xfrm>
          <a:prstGeom prst="rect">
            <a:avLst/>
          </a:prstGeom>
          <a:noFill/>
          <a:ln w="0">
            <a:noFill/>
          </a:ln>
        </p:spPr>
        <p:txBody>
          <a:bodyPr lIns="90000" tIns="45000" rIns="90000" bIns="45000" anchor="ctr">
            <a:normAutofit/>
          </a:bodyPr>
          <a:p>
            <a:pPr algn="ctr"/>
            <a:r>
              <a:rPr lang="en-US" sz="4400" b="0" u="none" strike="noStrike">
                <a:solidFill>
                  <a:srgbClr val="000000"/>
                </a:solidFill>
                <a:effectLst/>
                <a:uFillTx/>
                <a:latin typeface="Calibri"/>
                <a:ea typeface="Calibri"/>
              </a:rPr>
              <a:t>Steps of  the Lab Report</a:t>
            </a:r>
            <a:endParaRPr lang="en-US" sz="4400" b="0" u="none" strike="noStrike">
              <a:solidFill>
                <a:srgbClr val="000000"/>
              </a:solidFill>
              <a:effectLst/>
              <a:uFillTx/>
              <a:latin typeface="Arial"/>
            </a:endParaRPr>
          </a:p>
        </p:txBody>
      </p:sp>
      <p:sp>
        <p:nvSpPr>
          <p:cNvPr id="15" name=""/>
          <p:cNvSpPr txBox="1"/>
          <p:nvPr/>
        </p:nvSpPr>
        <p:spPr>
          <a:xfrm>
            <a:off x="457200" y="1447920"/>
            <a:ext cx="8229600" cy="5029200"/>
          </a:xfrm>
          <a:prstGeom prst="rect">
            <a:avLst/>
          </a:prstGeom>
          <a:noFill/>
          <a:ln w="0">
            <a:noFill/>
          </a:ln>
        </p:spPr>
        <p:txBody>
          <a:bodyPr lIns="90000" tIns="45000" rIns="90000" bIns="45000" anchor="t">
            <a:normAutofit/>
          </a:bodyPr>
          <a:p>
            <a:pPr marL="417240" indent="-417240">
              <a:spcBef>
                <a:spcPts val="768"/>
              </a:spcBef>
              <a:buClr>
                <a:srgbClr val="000000"/>
              </a:buClr>
              <a:buSzPct val="45000"/>
              <a:buNone/>
            </a:pPr>
            <a:r>
              <a:rPr lang="en-US" sz="3200" b="1" u="none" strike="noStrike">
                <a:solidFill>
                  <a:srgbClr val="000000"/>
                </a:solidFill>
                <a:effectLst/>
                <a:uFillTx/>
                <a:latin typeface="Calibri-Bold"/>
                <a:ea typeface="Calibri-Bold"/>
              </a:rPr>
              <a:t>Title / Date / Lab Partners</a:t>
            </a:r>
            <a:endParaRPr lang="en-US" sz="3200" b="0" u="none" strike="noStrike">
              <a:solidFill>
                <a:srgbClr val="000000"/>
              </a:solidFill>
              <a:effectLst/>
              <a:uFillTx/>
              <a:latin typeface="Arial"/>
            </a:endParaRPr>
          </a:p>
          <a:p>
            <a:pPr marL="417240" indent="-417240">
              <a:spcBef>
                <a:spcPts val="768"/>
              </a:spcBef>
              <a:buClr>
                <a:srgbClr val="000000"/>
              </a:buClr>
              <a:buSzPct val="45000"/>
              <a:buNone/>
            </a:pPr>
            <a:r>
              <a:rPr lang="en-US" sz="3200" b="1" u="none" strike="noStrike">
                <a:solidFill>
                  <a:srgbClr val="000000"/>
                </a:solidFill>
                <a:effectLst/>
                <a:uFillTx/>
                <a:latin typeface="Calibri-Bold"/>
                <a:ea typeface="Calibri-Bold"/>
              </a:rPr>
              <a:t>Introduction</a:t>
            </a:r>
            <a:endParaRPr lang="en-US" sz="3200" b="0" u="none" strike="noStrike">
              <a:solidFill>
                <a:srgbClr val="000000"/>
              </a:solidFill>
              <a:effectLst/>
              <a:uFillTx/>
              <a:latin typeface="Arial"/>
            </a:endParaRPr>
          </a:p>
          <a:p>
            <a:pPr marL="417240" indent="-417240">
              <a:spcBef>
                <a:spcPts val="768"/>
              </a:spcBef>
              <a:buClr>
                <a:srgbClr val="000000"/>
              </a:buClr>
              <a:buSzPct val="45000"/>
              <a:buNone/>
            </a:pPr>
            <a:r>
              <a:rPr lang="en-US" sz="3200" b="1" u="none" strike="noStrike">
                <a:solidFill>
                  <a:srgbClr val="000000"/>
                </a:solidFill>
                <a:effectLst/>
                <a:uFillTx/>
                <a:latin typeface="Calibri-Bold"/>
                <a:ea typeface="Calibri-Bold"/>
              </a:rPr>
              <a:t>Purpose/Objective</a:t>
            </a:r>
            <a:endParaRPr lang="en-US" sz="3200" b="0" u="none" strike="noStrike">
              <a:solidFill>
                <a:srgbClr val="000000"/>
              </a:solidFill>
              <a:effectLst/>
              <a:uFillTx/>
              <a:latin typeface="Arial"/>
            </a:endParaRPr>
          </a:p>
          <a:p>
            <a:pPr marL="417240" indent="-417240">
              <a:spcBef>
                <a:spcPts val="768"/>
              </a:spcBef>
              <a:buClr>
                <a:srgbClr val="000000"/>
              </a:buClr>
              <a:buSzPct val="45000"/>
              <a:buNone/>
            </a:pPr>
            <a:r>
              <a:rPr lang="en-US" sz="3200" b="1" u="none" strike="noStrike">
                <a:solidFill>
                  <a:srgbClr val="000000"/>
                </a:solidFill>
                <a:effectLst/>
                <a:uFillTx/>
                <a:latin typeface="Calibri-Bold"/>
                <a:ea typeface="Calibri-Bold"/>
              </a:rPr>
              <a:t>Hypothesis</a:t>
            </a:r>
            <a:endParaRPr lang="en-US" sz="3200" b="0" u="none" strike="noStrike">
              <a:solidFill>
                <a:srgbClr val="000000"/>
              </a:solidFill>
              <a:effectLst/>
              <a:uFillTx/>
              <a:latin typeface="Arial"/>
            </a:endParaRPr>
          </a:p>
          <a:p>
            <a:pPr marL="417240" indent="-417240">
              <a:spcBef>
                <a:spcPts val="768"/>
              </a:spcBef>
              <a:buClr>
                <a:srgbClr val="000000"/>
              </a:buClr>
              <a:buSzPct val="45000"/>
              <a:buNone/>
            </a:pPr>
            <a:r>
              <a:rPr lang="en-US" sz="3200" b="1" u="none" strike="noStrike">
                <a:solidFill>
                  <a:srgbClr val="000000"/>
                </a:solidFill>
                <a:effectLst/>
                <a:uFillTx/>
                <a:latin typeface="Calibri-Bold"/>
                <a:ea typeface="Calibri-Bold"/>
              </a:rPr>
              <a:t>Materials</a:t>
            </a:r>
            <a:endParaRPr lang="en-US" sz="3200" b="0" u="none" strike="noStrike">
              <a:solidFill>
                <a:srgbClr val="000000"/>
              </a:solidFill>
              <a:effectLst/>
              <a:uFillTx/>
              <a:latin typeface="Arial"/>
            </a:endParaRPr>
          </a:p>
          <a:p>
            <a:pPr marL="417240" indent="-417240">
              <a:spcBef>
                <a:spcPts val="768"/>
              </a:spcBef>
              <a:buClr>
                <a:srgbClr val="000000"/>
              </a:buClr>
              <a:buSzPct val="45000"/>
              <a:buNone/>
            </a:pPr>
            <a:r>
              <a:rPr lang="en-US" sz="3200" b="1" u="none" strike="noStrike">
                <a:solidFill>
                  <a:srgbClr val="000000"/>
                </a:solidFill>
                <a:effectLst/>
                <a:uFillTx/>
                <a:latin typeface="Calibri-Bold"/>
                <a:ea typeface="Calibri-Bold"/>
              </a:rPr>
              <a:t>Procedure</a:t>
            </a:r>
            <a:endParaRPr lang="en-US" sz="3200" b="0" u="none" strike="noStrike">
              <a:solidFill>
                <a:srgbClr val="000000"/>
              </a:solidFill>
              <a:effectLst/>
              <a:uFillTx/>
              <a:latin typeface="Arial"/>
            </a:endParaRPr>
          </a:p>
          <a:p>
            <a:pPr marL="417240" indent="-417240">
              <a:spcBef>
                <a:spcPts val="768"/>
              </a:spcBef>
              <a:buClr>
                <a:srgbClr val="000000"/>
              </a:buClr>
              <a:buSzPct val="45000"/>
              <a:buNone/>
            </a:pPr>
            <a:r>
              <a:rPr lang="en-US" sz="3200" b="1" u="none" strike="noStrike">
                <a:solidFill>
                  <a:srgbClr val="000000"/>
                </a:solidFill>
                <a:effectLst/>
                <a:uFillTx/>
                <a:latin typeface="Calibri-Bold"/>
                <a:ea typeface="Calibri-Bold"/>
              </a:rPr>
              <a:t>Observations &amp; Data</a:t>
            </a:r>
            <a:endParaRPr lang="en-US" sz="3200" b="0" u="none" strike="noStrike">
              <a:solidFill>
                <a:srgbClr val="000000"/>
              </a:solidFill>
              <a:effectLst/>
              <a:uFillTx/>
              <a:latin typeface="Arial"/>
            </a:endParaRPr>
          </a:p>
          <a:p>
            <a:pPr marL="417240" indent="-417240">
              <a:spcBef>
                <a:spcPts val="768"/>
              </a:spcBef>
              <a:buClr>
                <a:srgbClr val="000000"/>
              </a:buClr>
              <a:buSzPct val="45000"/>
              <a:buNone/>
            </a:pPr>
            <a:r>
              <a:rPr lang="en-US" sz="3200" b="1" u="none" strike="noStrike">
                <a:solidFill>
                  <a:srgbClr val="000000"/>
                </a:solidFill>
                <a:effectLst/>
                <a:uFillTx/>
                <a:latin typeface="Calibri-Bold"/>
                <a:ea typeface="Calibri-Bold"/>
              </a:rPr>
              <a:t>Conclusion</a:t>
            </a:r>
            <a:endParaRPr lang="en-US" sz="3200" b="0" u="none" strike="noStrike">
              <a:solidFill>
                <a:srgbClr val="000000"/>
              </a:solidFill>
              <a:effectLst/>
              <a:uFillTx/>
              <a:latin typeface="Arial"/>
            </a:endParaRPr>
          </a:p>
        </p:txBody>
      </p:sp>
      <p:pic>
        <p:nvPicPr>
          <p:cNvPr id="16" name=""/>
          <p:cNvPicPr/>
          <p:nvPr/>
        </p:nvPicPr>
        <p:blipFill>
          <a:blip r:embed="rId1"/>
          <a:stretch/>
        </p:blipFill>
        <p:spPr>
          <a:xfrm>
            <a:off x="5562720" y="2666880"/>
            <a:ext cx="2782800" cy="249084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 name=""/>
          <p:cNvSpPr txBox="1"/>
          <p:nvPr/>
        </p:nvSpPr>
        <p:spPr>
          <a:xfrm>
            <a:off x="457200" y="274680"/>
            <a:ext cx="8229600" cy="1143000"/>
          </a:xfrm>
          <a:prstGeom prst="rect">
            <a:avLst/>
          </a:prstGeom>
          <a:noFill/>
          <a:ln w="0">
            <a:noFill/>
          </a:ln>
        </p:spPr>
        <p:txBody>
          <a:bodyPr lIns="90000" tIns="45000" rIns="90000" bIns="45000" anchor="ctr">
            <a:normAutofit fontScale="92500" lnSpcReduction="9999"/>
          </a:bodyPr>
          <a:p>
            <a:pPr algn="ctr"/>
            <a:r>
              <a:rPr lang="en-US" sz="4400" b="1" u="none" strike="noStrike">
                <a:solidFill>
                  <a:srgbClr val="000000"/>
                </a:solidFill>
                <a:effectLst/>
                <a:uFillTx/>
                <a:latin typeface="Calibri-Bold"/>
                <a:ea typeface="Calibri-Bold"/>
              </a:rPr>
              <a:t>Title / Date / Lab Partners</a:t>
            </a:r>
            <a:endParaRPr lang="en-US" sz="4400" b="0" u="none" strike="noStrike">
              <a:solidFill>
                <a:srgbClr val="000000"/>
              </a:solidFill>
              <a:effectLst/>
              <a:uFillTx/>
              <a:latin typeface="Arial"/>
            </a:endParaRPr>
          </a:p>
        </p:txBody>
      </p:sp>
      <p:sp>
        <p:nvSpPr>
          <p:cNvPr id="18" name=""/>
          <p:cNvSpPr txBox="1"/>
          <p:nvPr/>
        </p:nvSpPr>
        <p:spPr>
          <a:xfrm>
            <a:off x="457200" y="1600200"/>
            <a:ext cx="8229600" cy="4525920"/>
          </a:xfrm>
          <a:prstGeom prst="rect">
            <a:avLst/>
          </a:prstGeom>
          <a:noFill/>
          <a:ln w="0">
            <a:noFill/>
          </a:ln>
        </p:spPr>
        <p:txBody>
          <a:bodyPr lIns="90000" tIns="45000" rIns="90000" bIns="45000" anchor="t">
            <a:normAutofit/>
          </a:bodyPr>
          <a:p>
            <a:pPr marL="417240" indent="-417240">
              <a:spcBef>
                <a:spcPts val="768"/>
              </a:spcBef>
              <a:buClr>
                <a:srgbClr val="000000"/>
              </a:buClr>
              <a:buSzPct val="45000"/>
              <a:buNone/>
            </a:pPr>
            <a:r>
              <a:rPr lang="en-US" sz="3200" b="0" u="none" strike="noStrike">
                <a:solidFill>
                  <a:srgbClr val="000000"/>
                </a:solidFill>
                <a:effectLst/>
                <a:uFillTx/>
                <a:latin typeface="Calibri"/>
                <a:ea typeface="Calibri"/>
              </a:rPr>
              <a:t>Title should clearly state what relationship is being investigated (the variables)</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
          <p:cNvSpPr txBox="1"/>
          <p:nvPr/>
        </p:nvSpPr>
        <p:spPr>
          <a:xfrm>
            <a:off x="457200" y="274680"/>
            <a:ext cx="8229600" cy="1143000"/>
          </a:xfrm>
          <a:prstGeom prst="rect">
            <a:avLst/>
          </a:prstGeom>
          <a:noFill/>
          <a:ln w="0">
            <a:noFill/>
          </a:ln>
        </p:spPr>
        <p:txBody>
          <a:bodyPr lIns="90000" tIns="45000" rIns="90000" bIns="45000" anchor="ctr">
            <a:normAutofit/>
          </a:bodyPr>
          <a:p>
            <a:pPr algn="ctr"/>
            <a:r>
              <a:rPr lang="en-US" sz="3900" b="1" u="none" strike="noStrike">
                <a:solidFill>
                  <a:srgbClr val="000000"/>
                </a:solidFill>
                <a:effectLst/>
                <a:uFillTx/>
                <a:latin typeface="Calibri-Bold"/>
                <a:ea typeface="Calibri-Bold"/>
              </a:rPr>
              <a:t>Introduction</a:t>
            </a:r>
            <a:r>
              <a:rPr lang="en-US" sz="3900" b="1" u="none" strike="noStrike">
                <a:solidFill>
                  <a:srgbClr val="000000"/>
                </a:solidFill>
                <a:effectLst/>
                <a:uFillTx/>
                <a:latin typeface="Calibri-Bold"/>
                <a:ea typeface="Calibri-Bold"/>
              </a:rPr>
              <a:t> </a:t>
            </a:r>
            <a:endParaRPr lang="en-US" sz="3900" b="0" u="none" strike="noStrike">
              <a:solidFill>
                <a:srgbClr val="000000"/>
              </a:solidFill>
              <a:effectLst/>
              <a:uFillTx/>
              <a:latin typeface="Arial"/>
            </a:endParaRPr>
          </a:p>
        </p:txBody>
      </p:sp>
      <p:sp>
        <p:nvSpPr>
          <p:cNvPr id="20" name=""/>
          <p:cNvSpPr txBox="1"/>
          <p:nvPr/>
        </p:nvSpPr>
        <p:spPr>
          <a:xfrm>
            <a:off x="457200" y="1600200"/>
            <a:ext cx="8229600" cy="4525920"/>
          </a:xfrm>
          <a:prstGeom prst="rect">
            <a:avLst/>
          </a:prstGeom>
          <a:noFill/>
          <a:ln w="0">
            <a:noFill/>
          </a:ln>
        </p:spPr>
        <p:txBody>
          <a:bodyPr lIns="90000" tIns="45000" rIns="90000" bIns="45000" anchor="t">
            <a:normAutofit/>
          </a:bodyPr>
          <a:p>
            <a:pPr marL="417240" indent="-417240">
              <a:spcBef>
                <a:spcPts val="768"/>
              </a:spcBef>
              <a:buClr>
                <a:srgbClr val="000000"/>
              </a:buClr>
              <a:buSzPct val="45000"/>
              <a:buNone/>
            </a:pPr>
            <a:r>
              <a:rPr lang="en-US" sz="3200" b="0" u="none" strike="noStrike">
                <a:solidFill>
                  <a:srgbClr val="000000"/>
                </a:solidFill>
                <a:effectLst/>
                <a:uFillTx/>
                <a:latin typeface="Calibri"/>
                <a:ea typeface="Calibri"/>
              </a:rPr>
              <a:t>Should be a general background of the topic, not too specific</a:t>
            </a:r>
            <a:r>
              <a:rPr lang="en-US" sz="3200" b="0" u="none" strike="noStrike">
                <a:solidFill>
                  <a:srgbClr val="000000"/>
                </a:solidFill>
                <a:effectLst/>
                <a:uFillTx/>
                <a:latin typeface="Calibri"/>
                <a:ea typeface="Calibri"/>
              </a:rPr>
              <a:t> </a:t>
            </a:r>
            <a:endParaRPr lang="en-US" sz="3200" b="0" u="none" strike="noStrike">
              <a:solidFill>
                <a:srgbClr val="000000"/>
              </a:solidFill>
              <a:effectLst/>
              <a:uFillTx/>
              <a:latin typeface="Arial"/>
            </a:endParaRPr>
          </a:p>
        </p:txBody>
      </p:sp>
      <p:pic>
        <p:nvPicPr>
          <p:cNvPr id="21" name=""/>
          <p:cNvPicPr/>
          <p:nvPr/>
        </p:nvPicPr>
        <p:blipFill>
          <a:blip r:embed="rId1"/>
          <a:stretch/>
        </p:blipFill>
        <p:spPr>
          <a:xfrm>
            <a:off x="1946160" y="4114800"/>
            <a:ext cx="5292720" cy="158112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 name=""/>
          <p:cNvSpPr txBox="1"/>
          <p:nvPr/>
        </p:nvSpPr>
        <p:spPr>
          <a:xfrm>
            <a:off x="457200" y="274680"/>
            <a:ext cx="8229600" cy="1143000"/>
          </a:xfrm>
          <a:prstGeom prst="rect">
            <a:avLst/>
          </a:prstGeom>
          <a:noFill/>
          <a:ln w="0">
            <a:noFill/>
          </a:ln>
        </p:spPr>
        <p:txBody>
          <a:bodyPr lIns="90000" tIns="45000" rIns="90000" bIns="45000" anchor="ctr">
            <a:normAutofit/>
          </a:bodyPr>
          <a:p>
            <a:pPr algn="ctr"/>
            <a:r>
              <a:rPr lang="en-US" sz="4400" b="1" u="none" strike="noStrike">
                <a:solidFill>
                  <a:srgbClr val="000000"/>
                </a:solidFill>
                <a:effectLst/>
                <a:uFillTx/>
                <a:latin typeface="Calibri-Bold"/>
                <a:ea typeface="Calibri-Bold"/>
              </a:rPr>
              <a:t>Purpose/Objective</a:t>
            </a:r>
            <a:endParaRPr lang="en-US" sz="4400" b="0" u="none" strike="noStrike">
              <a:solidFill>
                <a:srgbClr val="000000"/>
              </a:solidFill>
              <a:effectLst/>
              <a:uFillTx/>
              <a:latin typeface="Arial"/>
            </a:endParaRPr>
          </a:p>
        </p:txBody>
      </p:sp>
      <p:sp>
        <p:nvSpPr>
          <p:cNvPr id="23" name=""/>
          <p:cNvSpPr txBox="1"/>
          <p:nvPr/>
        </p:nvSpPr>
        <p:spPr>
          <a:xfrm>
            <a:off x="457200" y="1600200"/>
            <a:ext cx="8229600" cy="4525920"/>
          </a:xfrm>
          <a:prstGeom prst="rect">
            <a:avLst/>
          </a:prstGeom>
          <a:noFill/>
          <a:ln w="0">
            <a:noFill/>
          </a:ln>
        </p:spPr>
        <p:txBody>
          <a:bodyPr lIns="90000" tIns="45000" rIns="90000" bIns="45000" anchor="t">
            <a:normAutofit/>
          </a:bodyPr>
          <a:p>
            <a:pPr marL="417240" indent="-417240">
              <a:spcBef>
                <a:spcPts val="768"/>
              </a:spcBef>
              <a:buClr>
                <a:srgbClr val="000000"/>
              </a:buClr>
              <a:buSzPct val="45000"/>
              <a:buNone/>
            </a:pPr>
            <a:r>
              <a:rPr lang="en-US" sz="3200" b="0" u="none" strike="noStrike">
                <a:solidFill>
                  <a:srgbClr val="000000"/>
                </a:solidFill>
                <a:effectLst/>
                <a:uFillTx/>
                <a:latin typeface="Calibri"/>
                <a:ea typeface="Calibri"/>
              </a:rPr>
              <a:t>What are you going to learn? What is the reason for doing the experiment</a:t>
            </a:r>
            <a:r>
              <a:rPr lang="en-US" sz="3200" b="0" u="none" strike="noStrike">
                <a:solidFill>
                  <a:srgbClr val="000000"/>
                </a:solidFill>
                <a:effectLst/>
                <a:uFillTx/>
                <a:latin typeface="Calibri"/>
                <a:ea typeface="Calibri"/>
              </a:rPr>
              <a:t>?</a:t>
            </a:r>
            <a:endParaRPr lang="en-US" sz="3200" b="0" u="none" strike="noStrike">
              <a:solidFill>
                <a:srgbClr val="000000"/>
              </a:solidFill>
              <a:effectLst/>
              <a:uFillTx/>
              <a:latin typeface="Arial"/>
            </a:endParaRPr>
          </a:p>
          <a:p>
            <a:pPr marL="417240" indent="-417240">
              <a:spcBef>
                <a:spcPts val="768"/>
              </a:spcBef>
              <a:buClr>
                <a:srgbClr val="000000"/>
              </a:buClr>
              <a:buSzPct val="45000"/>
              <a:buNone/>
            </a:pPr>
            <a:r>
              <a:rPr lang="en-US" sz="3200" b="0" u="none" strike="noStrike">
                <a:solidFill>
                  <a:srgbClr val="000000"/>
                </a:solidFill>
                <a:effectLst/>
                <a:uFillTx/>
                <a:latin typeface="Calibri"/>
                <a:ea typeface="Calibri"/>
              </a:rPr>
              <a:t>What do you expect to gain through the experiment</a:t>
            </a:r>
            <a:r>
              <a:rPr lang="en-US" sz="3200" b="0" u="none" strike="noStrike">
                <a:solidFill>
                  <a:srgbClr val="000000"/>
                </a:solidFill>
                <a:effectLst/>
                <a:uFillTx/>
                <a:latin typeface="Calibri"/>
                <a:ea typeface="Calibri"/>
              </a:rPr>
              <a:t>?</a:t>
            </a:r>
            <a:endParaRPr lang="en-US" sz="3200" b="0" u="none" strike="noStrike">
              <a:solidFill>
                <a:srgbClr val="000000"/>
              </a:solidFill>
              <a:effectLst/>
              <a:uFillTx/>
              <a:latin typeface="Arial"/>
            </a:endParaRPr>
          </a:p>
          <a:p>
            <a:pPr marL="417240" indent="-417240">
              <a:spcBef>
                <a:spcPts val="768"/>
              </a:spcBef>
              <a:buClr>
                <a:srgbClr val="000000"/>
              </a:buClr>
              <a:buSzPct val="45000"/>
              <a:buNone/>
            </a:pPr>
            <a:r>
              <a:rPr lang="en-US" sz="3200" b="0" u="none" strike="noStrike">
                <a:solidFill>
                  <a:srgbClr val="000000"/>
                </a:solidFill>
                <a:effectLst/>
                <a:uFillTx/>
                <a:latin typeface="Calibri"/>
                <a:ea typeface="Calibri"/>
              </a:rPr>
              <a:t>This section should be specific topics relating to your lab</a:t>
            </a:r>
            <a:endParaRPr lang="en-US" sz="3200" b="0" u="none" strike="noStrike">
              <a:solidFill>
                <a:srgbClr val="000000"/>
              </a:solidFill>
              <a:effectLst/>
              <a:uFillTx/>
              <a:latin typeface="Arial"/>
            </a:endParaRPr>
          </a:p>
          <a:p>
            <a:pPr marL="417240" indent="-417240">
              <a:spcBef>
                <a:spcPts val="768"/>
              </a:spcBef>
              <a:buClr>
                <a:srgbClr val="000000"/>
              </a:buClr>
              <a:buSzPct val="45000"/>
              <a:buNone/>
            </a:pPr>
            <a:r>
              <a:rPr lang="en-US" sz="3200" b="0" u="none" strike="noStrike">
                <a:solidFill>
                  <a:srgbClr val="000000"/>
                </a:solidFill>
                <a:effectLst/>
                <a:uFillTx/>
                <a:latin typeface="Calibri"/>
                <a:ea typeface="Calibri"/>
              </a:rPr>
              <a:t>Never use the word “prove.” Better terms are: test, verify, investigate, confirm, support</a:t>
            </a:r>
            <a:r>
              <a:rPr lang="en-US" sz="3200" b="0" u="none" strike="noStrike">
                <a:solidFill>
                  <a:srgbClr val="000000"/>
                </a:solidFill>
                <a:effectLst/>
                <a:uFillTx/>
                <a:latin typeface="Calibri"/>
                <a:ea typeface="Calibri"/>
              </a:rPr>
              <a:t>.</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 name=""/>
          <p:cNvSpPr txBox="1"/>
          <p:nvPr/>
        </p:nvSpPr>
        <p:spPr>
          <a:xfrm>
            <a:off x="457200" y="274680"/>
            <a:ext cx="8229600" cy="1143000"/>
          </a:xfrm>
          <a:prstGeom prst="rect">
            <a:avLst/>
          </a:prstGeom>
          <a:noFill/>
          <a:ln w="0">
            <a:noFill/>
          </a:ln>
        </p:spPr>
        <p:txBody>
          <a:bodyPr lIns="90000" tIns="45000" rIns="90000" bIns="45000" anchor="ctr">
            <a:normAutofit/>
          </a:bodyPr>
          <a:p>
            <a:pPr algn="ctr"/>
            <a:r>
              <a:rPr lang="en-US" sz="4400" b="1" u="none" strike="noStrike">
                <a:solidFill>
                  <a:srgbClr val="000000"/>
                </a:solidFill>
                <a:effectLst/>
                <a:uFillTx/>
                <a:latin typeface="Calibri-Bold"/>
                <a:ea typeface="Calibri-Bold"/>
              </a:rPr>
              <a:t>Hypothesis</a:t>
            </a:r>
            <a:endParaRPr lang="en-US" sz="4400" b="0" u="none" strike="noStrike">
              <a:solidFill>
                <a:srgbClr val="000000"/>
              </a:solidFill>
              <a:effectLst/>
              <a:uFillTx/>
              <a:latin typeface="Arial"/>
            </a:endParaRPr>
          </a:p>
        </p:txBody>
      </p:sp>
      <p:sp>
        <p:nvSpPr>
          <p:cNvPr id="25" name=""/>
          <p:cNvSpPr txBox="1"/>
          <p:nvPr/>
        </p:nvSpPr>
        <p:spPr>
          <a:xfrm>
            <a:off x="457200" y="1600200"/>
            <a:ext cx="8229600" cy="4525920"/>
          </a:xfrm>
          <a:prstGeom prst="rect">
            <a:avLst/>
          </a:prstGeom>
          <a:noFill/>
          <a:ln w="0">
            <a:noFill/>
          </a:ln>
        </p:spPr>
        <p:txBody>
          <a:bodyPr lIns="90000" tIns="45000" rIns="90000" bIns="45000" anchor="t">
            <a:normAutofit/>
          </a:bodyPr>
          <a:p>
            <a:pPr marL="417240" indent="-417240">
              <a:spcBef>
                <a:spcPts val="768"/>
              </a:spcBef>
              <a:buClr>
                <a:srgbClr val="000000"/>
              </a:buClr>
              <a:buSzPct val="45000"/>
              <a:buNone/>
            </a:pPr>
            <a:r>
              <a:rPr lang="en-US" sz="3200" b="0" u="none" strike="noStrike">
                <a:solidFill>
                  <a:srgbClr val="000000"/>
                </a:solidFill>
                <a:effectLst/>
                <a:uFillTx/>
                <a:latin typeface="Calibri"/>
                <a:ea typeface="Calibri"/>
              </a:rPr>
              <a:t>If-then statement</a:t>
            </a:r>
            <a:endParaRPr lang="en-US" sz="3200" b="0" u="none" strike="noStrike">
              <a:solidFill>
                <a:srgbClr val="000000"/>
              </a:solidFill>
              <a:effectLst/>
              <a:uFillTx/>
              <a:latin typeface="Arial"/>
            </a:endParaRPr>
          </a:p>
          <a:p>
            <a:pPr marL="417240" indent="-417240">
              <a:spcBef>
                <a:spcPts val="768"/>
              </a:spcBef>
              <a:buClr>
                <a:srgbClr val="000000"/>
              </a:buClr>
              <a:buSzPct val="45000"/>
              <a:buNone/>
            </a:pPr>
            <a:r>
              <a:rPr lang="en-US" sz="3200" b="0" u="none" strike="noStrike">
                <a:solidFill>
                  <a:srgbClr val="000000"/>
                </a:solidFill>
                <a:effectLst/>
                <a:uFillTx/>
                <a:latin typeface="Calibri"/>
                <a:ea typeface="Calibri"/>
              </a:rPr>
              <a:t>What you expect the results to be</a:t>
            </a:r>
            <a:endParaRPr lang="en-US" sz="3200" b="0" u="none" strike="noStrike">
              <a:solidFill>
                <a:srgbClr val="000000"/>
              </a:solidFill>
              <a:effectLst/>
              <a:uFillTx/>
              <a:latin typeface="Arial"/>
            </a:endParaRPr>
          </a:p>
          <a:p>
            <a:pPr marL="417240" indent="-417240">
              <a:spcBef>
                <a:spcPts val="768"/>
              </a:spcBef>
              <a:buClr>
                <a:srgbClr val="000000"/>
              </a:buClr>
              <a:buSzPct val="45000"/>
              <a:buNone/>
            </a:pPr>
            <a:r>
              <a:rPr lang="en-US" sz="3200" b="0" u="none" strike="noStrike">
                <a:solidFill>
                  <a:srgbClr val="000000"/>
                </a:solidFill>
                <a:effectLst/>
                <a:uFillTx/>
                <a:latin typeface="Calibri"/>
                <a:ea typeface="Calibri"/>
              </a:rPr>
              <a:t>Clearly states how the variable will affect the outcome</a:t>
            </a:r>
            <a:endParaRPr lang="en-US" sz="3200" b="0" u="none" strike="noStrike">
              <a:solidFill>
                <a:srgbClr val="000000"/>
              </a:solidFill>
              <a:effectLst/>
              <a:uFillTx/>
              <a:latin typeface="Arial"/>
            </a:endParaRPr>
          </a:p>
          <a:p>
            <a:pPr marL="417240" indent="-417240">
              <a:spcBef>
                <a:spcPts val="768"/>
              </a:spcBef>
              <a:buClr>
                <a:srgbClr val="000000"/>
              </a:buClr>
              <a:buSzPct val="45000"/>
              <a:buNone/>
            </a:pPr>
            <a:r>
              <a:rPr lang="en-US" sz="3200" b="0" u="none" strike="noStrike">
                <a:solidFill>
                  <a:srgbClr val="000000"/>
                </a:solidFill>
                <a:effectLst/>
                <a:uFillTx/>
                <a:latin typeface="Calibri"/>
                <a:ea typeface="Calibri"/>
              </a:rPr>
              <a:t>It is testable</a:t>
            </a:r>
            <a:endParaRPr lang="en-US" sz="3200" b="0" u="none" strike="noStrike">
              <a:solidFill>
                <a:srgbClr val="000000"/>
              </a:solidFill>
              <a:effectLst/>
              <a:uFillTx/>
              <a:latin typeface="Arial"/>
            </a:endParaRPr>
          </a:p>
          <a:p>
            <a:pPr marL="417240" indent="-417240">
              <a:spcBef>
                <a:spcPts val="768"/>
              </a:spcBef>
              <a:buClr>
                <a:srgbClr val="000000"/>
              </a:buClr>
              <a:buSzPct val="45000"/>
              <a:buNone/>
            </a:pPr>
            <a:r>
              <a:rPr lang="en-US" sz="3200" b="0" u="none" strike="noStrike">
                <a:solidFill>
                  <a:srgbClr val="000000"/>
                </a:solidFill>
                <a:effectLst/>
                <a:uFillTx/>
                <a:latin typeface="Calibri"/>
                <a:ea typeface="Calibri"/>
              </a:rPr>
              <a:t>Identify your variables</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 name=""/>
          <p:cNvSpPr txBox="1"/>
          <p:nvPr/>
        </p:nvSpPr>
        <p:spPr>
          <a:xfrm>
            <a:off x="457200" y="274680"/>
            <a:ext cx="8229600" cy="1143000"/>
          </a:xfrm>
          <a:prstGeom prst="rect">
            <a:avLst/>
          </a:prstGeom>
          <a:noFill/>
          <a:ln w="0">
            <a:noFill/>
          </a:ln>
        </p:spPr>
        <p:txBody>
          <a:bodyPr lIns="90000" tIns="45000" rIns="90000" bIns="45000" anchor="ctr">
            <a:normAutofit/>
          </a:bodyPr>
          <a:p>
            <a:pPr algn="ctr"/>
            <a:r>
              <a:rPr lang="en-US" sz="4400" b="1" u="none" strike="noStrike">
                <a:solidFill>
                  <a:srgbClr val="000000"/>
                </a:solidFill>
                <a:effectLst/>
                <a:uFillTx/>
                <a:latin typeface="Calibri-Bold"/>
                <a:ea typeface="Calibri-Bold"/>
              </a:rPr>
              <a:t>Materials</a:t>
            </a:r>
            <a:endParaRPr lang="en-US" sz="4400" b="0" u="none" strike="noStrike">
              <a:solidFill>
                <a:srgbClr val="000000"/>
              </a:solidFill>
              <a:effectLst/>
              <a:uFillTx/>
              <a:latin typeface="Arial"/>
            </a:endParaRPr>
          </a:p>
        </p:txBody>
      </p:sp>
      <p:sp>
        <p:nvSpPr>
          <p:cNvPr id="27" name=""/>
          <p:cNvSpPr txBox="1"/>
          <p:nvPr/>
        </p:nvSpPr>
        <p:spPr>
          <a:xfrm>
            <a:off x="457200" y="1600200"/>
            <a:ext cx="8229600" cy="4525920"/>
          </a:xfrm>
          <a:prstGeom prst="rect">
            <a:avLst/>
          </a:prstGeom>
          <a:noFill/>
          <a:ln w="0">
            <a:noFill/>
          </a:ln>
        </p:spPr>
        <p:txBody>
          <a:bodyPr lIns="90000" tIns="45000" rIns="90000" bIns="45000" anchor="t">
            <a:normAutofit/>
          </a:bodyPr>
          <a:p>
            <a:pPr marL="417240" indent="-417240">
              <a:spcBef>
                <a:spcPts val="768"/>
              </a:spcBef>
              <a:buClr>
                <a:srgbClr val="000000"/>
              </a:buClr>
              <a:buSzPct val="45000"/>
              <a:buNone/>
            </a:pPr>
            <a:r>
              <a:rPr lang="en-US" sz="3200" b="0" u="none" strike="noStrike">
                <a:solidFill>
                  <a:srgbClr val="000000"/>
                </a:solidFill>
                <a:effectLst/>
                <a:uFillTx/>
                <a:latin typeface="Calibri"/>
                <a:ea typeface="Calibri"/>
              </a:rPr>
              <a:t>List all materials used in experiment</a:t>
            </a:r>
            <a:r>
              <a:rPr lang="en-US" sz="3200" b="0" u="none" strike="noStrike">
                <a:solidFill>
                  <a:srgbClr val="000000"/>
                </a:solidFill>
                <a:effectLst/>
                <a:uFillTx/>
                <a:latin typeface="Calibri"/>
                <a:ea typeface="Calibri"/>
              </a:rPr>
              <a:t> </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
          <p:cNvSpPr txBox="1"/>
          <p:nvPr/>
        </p:nvSpPr>
        <p:spPr>
          <a:xfrm>
            <a:off x="457200" y="274680"/>
            <a:ext cx="8229600" cy="1143000"/>
          </a:xfrm>
          <a:prstGeom prst="rect">
            <a:avLst/>
          </a:prstGeom>
          <a:noFill/>
          <a:ln w="0">
            <a:noFill/>
          </a:ln>
        </p:spPr>
        <p:txBody>
          <a:bodyPr lIns="90000" tIns="45000" rIns="90000" bIns="45000" anchor="ctr">
            <a:normAutofit/>
          </a:bodyPr>
          <a:p>
            <a:pPr algn="ctr"/>
            <a:r>
              <a:rPr lang="en-US" sz="4400" b="1" u="none" strike="noStrike">
                <a:solidFill>
                  <a:srgbClr val="000000"/>
                </a:solidFill>
                <a:effectLst/>
                <a:uFillTx/>
                <a:latin typeface="Calibri-Bold"/>
                <a:ea typeface="Calibri-Bold"/>
              </a:rPr>
              <a:t>Procedure</a:t>
            </a:r>
            <a:endParaRPr lang="en-US" sz="4400" b="0" u="none" strike="noStrike">
              <a:solidFill>
                <a:srgbClr val="000000"/>
              </a:solidFill>
              <a:effectLst/>
              <a:uFillTx/>
              <a:latin typeface="Arial"/>
            </a:endParaRPr>
          </a:p>
        </p:txBody>
      </p:sp>
      <p:sp>
        <p:nvSpPr>
          <p:cNvPr id="29" name=""/>
          <p:cNvSpPr txBox="1"/>
          <p:nvPr/>
        </p:nvSpPr>
        <p:spPr>
          <a:xfrm>
            <a:off x="457200" y="1600200"/>
            <a:ext cx="8229600" cy="4525920"/>
          </a:xfrm>
          <a:prstGeom prst="rect">
            <a:avLst/>
          </a:prstGeom>
          <a:noFill/>
          <a:ln w="0">
            <a:noFill/>
          </a:ln>
        </p:spPr>
        <p:txBody>
          <a:bodyPr lIns="90000" tIns="45000" rIns="90000" bIns="45000" anchor="t">
            <a:normAutofit/>
          </a:bodyPr>
          <a:p>
            <a:pPr marL="380160" indent="-380160">
              <a:spcBef>
                <a:spcPts val="697"/>
              </a:spcBef>
              <a:buClr>
                <a:srgbClr val="000000"/>
              </a:buClr>
              <a:buSzPct val="45000"/>
              <a:buNone/>
            </a:pPr>
            <a:r>
              <a:rPr lang="en-US" sz="2900" b="0" u="none" strike="noStrike">
                <a:solidFill>
                  <a:srgbClr val="000000"/>
                </a:solidFill>
                <a:effectLst/>
                <a:uFillTx/>
                <a:latin typeface="Calibri"/>
                <a:ea typeface="Calibri"/>
              </a:rPr>
              <a:t>Step-by-step experiment (1 ,2 ,3, etc.)</a:t>
            </a:r>
            <a:endParaRPr lang="en-US" sz="2900" b="0" u="none" strike="noStrike">
              <a:solidFill>
                <a:srgbClr val="000000"/>
              </a:solidFill>
              <a:effectLst/>
              <a:uFillTx/>
              <a:latin typeface="Arial"/>
            </a:endParaRPr>
          </a:p>
          <a:p>
            <a:pPr marL="380160" indent="-380160">
              <a:spcBef>
                <a:spcPts val="697"/>
              </a:spcBef>
              <a:buClr>
                <a:srgbClr val="000000"/>
              </a:buClr>
              <a:buSzPct val="45000"/>
              <a:buNone/>
            </a:pPr>
            <a:r>
              <a:rPr lang="en-US" sz="2900" b="0" u="none" strike="noStrike">
                <a:solidFill>
                  <a:srgbClr val="000000"/>
                </a:solidFill>
                <a:effectLst/>
                <a:uFillTx/>
                <a:latin typeface="Calibri"/>
                <a:ea typeface="Calibri"/>
              </a:rPr>
              <a:t>Be efficient (repeat similar steps at the same time)</a:t>
            </a:r>
            <a:endParaRPr lang="en-US" sz="2900" b="0" u="none" strike="noStrike">
              <a:solidFill>
                <a:srgbClr val="000000"/>
              </a:solidFill>
              <a:effectLst/>
              <a:uFillTx/>
              <a:latin typeface="Arial"/>
            </a:endParaRPr>
          </a:p>
          <a:p>
            <a:pPr marL="380160" indent="-380160">
              <a:spcBef>
                <a:spcPts val="697"/>
              </a:spcBef>
              <a:buClr>
                <a:srgbClr val="000000"/>
              </a:buClr>
              <a:buSzPct val="45000"/>
              <a:buNone/>
            </a:pPr>
            <a:r>
              <a:rPr lang="en-US" sz="2900" b="0" u="none" strike="noStrike">
                <a:solidFill>
                  <a:srgbClr val="000000"/>
                </a:solidFill>
                <a:effectLst/>
                <a:uFillTx/>
                <a:latin typeface="Calibri"/>
                <a:ea typeface="Calibri"/>
              </a:rPr>
              <a:t>Enough detail that someone else could replicate it – not you, not someone in your group, not your teacher, …some random person</a:t>
            </a:r>
            <a:endParaRPr lang="en-US" sz="2900" b="0" u="none" strike="noStrike">
              <a:solidFill>
                <a:srgbClr val="000000"/>
              </a:solidFill>
              <a:effectLst/>
              <a:uFillTx/>
              <a:latin typeface="Arial"/>
            </a:endParaRPr>
          </a:p>
          <a:p>
            <a:pPr marL="380160" indent="-380160">
              <a:spcBef>
                <a:spcPts val="697"/>
              </a:spcBef>
              <a:buClr>
                <a:srgbClr val="000000"/>
              </a:buClr>
              <a:buSzPct val="45000"/>
              <a:buNone/>
            </a:pPr>
            <a:r>
              <a:rPr lang="en-US" sz="2900" b="0" u="none" strike="noStrike">
                <a:solidFill>
                  <a:srgbClr val="000000"/>
                </a:solidFill>
                <a:effectLst/>
                <a:uFillTx/>
                <a:latin typeface="Calibri"/>
                <a:ea typeface="Calibri"/>
              </a:rPr>
              <a:t>Identify what you are measuring, what units to use, how to measure it and where to record your data</a:t>
            </a:r>
            <a:endParaRPr lang="en-US" sz="2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 name=""/>
          <p:cNvSpPr txBox="1"/>
          <p:nvPr/>
        </p:nvSpPr>
        <p:spPr>
          <a:xfrm>
            <a:off x="457200" y="274680"/>
            <a:ext cx="8229600" cy="1143000"/>
          </a:xfrm>
          <a:prstGeom prst="rect">
            <a:avLst/>
          </a:prstGeom>
          <a:noFill/>
          <a:ln w="0">
            <a:noFill/>
          </a:ln>
        </p:spPr>
        <p:txBody>
          <a:bodyPr lIns="90000" tIns="45000" rIns="90000" bIns="45000" anchor="ctr">
            <a:normAutofit/>
          </a:bodyPr>
          <a:p>
            <a:pPr algn="ctr"/>
            <a:r>
              <a:rPr lang="en-US" sz="4400" b="1" u="none" strike="noStrike">
                <a:solidFill>
                  <a:srgbClr val="000000"/>
                </a:solidFill>
                <a:effectLst/>
                <a:uFillTx/>
                <a:latin typeface="Calibri-Bold"/>
                <a:ea typeface="Calibri-Bold"/>
              </a:rPr>
              <a:t>Observations &amp; Data</a:t>
            </a:r>
            <a:endParaRPr lang="en-US" sz="4400" b="0" u="none" strike="noStrike">
              <a:solidFill>
                <a:srgbClr val="000000"/>
              </a:solidFill>
              <a:effectLst/>
              <a:uFillTx/>
              <a:latin typeface="Arial"/>
            </a:endParaRPr>
          </a:p>
        </p:txBody>
      </p:sp>
      <p:sp>
        <p:nvSpPr>
          <p:cNvPr id="31" name=""/>
          <p:cNvSpPr txBox="1"/>
          <p:nvPr/>
        </p:nvSpPr>
        <p:spPr>
          <a:xfrm>
            <a:off x="457200" y="1600200"/>
            <a:ext cx="8229600" cy="4525920"/>
          </a:xfrm>
          <a:prstGeom prst="rect">
            <a:avLst/>
          </a:prstGeom>
          <a:noFill/>
          <a:ln w="0">
            <a:noFill/>
          </a:ln>
        </p:spPr>
        <p:txBody>
          <a:bodyPr lIns="90000" tIns="45000" rIns="90000" bIns="45000" anchor="t">
            <a:normAutofit/>
          </a:bodyPr>
          <a:p>
            <a:pPr marL="380160" indent="-380160">
              <a:lnSpc>
                <a:spcPct val="90000"/>
              </a:lnSpc>
              <a:spcBef>
                <a:spcPts val="697"/>
              </a:spcBef>
              <a:buClr>
                <a:srgbClr val="000000"/>
              </a:buClr>
              <a:buSzPct val="45000"/>
              <a:buNone/>
            </a:pPr>
            <a:r>
              <a:rPr lang="en-US" sz="2900" b="0" u="none" strike="noStrike">
                <a:solidFill>
                  <a:srgbClr val="000000"/>
                </a:solidFill>
                <a:effectLst/>
                <a:uFillTx/>
                <a:latin typeface="Calibri"/>
                <a:ea typeface="Calibri"/>
              </a:rPr>
              <a:t>Qualitative (narrative / “words”) and quantitative (numerical / “numbers”) observations</a:t>
            </a:r>
            <a:endParaRPr lang="en-US" sz="2900" b="0" u="none" strike="noStrike">
              <a:solidFill>
                <a:srgbClr val="000000"/>
              </a:solidFill>
              <a:effectLst/>
              <a:uFillTx/>
              <a:latin typeface="Arial"/>
            </a:endParaRPr>
          </a:p>
          <a:p>
            <a:pPr marL="380160" indent="-380160">
              <a:lnSpc>
                <a:spcPct val="90000"/>
              </a:lnSpc>
              <a:spcBef>
                <a:spcPts val="697"/>
              </a:spcBef>
              <a:buClr>
                <a:srgbClr val="000000"/>
              </a:buClr>
              <a:buSzPct val="45000"/>
              <a:buNone/>
            </a:pPr>
            <a:r>
              <a:rPr lang="en-US" sz="2900" b="0" u="none" strike="noStrike">
                <a:solidFill>
                  <a:srgbClr val="000000"/>
                </a:solidFill>
                <a:effectLst/>
                <a:uFillTx/>
                <a:latin typeface="Calibri"/>
                <a:ea typeface="Calibri"/>
              </a:rPr>
              <a:t>Tables</a:t>
            </a:r>
            <a:endParaRPr lang="en-US" sz="2900" b="0" u="none" strike="noStrike">
              <a:solidFill>
                <a:srgbClr val="000000"/>
              </a:solidFill>
              <a:effectLst/>
              <a:uFillTx/>
              <a:latin typeface="Arial"/>
            </a:endParaRPr>
          </a:p>
          <a:p>
            <a:pPr marL="380160" indent="-380160">
              <a:lnSpc>
                <a:spcPct val="90000"/>
              </a:lnSpc>
              <a:spcBef>
                <a:spcPts val="697"/>
              </a:spcBef>
              <a:buClr>
                <a:srgbClr val="000000"/>
              </a:buClr>
              <a:buSzPct val="45000"/>
              <a:buNone/>
            </a:pPr>
            <a:r>
              <a:rPr lang="en-US" sz="2900" b="0" u="none" strike="noStrike">
                <a:solidFill>
                  <a:srgbClr val="000000"/>
                </a:solidFill>
                <a:effectLst/>
                <a:uFillTx/>
                <a:latin typeface="Calibri"/>
                <a:ea typeface="Calibri"/>
              </a:rPr>
              <a:t>Diagrams</a:t>
            </a:r>
            <a:endParaRPr lang="en-US" sz="2900" b="0" u="none" strike="noStrike">
              <a:solidFill>
                <a:srgbClr val="000000"/>
              </a:solidFill>
              <a:effectLst/>
              <a:uFillTx/>
              <a:latin typeface="Arial"/>
            </a:endParaRPr>
          </a:p>
          <a:p>
            <a:pPr marL="380160" indent="-380160">
              <a:lnSpc>
                <a:spcPct val="90000"/>
              </a:lnSpc>
              <a:spcBef>
                <a:spcPts val="697"/>
              </a:spcBef>
              <a:buClr>
                <a:srgbClr val="000000"/>
              </a:buClr>
              <a:buSzPct val="45000"/>
              <a:buNone/>
            </a:pPr>
            <a:r>
              <a:rPr lang="en-US" sz="2900" b="0" u="none" strike="noStrike">
                <a:solidFill>
                  <a:srgbClr val="000000"/>
                </a:solidFill>
                <a:effectLst/>
                <a:uFillTx/>
                <a:latin typeface="Calibri"/>
                <a:ea typeface="Calibri"/>
              </a:rPr>
              <a:t>Graphs: graphs must include title, labeled axes, including scale and units, and best-fit trendline (if appropriate) –CHOOSE THE CORRECT TYPE OF GRAPH</a:t>
            </a:r>
            <a:r>
              <a:rPr lang="en-US" sz="2900" b="0" u="none" strike="noStrike">
                <a:solidFill>
                  <a:srgbClr val="000000"/>
                </a:solidFill>
                <a:effectLst/>
                <a:uFillTx/>
                <a:latin typeface="Calibri"/>
                <a:ea typeface="Calibri"/>
              </a:rPr>
              <a:t>!</a:t>
            </a:r>
            <a:endParaRPr lang="en-US" sz="2900" b="0" u="none" strike="noStrike">
              <a:solidFill>
                <a:srgbClr val="000000"/>
              </a:solidFill>
              <a:effectLst/>
              <a:uFillTx/>
              <a:latin typeface="Arial"/>
            </a:endParaRPr>
          </a:p>
          <a:p>
            <a:pPr marL="380160" indent="-380160">
              <a:lnSpc>
                <a:spcPct val="90000"/>
              </a:lnSpc>
              <a:spcBef>
                <a:spcPts val="697"/>
              </a:spcBef>
              <a:buClr>
                <a:srgbClr val="000000"/>
              </a:buClr>
              <a:buSzPct val="45000"/>
              <a:buNone/>
            </a:pPr>
            <a:r>
              <a:rPr lang="en-US" sz="2900" b="0" u="none" strike="noStrike">
                <a:solidFill>
                  <a:srgbClr val="000000"/>
                </a:solidFill>
                <a:effectLst/>
                <a:uFillTx/>
                <a:latin typeface="Calibri"/>
                <a:ea typeface="Calibri"/>
              </a:rPr>
              <a:t>Calculations (shown, including equations used)</a:t>
            </a:r>
            <a:endParaRPr lang="en-US" sz="2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 name=""/>
          <p:cNvSpPr txBox="1"/>
          <p:nvPr/>
        </p:nvSpPr>
        <p:spPr>
          <a:xfrm>
            <a:off x="457200" y="274680"/>
            <a:ext cx="8229600" cy="1143000"/>
          </a:xfrm>
          <a:prstGeom prst="rect">
            <a:avLst/>
          </a:prstGeom>
          <a:noFill/>
          <a:ln w="0">
            <a:noFill/>
          </a:ln>
        </p:spPr>
        <p:txBody>
          <a:bodyPr lIns="90000" tIns="45000" rIns="90000" bIns="45000" anchor="ctr">
            <a:normAutofit/>
          </a:bodyPr>
          <a:p>
            <a:pPr algn="ctr"/>
            <a:r>
              <a:rPr lang="en-US" sz="4400" b="1" u="none" strike="noStrike">
                <a:solidFill>
                  <a:srgbClr val="000000"/>
                </a:solidFill>
                <a:effectLst/>
                <a:uFillTx/>
                <a:latin typeface="Calibri-Bold"/>
                <a:ea typeface="Calibri-Bold"/>
              </a:rPr>
              <a:t>Conclusion</a:t>
            </a:r>
            <a:endParaRPr lang="en-US" sz="4400" b="0" u="none" strike="noStrike">
              <a:solidFill>
                <a:srgbClr val="000000"/>
              </a:solidFill>
              <a:effectLst/>
              <a:uFillTx/>
              <a:latin typeface="Arial"/>
            </a:endParaRPr>
          </a:p>
        </p:txBody>
      </p:sp>
      <p:sp>
        <p:nvSpPr>
          <p:cNvPr id="33" name=""/>
          <p:cNvSpPr txBox="1"/>
          <p:nvPr/>
        </p:nvSpPr>
        <p:spPr>
          <a:xfrm>
            <a:off x="457200" y="1600200"/>
            <a:ext cx="8229600" cy="4525920"/>
          </a:xfrm>
          <a:prstGeom prst="rect">
            <a:avLst/>
          </a:prstGeom>
          <a:noFill/>
          <a:ln w="0">
            <a:noFill/>
          </a:ln>
        </p:spPr>
        <p:txBody>
          <a:bodyPr lIns="90000" tIns="45000" rIns="90000" bIns="45000" anchor="t">
            <a:normAutofit/>
          </a:bodyPr>
          <a:p>
            <a:pPr marL="355680" indent="-355680">
              <a:lnSpc>
                <a:spcPct val="80000"/>
              </a:lnSpc>
              <a:spcBef>
                <a:spcPts val="649"/>
              </a:spcBef>
              <a:buClr>
                <a:srgbClr val="000000"/>
              </a:buClr>
              <a:buSzPct val="45000"/>
              <a:buNone/>
            </a:pPr>
            <a:r>
              <a:rPr lang="en-US" sz="2700" b="0" u="none" strike="noStrike">
                <a:solidFill>
                  <a:srgbClr val="000000"/>
                </a:solidFill>
                <a:effectLst/>
                <a:uFillTx/>
                <a:latin typeface="Calibri"/>
                <a:ea typeface="Calibri"/>
              </a:rPr>
              <a:t>Summarize the experiment: what is the relationship/big picture that was discovered</a:t>
            </a:r>
            <a:r>
              <a:rPr lang="en-US" sz="2700" b="0" u="none" strike="noStrike">
                <a:solidFill>
                  <a:srgbClr val="000000"/>
                </a:solidFill>
                <a:effectLst/>
                <a:uFillTx/>
                <a:latin typeface="Calibri"/>
                <a:ea typeface="Calibri"/>
              </a:rPr>
              <a:t>?</a:t>
            </a:r>
            <a:endParaRPr lang="en-US" sz="2700" b="0" u="none" strike="noStrike">
              <a:solidFill>
                <a:srgbClr val="000000"/>
              </a:solidFill>
              <a:effectLst/>
              <a:uFillTx/>
              <a:latin typeface="Arial"/>
            </a:endParaRPr>
          </a:p>
          <a:p>
            <a:pPr marL="355680" indent="-355680">
              <a:lnSpc>
                <a:spcPct val="80000"/>
              </a:lnSpc>
              <a:spcBef>
                <a:spcPts val="649"/>
              </a:spcBef>
              <a:buClr>
                <a:srgbClr val="000000"/>
              </a:buClr>
              <a:buSzPct val="45000"/>
              <a:buNone/>
            </a:pPr>
            <a:r>
              <a:rPr lang="en-US" sz="2700" b="0" u="none" strike="noStrike">
                <a:solidFill>
                  <a:srgbClr val="000000"/>
                </a:solidFill>
                <a:effectLst/>
                <a:uFillTx/>
                <a:latin typeface="Calibri"/>
                <a:ea typeface="Calibri"/>
              </a:rPr>
              <a:t>Must state whether the experiment “supports” or “disproves” the hypothesis</a:t>
            </a:r>
            <a:endParaRPr lang="en-US" sz="2700" b="0" u="none" strike="noStrike">
              <a:solidFill>
                <a:srgbClr val="000000"/>
              </a:solidFill>
              <a:effectLst/>
              <a:uFillTx/>
              <a:latin typeface="Arial"/>
            </a:endParaRPr>
          </a:p>
          <a:p>
            <a:pPr marL="355680" indent="-355680">
              <a:lnSpc>
                <a:spcPct val="80000"/>
              </a:lnSpc>
              <a:spcBef>
                <a:spcPts val="649"/>
              </a:spcBef>
              <a:buClr>
                <a:srgbClr val="000000"/>
              </a:buClr>
              <a:buSzPct val="45000"/>
              <a:buNone/>
            </a:pPr>
            <a:r>
              <a:rPr lang="en-US" sz="2700" b="0" u="none" strike="noStrike">
                <a:solidFill>
                  <a:srgbClr val="000000"/>
                </a:solidFill>
                <a:effectLst/>
                <a:uFillTx/>
                <a:latin typeface="Calibri"/>
                <a:ea typeface="Calibri"/>
              </a:rPr>
              <a:t>Acknowledge any anomalous data, or deviations from what you expected</a:t>
            </a:r>
            <a:endParaRPr lang="en-US" sz="2700" b="0" u="none" strike="noStrike">
              <a:solidFill>
                <a:srgbClr val="000000"/>
              </a:solidFill>
              <a:effectLst/>
              <a:uFillTx/>
              <a:latin typeface="Arial"/>
            </a:endParaRPr>
          </a:p>
          <a:p>
            <a:pPr marL="355680" indent="-355680">
              <a:lnSpc>
                <a:spcPct val="80000"/>
              </a:lnSpc>
              <a:spcBef>
                <a:spcPts val="649"/>
              </a:spcBef>
              <a:buClr>
                <a:srgbClr val="000000"/>
              </a:buClr>
              <a:buSzPct val="45000"/>
              <a:buNone/>
            </a:pPr>
            <a:r>
              <a:rPr lang="en-US" sz="2700" b="0" u="none" strike="noStrike">
                <a:solidFill>
                  <a:srgbClr val="000000"/>
                </a:solidFill>
                <a:effectLst/>
                <a:uFillTx/>
                <a:latin typeface="Calibri"/>
                <a:ea typeface="Calibri"/>
              </a:rPr>
              <a:t>Must include possible sources of experimental error, calculation of percent error</a:t>
            </a:r>
            <a:endParaRPr lang="en-US" sz="2700" b="0" u="none" strike="noStrike">
              <a:solidFill>
                <a:srgbClr val="000000"/>
              </a:solidFill>
              <a:effectLst/>
              <a:uFillTx/>
              <a:latin typeface="Arial"/>
            </a:endParaRPr>
          </a:p>
          <a:p>
            <a:pPr marL="355680" indent="-355680">
              <a:lnSpc>
                <a:spcPct val="80000"/>
              </a:lnSpc>
              <a:spcBef>
                <a:spcPts val="649"/>
              </a:spcBef>
              <a:buClr>
                <a:srgbClr val="000000"/>
              </a:buClr>
              <a:buSzPct val="45000"/>
              <a:buNone/>
            </a:pPr>
            <a:r>
              <a:rPr lang="en-US" sz="2700" b="0" u="none" strike="noStrike">
                <a:solidFill>
                  <a:srgbClr val="000000"/>
                </a:solidFill>
                <a:effectLst/>
                <a:uFillTx/>
                <a:latin typeface="Calibri"/>
                <a:ea typeface="Calibri"/>
              </a:rPr>
              <a:t>The implications of all graphed data should be discussed - what does the graph show you</a:t>
            </a:r>
            <a:r>
              <a:rPr lang="en-US" sz="2700" b="0" u="none" strike="noStrike">
                <a:solidFill>
                  <a:srgbClr val="000000"/>
                </a:solidFill>
                <a:effectLst/>
                <a:uFillTx/>
                <a:latin typeface="Calibri"/>
                <a:ea typeface="Calibri"/>
              </a:rPr>
              <a:t>?</a:t>
            </a:r>
            <a:endParaRPr lang="en-US" sz="2700" b="0" u="none" strike="noStrike">
              <a:solidFill>
                <a:srgbClr val="000000"/>
              </a:solidFill>
              <a:effectLst/>
              <a:uFillTx/>
              <a:latin typeface="Arial"/>
            </a:endParaRPr>
          </a:p>
          <a:p>
            <a:pPr marL="355680" indent="-355680">
              <a:lnSpc>
                <a:spcPct val="80000"/>
              </a:lnSpc>
              <a:spcBef>
                <a:spcPts val="649"/>
              </a:spcBef>
              <a:buClr>
                <a:srgbClr val="000000"/>
              </a:buClr>
              <a:buSzPct val="45000"/>
              <a:buNone/>
            </a:pPr>
            <a:r>
              <a:rPr lang="en-US" sz="2700" b="0" u="none" strike="noStrike">
                <a:solidFill>
                  <a:srgbClr val="000000"/>
                </a:solidFill>
                <a:effectLst/>
                <a:uFillTx/>
                <a:latin typeface="Calibri"/>
                <a:ea typeface="Calibri"/>
              </a:rPr>
              <a:t>Suggestions for improving the experiment in the future - HOW you would fix it</a:t>
            </a:r>
            <a:endParaRPr lang="en-US" sz="2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
          <p:cNvSpPr txBox="1"/>
          <p:nvPr/>
        </p:nvSpPr>
        <p:spPr>
          <a:xfrm>
            <a:off x="457200" y="274680"/>
            <a:ext cx="8229600" cy="1143000"/>
          </a:xfrm>
          <a:prstGeom prst="rect">
            <a:avLst/>
          </a:prstGeom>
          <a:noFill/>
          <a:ln w="0">
            <a:noFill/>
          </a:ln>
        </p:spPr>
        <p:txBody>
          <a:bodyPr lIns="90000" tIns="45000" rIns="90000" bIns="45000" anchor="ctr">
            <a:normAutofit/>
          </a:bodyPr>
          <a:p>
            <a:pPr algn="ctr"/>
            <a:r>
              <a:rPr lang="en-US" sz="4400" b="1" u="none" strike="noStrike">
                <a:solidFill>
                  <a:srgbClr val="000000"/>
                </a:solidFill>
                <a:effectLst/>
                <a:uFillTx/>
                <a:latin typeface="Calibri-Bold"/>
                <a:ea typeface="Calibri-Bold"/>
              </a:rPr>
              <a:t>Oreo Lab Report</a:t>
            </a:r>
            <a:endParaRPr lang="en-US" sz="4400" b="0" u="none" strike="noStrike">
              <a:solidFill>
                <a:srgbClr val="000000"/>
              </a:solidFill>
              <a:effectLst/>
              <a:uFillTx/>
              <a:latin typeface="Arial"/>
            </a:endParaRPr>
          </a:p>
        </p:txBody>
      </p:sp>
      <p:sp>
        <p:nvSpPr>
          <p:cNvPr id="35" name=""/>
          <p:cNvSpPr txBox="1"/>
          <p:nvPr/>
        </p:nvSpPr>
        <p:spPr>
          <a:xfrm>
            <a:off x="457200" y="1600200"/>
            <a:ext cx="8229600" cy="4525920"/>
          </a:xfrm>
          <a:prstGeom prst="rect">
            <a:avLst/>
          </a:prstGeom>
          <a:noFill/>
          <a:ln w="0">
            <a:noFill/>
          </a:ln>
        </p:spPr>
        <p:txBody>
          <a:bodyPr lIns="90000" tIns="45000" rIns="90000" bIns="45000" anchor="t">
            <a:normAutofit/>
          </a:bodyPr>
          <a:p>
            <a:pPr marL="417240" indent="-417240">
              <a:spcBef>
                <a:spcPts val="768"/>
              </a:spcBef>
              <a:buClr>
                <a:srgbClr val="000000"/>
              </a:buClr>
              <a:buSzPct val="45000"/>
              <a:buNone/>
            </a:pPr>
            <a:r>
              <a:rPr lang="en-US" sz="3200" b="0" u="none" strike="noStrike">
                <a:solidFill>
                  <a:srgbClr val="000000"/>
                </a:solidFill>
                <a:effectLst/>
                <a:uFillTx/>
                <a:latin typeface="Calibri"/>
                <a:ea typeface="Calibri"/>
              </a:rPr>
              <a:t>In teams of three or four, you will use the scientific process to design and carry out a valid/reliable experiment to test</a:t>
            </a:r>
            <a:r>
              <a:rPr lang="en-US" sz="3200" b="0" u="none" strike="noStrike">
                <a:solidFill>
                  <a:srgbClr val="000000"/>
                </a:solidFill>
                <a:effectLst/>
                <a:uFillTx/>
                <a:latin typeface="Calibri"/>
                <a:ea typeface="Calibri"/>
              </a:rPr>
              <a:t>:</a:t>
            </a:r>
            <a:endParaRPr lang="en-US" sz="3200" b="0" u="none" strike="noStrike">
              <a:solidFill>
                <a:srgbClr val="000000"/>
              </a:solidFill>
              <a:effectLst/>
              <a:uFillTx/>
              <a:latin typeface="Arial"/>
            </a:endParaRPr>
          </a:p>
          <a:p>
            <a:pPr marL="822960" lvl="1" indent="-365760">
              <a:spcBef>
                <a:spcPts val="672"/>
              </a:spcBef>
              <a:buClr>
                <a:srgbClr val="000000"/>
              </a:buClr>
              <a:buSzPct val="45000"/>
              <a:buNone/>
            </a:pPr>
            <a:r>
              <a:rPr lang="en-US" sz="2800" b="0" u="none" strike="noStrike">
                <a:solidFill>
                  <a:srgbClr val="000000"/>
                </a:solidFill>
                <a:effectLst/>
                <a:uFillTx/>
                <a:latin typeface="Calibri"/>
                <a:ea typeface="Calibri"/>
              </a:rPr>
              <a:t>Do “Double Stuff Oreos” actually have twice the stuffing as regular Oreos</a:t>
            </a:r>
            <a:r>
              <a:rPr lang="en-US" sz="2800" b="0" u="none" strike="noStrike">
                <a:solidFill>
                  <a:srgbClr val="000000"/>
                </a:solidFill>
                <a:effectLst/>
                <a:uFillTx/>
                <a:latin typeface="Calibri"/>
                <a:ea typeface="Calibri"/>
              </a:rPr>
              <a:t>?</a:t>
            </a:r>
            <a:endParaRPr lang="en-US" sz="2800" b="0" u="none" strike="noStrike">
              <a:solidFill>
                <a:srgbClr val="000000"/>
              </a:solidFill>
              <a:effectLst/>
              <a:uFillTx/>
              <a:latin typeface="Arial"/>
            </a:endParaRPr>
          </a:p>
          <a:p>
            <a:pPr marL="822960" lvl="1" indent="-365760">
              <a:spcBef>
                <a:spcPts val="672"/>
              </a:spcBef>
              <a:buClr>
                <a:srgbClr val="000000"/>
              </a:buClr>
              <a:buSzPct val="45000"/>
              <a:buNone/>
            </a:pPr>
            <a:r>
              <a:rPr lang="en-US" sz="1800" b="0" u="none" strike="noStrike">
                <a:solidFill>
                  <a:srgbClr val="000000"/>
                </a:solidFill>
                <a:effectLst/>
                <a:uFillTx/>
                <a:latin typeface="Arial"/>
              </a:rPr>
              <a:t> </a:t>
            </a:r>
            <a:endParaRPr lang="en-US" sz="1800" b="0" u="none" strike="noStrike">
              <a:solidFill>
                <a:srgbClr val="000000"/>
              </a:solidFill>
              <a:effectLst/>
              <a:uFillTx/>
              <a:latin typeface="Arial"/>
            </a:endParaRPr>
          </a:p>
          <a:p>
            <a:pPr marL="822960" lvl="1" indent="-365760">
              <a:spcBef>
                <a:spcPts val="672"/>
              </a:spcBef>
              <a:buClr>
                <a:srgbClr val="000000"/>
              </a:buClr>
              <a:buSzPct val="45000"/>
              <a:buNone/>
            </a:pPr>
            <a:r>
              <a:rPr lang="en-US" sz="1800" b="0" u="none" strike="noStrike">
                <a:solidFill>
                  <a:srgbClr val="000000"/>
                </a:solidFill>
                <a:effectLst/>
                <a:uFillTx/>
                <a:latin typeface="Arial"/>
              </a:rPr>
              <a:t> </a:t>
            </a:r>
            <a:endParaRPr lang="en-US" sz="1800" b="0" u="none" strike="noStrike">
              <a:solidFill>
                <a:srgbClr val="000000"/>
              </a:solidFill>
              <a:effectLst/>
              <a:uFillTx/>
              <a:latin typeface="Arial"/>
            </a:endParaRPr>
          </a:p>
          <a:p>
            <a:pPr marL="822960" lvl="1" indent="-365760" algn="ctr">
              <a:spcBef>
                <a:spcPts val="1057"/>
              </a:spcBef>
              <a:buClr>
                <a:srgbClr val="000000"/>
              </a:buClr>
              <a:buSzPct val="45000"/>
              <a:buNone/>
            </a:pPr>
            <a:r>
              <a:rPr lang="en-US" sz="4400" b="1" u="none" strike="noStrike">
                <a:solidFill>
                  <a:srgbClr val="000000"/>
                </a:solidFill>
                <a:effectLst/>
                <a:uFillTx/>
                <a:latin typeface="Calibri-Bold"/>
                <a:ea typeface="Calibri-Bold"/>
              </a:rPr>
              <a:t>BREAK INTO GROUPS NOW</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 name=""/>
          <p:cNvSpPr txBox="1"/>
          <p:nvPr/>
        </p:nvSpPr>
        <p:spPr>
          <a:xfrm>
            <a:off x="457200" y="274680"/>
            <a:ext cx="8229600" cy="1143000"/>
          </a:xfrm>
          <a:prstGeom prst="rect">
            <a:avLst/>
          </a:prstGeom>
          <a:noFill/>
          <a:ln w="0">
            <a:noFill/>
          </a:ln>
        </p:spPr>
        <p:txBody>
          <a:bodyPr lIns="90000" tIns="45000" rIns="90000" bIns="45000" anchor="ctr">
            <a:normAutofit/>
          </a:bodyPr>
          <a:p>
            <a:pPr algn="ctr"/>
            <a:r>
              <a:rPr lang="en-US" sz="4400" b="1" u="none" strike="noStrike">
                <a:solidFill>
                  <a:srgbClr val="000000"/>
                </a:solidFill>
                <a:effectLst/>
                <a:uFillTx/>
                <a:latin typeface="Calibri-Bold"/>
                <a:ea typeface="Calibri-Bold"/>
              </a:rPr>
              <a:t>Oreo Lab Report</a:t>
            </a:r>
            <a:endParaRPr lang="en-US" sz="4400" b="0" u="none" strike="noStrike">
              <a:solidFill>
                <a:srgbClr val="000000"/>
              </a:solidFill>
              <a:effectLst/>
              <a:uFillTx/>
              <a:latin typeface="Arial"/>
            </a:endParaRPr>
          </a:p>
        </p:txBody>
      </p:sp>
      <p:sp>
        <p:nvSpPr>
          <p:cNvPr id="37" name=""/>
          <p:cNvSpPr txBox="1"/>
          <p:nvPr/>
        </p:nvSpPr>
        <p:spPr>
          <a:xfrm>
            <a:off x="457200" y="1600200"/>
            <a:ext cx="8229600" cy="5029200"/>
          </a:xfrm>
          <a:prstGeom prst="rect">
            <a:avLst/>
          </a:prstGeom>
          <a:noFill/>
          <a:ln w="0">
            <a:noFill/>
          </a:ln>
        </p:spPr>
        <p:txBody>
          <a:bodyPr lIns="90000" tIns="45000" rIns="90000" bIns="45000" anchor="t">
            <a:normAutofit/>
          </a:bodyPr>
          <a:p>
            <a:pPr marL="417240" indent="-417240">
              <a:spcBef>
                <a:spcPts val="768"/>
              </a:spcBef>
              <a:buClr>
                <a:srgbClr val="000000"/>
              </a:buClr>
              <a:buSzPct val="45000"/>
              <a:buNone/>
            </a:pPr>
            <a:r>
              <a:rPr lang="en-US" sz="3200" b="0" u="none" strike="noStrike">
                <a:solidFill>
                  <a:srgbClr val="000000"/>
                </a:solidFill>
                <a:effectLst/>
                <a:uFillTx/>
                <a:latin typeface="Calibri"/>
                <a:ea typeface="Calibri"/>
              </a:rPr>
              <a:t>One person from your group is to open the lab report template and share it with the members of your group, making sure everybody has the ability to edit</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
          <p:cNvSpPr txBox="1"/>
          <p:nvPr/>
        </p:nvSpPr>
        <p:spPr>
          <a:xfrm>
            <a:off x="457200" y="274680"/>
            <a:ext cx="8229600" cy="1143000"/>
          </a:xfrm>
          <a:prstGeom prst="rect">
            <a:avLst/>
          </a:prstGeom>
          <a:noFill/>
          <a:ln w="0">
            <a:noFill/>
          </a:ln>
        </p:spPr>
        <p:txBody>
          <a:bodyPr lIns="90000" tIns="45000" rIns="90000" bIns="45000" anchor="ctr">
            <a:normAutofit fontScale="85000" lnSpcReduction="9999"/>
          </a:bodyPr>
          <a:p>
            <a:pPr algn="ctr"/>
            <a:r>
              <a:rPr lang="en-US" sz="4400" b="1" u="none" strike="noStrike">
                <a:solidFill>
                  <a:srgbClr val="000000"/>
                </a:solidFill>
                <a:effectLst/>
                <a:uFillTx/>
                <a:latin typeface="Calibri-Bold"/>
                <a:ea typeface="Calibri-Bold"/>
              </a:rPr>
              <a:t>Oreo Lab Report - Hypothesis</a:t>
            </a:r>
            <a:endParaRPr lang="en-US" sz="4400" b="0" u="none" strike="noStrike">
              <a:solidFill>
                <a:srgbClr val="000000"/>
              </a:solidFill>
              <a:effectLst/>
              <a:uFillTx/>
              <a:latin typeface="Arial"/>
            </a:endParaRPr>
          </a:p>
        </p:txBody>
      </p:sp>
      <p:sp>
        <p:nvSpPr>
          <p:cNvPr id="39" name=""/>
          <p:cNvSpPr txBox="1"/>
          <p:nvPr/>
        </p:nvSpPr>
        <p:spPr>
          <a:xfrm>
            <a:off x="457200" y="1600200"/>
            <a:ext cx="8229600" cy="5029200"/>
          </a:xfrm>
          <a:prstGeom prst="rect">
            <a:avLst/>
          </a:prstGeom>
          <a:noFill/>
          <a:ln w="0">
            <a:noFill/>
          </a:ln>
        </p:spPr>
        <p:txBody>
          <a:bodyPr lIns="90000" tIns="45000" rIns="90000" bIns="45000" anchor="t">
            <a:normAutofit/>
          </a:bodyPr>
          <a:p>
            <a:pPr marL="318960" indent="-318960">
              <a:spcBef>
                <a:spcPts val="575"/>
              </a:spcBef>
              <a:buClr>
                <a:srgbClr val="000000"/>
              </a:buClr>
              <a:buSzPct val="45000"/>
              <a:buNone/>
            </a:pPr>
            <a:r>
              <a:rPr lang="en-US" sz="2400" b="0" u="none" strike="noStrike">
                <a:solidFill>
                  <a:srgbClr val="000000"/>
                </a:solidFill>
                <a:effectLst/>
                <a:uFillTx/>
                <a:latin typeface="Calibri"/>
                <a:ea typeface="Calibri"/>
              </a:rPr>
              <a:t>Does your group think there is twice as much icing in a Double Stuf (DS) Oreo as compared to a regular Oreo</a:t>
            </a:r>
            <a:r>
              <a:rPr lang="en-US" sz="2400" b="0" u="none" strike="noStrike">
                <a:solidFill>
                  <a:srgbClr val="000000"/>
                </a:solidFill>
                <a:effectLst/>
                <a:uFillTx/>
                <a:latin typeface="Calibri"/>
                <a:ea typeface="Calibri"/>
              </a:rPr>
              <a:t>?</a:t>
            </a:r>
            <a:endParaRPr lang="en-US" sz="2400" b="0" u="none" strike="noStrike">
              <a:solidFill>
                <a:srgbClr val="000000"/>
              </a:solidFill>
              <a:effectLst/>
              <a:uFillTx/>
              <a:latin typeface="Arial"/>
            </a:endParaRPr>
          </a:p>
          <a:p>
            <a:pPr marL="318960" indent="-318960">
              <a:spcBef>
                <a:spcPts val="575"/>
              </a:spcBef>
              <a:buClr>
                <a:srgbClr val="000000"/>
              </a:buClr>
              <a:buSzPct val="45000"/>
              <a:buNone/>
            </a:pPr>
            <a:r>
              <a:rPr lang="en-US" sz="2400" b="0" u="none" strike="noStrike">
                <a:solidFill>
                  <a:srgbClr val="000000"/>
                </a:solidFill>
                <a:effectLst/>
                <a:uFillTx/>
                <a:latin typeface="Calibri"/>
                <a:ea typeface="Calibri"/>
              </a:rPr>
              <a:t>Does your group think there is less than twice as much icing in a Double Stuf (DS) Oreo as compared to a regular Oreo</a:t>
            </a:r>
            <a:r>
              <a:rPr lang="en-US" sz="2400" b="0" u="none" strike="noStrike">
                <a:solidFill>
                  <a:srgbClr val="000000"/>
                </a:solidFill>
                <a:effectLst/>
                <a:uFillTx/>
                <a:latin typeface="Calibri"/>
                <a:ea typeface="Calibri"/>
              </a:rPr>
              <a:t>?</a:t>
            </a:r>
            <a:endParaRPr lang="en-US" sz="2400" b="0" u="none" strike="noStrike">
              <a:solidFill>
                <a:srgbClr val="000000"/>
              </a:solidFill>
              <a:effectLst/>
              <a:uFillTx/>
              <a:latin typeface="Arial"/>
            </a:endParaRPr>
          </a:p>
          <a:p>
            <a:pPr marL="318960" indent="-318960">
              <a:spcBef>
                <a:spcPts val="575"/>
              </a:spcBef>
              <a:buClr>
                <a:srgbClr val="000000"/>
              </a:buClr>
              <a:buSzPct val="45000"/>
              <a:buNone/>
            </a:pPr>
            <a:r>
              <a:rPr lang="en-US" sz="2400" b="0" u="none" strike="noStrike">
                <a:solidFill>
                  <a:srgbClr val="000000"/>
                </a:solidFill>
                <a:effectLst/>
                <a:uFillTx/>
                <a:latin typeface="Calibri"/>
                <a:ea typeface="Calibri"/>
              </a:rPr>
              <a:t>Does your group think there is more than twice as much icing in a Double Stuf (DS) Oreo as compared to a regular Oreo</a:t>
            </a:r>
            <a:r>
              <a:rPr lang="en-US" sz="2400" b="0" u="none" strike="noStrike">
                <a:solidFill>
                  <a:srgbClr val="000000"/>
                </a:solidFill>
                <a:effectLst/>
                <a:uFillTx/>
                <a:latin typeface="Calibri"/>
                <a:ea typeface="Calibri"/>
              </a:rPr>
              <a:t>?</a:t>
            </a:r>
            <a:endParaRPr lang="en-US" sz="2400" b="0" u="none" strike="noStrike">
              <a:solidFill>
                <a:srgbClr val="000000"/>
              </a:solidFill>
              <a:effectLst/>
              <a:uFillTx/>
              <a:latin typeface="Arial"/>
            </a:endParaRPr>
          </a:p>
          <a:p>
            <a:pPr marL="318960" indent="-318960">
              <a:spcBef>
                <a:spcPts val="575"/>
              </a:spcBef>
              <a:buClr>
                <a:srgbClr val="000000"/>
              </a:buClr>
              <a:buSzPct val="45000"/>
              <a:buNone/>
            </a:pPr>
            <a:r>
              <a:rPr lang="en-US" sz="2400" b="0" u="none" strike="noStrike">
                <a:solidFill>
                  <a:srgbClr val="000000"/>
                </a:solidFill>
                <a:effectLst/>
                <a:uFillTx/>
                <a:latin typeface="Calibri"/>
                <a:ea typeface="Calibri"/>
              </a:rPr>
              <a:t>Does your group think there is the same amount of icing in a regular and DS Oreo</a:t>
            </a:r>
            <a:r>
              <a:rPr lang="en-US" sz="2400" b="0" u="none" strike="noStrike">
                <a:solidFill>
                  <a:srgbClr val="000000"/>
                </a:solidFill>
                <a:effectLst/>
                <a:uFillTx/>
                <a:latin typeface="Calibri"/>
                <a:ea typeface="Calibri"/>
              </a:rPr>
              <a:t>?</a:t>
            </a:r>
            <a:endParaRPr lang="en-US" sz="2400" b="0" u="none" strike="noStrike">
              <a:solidFill>
                <a:srgbClr val="000000"/>
              </a:solidFill>
              <a:effectLst/>
              <a:uFillTx/>
              <a:latin typeface="Arial"/>
            </a:endParaRPr>
          </a:p>
          <a:p>
            <a:pPr marL="725400" lvl="1" indent="-268200">
              <a:spcBef>
                <a:spcPts val="672"/>
              </a:spcBef>
              <a:buClr>
                <a:srgbClr val="000000"/>
              </a:buClr>
              <a:buSzPct val="45000"/>
              <a:buNone/>
            </a:pPr>
            <a:r>
              <a:rPr lang="en-US" sz="1800" b="0" u="none" strike="noStrike">
                <a:solidFill>
                  <a:srgbClr val="000000"/>
                </a:solidFill>
                <a:effectLst/>
                <a:uFillTx/>
                <a:latin typeface="Arial"/>
              </a:rPr>
              <a:t> </a:t>
            </a:r>
            <a:endParaRPr lang="en-US" sz="1800" b="0" u="none" strike="noStrike">
              <a:solidFill>
                <a:srgbClr val="000000"/>
              </a:solidFill>
              <a:effectLst/>
              <a:uFillTx/>
              <a:latin typeface="Arial"/>
            </a:endParaRPr>
          </a:p>
          <a:p>
            <a:pPr marL="725400" lvl="1" indent="-268200">
              <a:spcBef>
                <a:spcPts val="575"/>
              </a:spcBef>
              <a:buClr>
                <a:srgbClr val="000000"/>
              </a:buClr>
              <a:buSzPct val="45000"/>
              <a:buNone/>
            </a:pPr>
            <a:r>
              <a:rPr lang="en-US" sz="2400" b="0" u="none" strike="noStrike">
                <a:solidFill>
                  <a:srgbClr val="000000"/>
                </a:solidFill>
                <a:effectLst/>
                <a:uFillTx/>
                <a:latin typeface="Calibri"/>
                <a:ea typeface="Calibri"/>
              </a:rPr>
              <a:t>If a DS Oreo has _________________ icing as a regular Oreo then the mass of the icing of a DS Oreo will be _____________than the mass of a regular Oreo</a:t>
            </a:r>
            <a:r>
              <a:rPr lang="en-US" sz="2400" b="0" u="none" strike="noStrike">
                <a:solidFill>
                  <a:srgbClr val="000000"/>
                </a:solidFill>
                <a:effectLst/>
                <a:uFillTx/>
                <a:latin typeface="Calibri"/>
                <a:ea typeface="Calibri"/>
              </a:rPr>
              <a:t>.</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
          <p:cNvSpPr txBox="1"/>
          <p:nvPr/>
        </p:nvSpPr>
        <p:spPr>
          <a:xfrm>
            <a:off x="457200" y="274680"/>
            <a:ext cx="8229600" cy="1143000"/>
          </a:xfrm>
          <a:prstGeom prst="rect">
            <a:avLst/>
          </a:prstGeom>
          <a:noFill/>
          <a:ln w="0">
            <a:noFill/>
          </a:ln>
        </p:spPr>
        <p:txBody>
          <a:bodyPr lIns="90000" tIns="45000" rIns="90000" bIns="45000" anchor="ctr">
            <a:normAutofit fontScale="85000" lnSpcReduction="9999"/>
          </a:bodyPr>
          <a:p>
            <a:pPr algn="ctr"/>
            <a:r>
              <a:rPr lang="en-US" sz="4400" b="1" u="none" strike="noStrike">
                <a:solidFill>
                  <a:srgbClr val="000000"/>
                </a:solidFill>
                <a:effectLst/>
                <a:uFillTx/>
                <a:latin typeface="Calibri-Bold"/>
                <a:ea typeface="Calibri-Bold"/>
              </a:rPr>
              <a:t>Oreo Lab Report - Materials</a:t>
            </a:r>
            <a:endParaRPr lang="en-US" sz="4400" b="0" u="none" strike="noStrike">
              <a:solidFill>
                <a:srgbClr val="000000"/>
              </a:solidFill>
              <a:effectLst/>
              <a:uFillTx/>
              <a:latin typeface="Arial"/>
            </a:endParaRPr>
          </a:p>
        </p:txBody>
      </p:sp>
      <p:sp>
        <p:nvSpPr>
          <p:cNvPr id="41" name=""/>
          <p:cNvSpPr txBox="1"/>
          <p:nvPr/>
        </p:nvSpPr>
        <p:spPr>
          <a:xfrm>
            <a:off x="457200" y="1600200"/>
            <a:ext cx="8229600" cy="5029200"/>
          </a:xfrm>
          <a:prstGeom prst="rect">
            <a:avLst/>
          </a:prstGeom>
          <a:noFill/>
          <a:ln w="0">
            <a:noFill/>
          </a:ln>
        </p:spPr>
        <p:txBody>
          <a:bodyPr lIns="90000" tIns="45000" rIns="90000" bIns="45000" anchor="t">
            <a:normAutofit/>
          </a:bodyPr>
          <a:p>
            <a:pPr marL="417240" indent="-417240">
              <a:spcBef>
                <a:spcPts val="768"/>
              </a:spcBef>
              <a:buClr>
                <a:srgbClr val="000000"/>
              </a:buClr>
              <a:buSzPct val="45000"/>
              <a:buNone/>
            </a:pPr>
            <a:r>
              <a:rPr lang="en-US" sz="3200" b="0" u="none" strike="noStrike">
                <a:solidFill>
                  <a:srgbClr val="000000"/>
                </a:solidFill>
                <a:effectLst/>
                <a:uFillTx/>
                <a:latin typeface="Calibri"/>
                <a:ea typeface="Calibri"/>
              </a:rPr>
              <a:t>Under “Materials” section, write the following</a:t>
            </a:r>
            <a:r>
              <a:rPr lang="en-US" sz="3200" b="0" u="none" strike="noStrike">
                <a:solidFill>
                  <a:srgbClr val="000000"/>
                </a:solidFill>
                <a:effectLst/>
                <a:uFillTx/>
                <a:latin typeface="Calibri"/>
                <a:ea typeface="Calibri"/>
              </a:rPr>
              <a:t>:</a:t>
            </a:r>
            <a:endParaRPr lang="en-US" sz="3200" b="0" u="none" strike="noStrike">
              <a:solidFill>
                <a:srgbClr val="000000"/>
              </a:solidFill>
              <a:effectLst/>
              <a:uFillTx/>
              <a:latin typeface="Arial"/>
            </a:endParaRPr>
          </a:p>
          <a:p>
            <a:pPr marL="822960" lvl="1" indent="-365760">
              <a:spcBef>
                <a:spcPts val="672"/>
              </a:spcBef>
              <a:buClr>
                <a:srgbClr val="000000"/>
              </a:buClr>
              <a:buSzPct val="45000"/>
              <a:buNone/>
            </a:pPr>
            <a:r>
              <a:rPr lang="en-US" sz="2800" b="0" u="none" strike="noStrike">
                <a:solidFill>
                  <a:srgbClr val="000000"/>
                </a:solidFill>
                <a:effectLst/>
                <a:uFillTx/>
                <a:latin typeface="Calibri"/>
                <a:ea typeface="Calibri"/>
              </a:rPr>
              <a:t>Triple Beam Balance</a:t>
            </a:r>
            <a:endParaRPr lang="en-US" sz="2800" b="0" u="none" strike="noStrike">
              <a:solidFill>
                <a:srgbClr val="000000"/>
              </a:solidFill>
              <a:effectLst/>
              <a:uFillTx/>
              <a:latin typeface="Arial"/>
            </a:endParaRPr>
          </a:p>
          <a:p>
            <a:pPr marL="822960" lvl="1" indent="-365760">
              <a:spcBef>
                <a:spcPts val="672"/>
              </a:spcBef>
              <a:buClr>
                <a:srgbClr val="000000"/>
              </a:buClr>
              <a:buSzPct val="45000"/>
              <a:buNone/>
            </a:pPr>
            <a:r>
              <a:rPr lang="en-US" sz="2800" b="0" u="none" strike="noStrike">
                <a:solidFill>
                  <a:srgbClr val="000000"/>
                </a:solidFill>
                <a:effectLst/>
                <a:uFillTx/>
                <a:latin typeface="Calibri"/>
                <a:ea typeface="Calibri"/>
              </a:rPr>
              <a:t>3</a:t>
            </a:r>
            <a:r>
              <a:rPr lang="en-US" sz="2800" b="0" u="none" strike="noStrike">
                <a:solidFill>
                  <a:srgbClr val="000000"/>
                </a:solidFill>
                <a:effectLst/>
                <a:uFillTx/>
                <a:latin typeface="Calibri"/>
                <a:ea typeface="Calibri"/>
              </a:rPr>
              <a:t> </a:t>
            </a:r>
            <a:r>
              <a:rPr lang="en-US" sz="2800" b="0" u="none" strike="noStrike">
                <a:solidFill>
                  <a:srgbClr val="000000"/>
                </a:solidFill>
                <a:effectLst/>
                <a:uFillTx/>
                <a:latin typeface="Calibri"/>
                <a:ea typeface="Calibri"/>
              </a:rPr>
              <a:t>Regular Oreos</a:t>
            </a:r>
            <a:endParaRPr lang="en-US" sz="2800" b="0" u="none" strike="noStrike">
              <a:solidFill>
                <a:srgbClr val="000000"/>
              </a:solidFill>
              <a:effectLst/>
              <a:uFillTx/>
              <a:latin typeface="Arial"/>
            </a:endParaRPr>
          </a:p>
          <a:p>
            <a:pPr marL="822960" lvl="1" indent="-365760">
              <a:spcBef>
                <a:spcPts val="672"/>
              </a:spcBef>
              <a:buClr>
                <a:srgbClr val="000000"/>
              </a:buClr>
              <a:buSzPct val="45000"/>
              <a:buNone/>
            </a:pPr>
            <a:r>
              <a:rPr lang="en-US" sz="2800" b="0" u="none" strike="noStrike">
                <a:solidFill>
                  <a:srgbClr val="000000"/>
                </a:solidFill>
                <a:effectLst/>
                <a:uFillTx/>
                <a:latin typeface="Calibri"/>
                <a:ea typeface="Calibri"/>
              </a:rPr>
              <a:t>3</a:t>
            </a:r>
            <a:r>
              <a:rPr lang="en-US" sz="2800" b="0" u="none" strike="noStrike">
                <a:solidFill>
                  <a:srgbClr val="000000"/>
                </a:solidFill>
                <a:effectLst/>
                <a:uFillTx/>
                <a:latin typeface="Calibri"/>
                <a:ea typeface="Calibri"/>
              </a:rPr>
              <a:t> </a:t>
            </a:r>
            <a:r>
              <a:rPr lang="en-US" sz="2800" b="0" u="none" strike="noStrike">
                <a:solidFill>
                  <a:srgbClr val="000000"/>
                </a:solidFill>
                <a:effectLst/>
                <a:uFillTx/>
                <a:latin typeface="Calibri"/>
                <a:ea typeface="Calibri"/>
              </a:rPr>
              <a:t>Double Stuff Oreos</a:t>
            </a:r>
            <a:endParaRPr lang="en-US" sz="2800" b="0" u="none" strike="noStrike">
              <a:solidFill>
                <a:srgbClr val="000000"/>
              </a:solidFill>
              <a:effectLst/>
              <a:uFillTx/>
              <a:latin typeface="Arial"/>
            </a:endParaRPr>
          </a:p>
          <a:p>
            <a:pPr marL="822960" lvl="1" indent="-365760">
              <a:spcBef>
                <a:spcPts val="672"/>
              </a:spcBef>
              <a:buClr>
                <a:srgbClr val="000000"/>
              </a:buClr>
              <a:buSzPct val="45000"/>
              <a:buNone/>
            </a:pPr>
            <a:r>
              <a:rPr lang="en-US" sz="2800" b="0" u="none" strike="noStrike">
                <a:solidFill>
                  <a:srgbClr val="000000"/>
                </a:solidFill>
                <a:effectLst/>
                <a:uFillTx/>
                <a:latin typeface="Calibri"/>
                <a:ea typeface="Calibri"/>
              </a:rPr>
              <a:t>1</a:t>
            </a:r>
            <a:r>
              <a:rPr lang="en-US" sz="2800" b="0" u="none" strike="noStrike">
                <a:solidFill>
                  <a:srgbClr val="000000"/>
                </a:solidFill>
                <a:effectLst/>
                <a:uFillTx/>
                <a:latin typeface="Calibri"/>
                <a:ea typeface="Calibri"/>
              </a:rPr>
              <a:t> </a:t>
            </a:r>
            <a:r>
              <a:rPr lang="en-US" sz="2800" b="0" u="none" strike="noStrike">
                <a:solidFill>
                  <a:srgbClr val="000000"/>
                </a:solidFill>
                <a:effectLst/>
                <a:uFillTx/>
                <a:latin typeface="Calibri"/>
                <a:ea typeface="Calibri"/>
              </a:rPr>
              <a:t>plastic knife</a:t>
            </a:r>
            <a:endParaRPr lang="en-US" sz="2800" b="0" u="none" strike="noStrike">
              <a:solidFill>
                <a:srgbClr val="000000"/>
              </a:solidFill>
              <a:effectLst/>
              <a:uFillTx/>
              <a:latin typeface="Arial"/>
            </a:endParaRPr>
          </a:p>
          <a:p>
            <a:pPr marL="822960" lvl="1" indent="-365760">
              <a:spcBef>
                <a:spcPts val="672"/>
              </a:spcBef>
              <a:buClr>
                <a:srgbClr val="000000"/>
              </a:buClr>
              <a:buSzPct val="45000"/>
              <a:buNone/>
            </a:pPr>
            <a:r>
              <a:rPr lang="en-US" sz="2800" b="0" u="none" strike="noStrike">
                <a:solidFill>
                  <a:srgbClr val="000000"/>
                </a:solidFill>
                <a:effectLst/>
                <a:uFillTx/>
                <a:latin typeface="Calibri"/>
                <a:ea typeface="Calibri"/>
              </a:rPr>
              <a:t>1</a:t>
            </a:r>
            <a:r>
              <a:rPr lang="en-US" sz="2800" b="0" u="none" strike="noStrike">
                <a:solidFill>
                  <a:srgbClr val="000000"/>
                </a:solidFill>
                <a:effectLst/>
                <a:uFillTx/>
                <a:latin typeface="Calibri"/>
                <a:ea typeface="Calibri"/>
              </a:rPr>
              <a:t> </a:t>
            </a:r>
            <a:r>
              <a:rPr lang="en-US" sz="2800" b="0" u="none" strike="noStrike">
                <a:solidFill>
                  <a:srgbClr val="000000"/>
                </a:solidFill>
                <a:effectLst/>
                <a:uFillTx/>
                <a:latin typeface="Calibri"/>
                <a:ea typeface="Calibri"/>
              </a:rPr>
              <a:t>paper plate</a:t>
            </a: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 name=""/>
          <p:cNvSpPr txBox="1"/>
          <p:nvPr/>
        </p:nvSpPr>
        <p:spPr>
          <a:xfrm>
            <a:off x="457200" y="274680"/>
            <a:ext cx="8229600" cy="1143000"/>
          </a:xfrm>
          <a:prstGeom prst="rect">
            <a:avLst/>
          </a:prstGeom>
          <a:noFill/>
          <a:ln w="0">
            <a:noFill/>
          </a:ln>
        </p:spPr>
        <p:txBody>
          <a:bodyPr lIns="90000" tIns="45000" rIns="90000" bIns="45000" anchor="ctr">
            <a:normAutofit fontScale="85000" lnSpcReduction="9999"/>
          </a:bodyPr>
          <a:p>
            <a:pPr algn="ctr"/>
            <a:r>
              <a:rPr lang="en-US" sz="4400" b="1" u="none" strike="noStrike">
                <a:solidFill>
                  <a:srgbClr val="000000"/>
                </a:solidFill>
                <a:effectLst/>
                <a:uFillTx/>
                <a:latin typeface="Calibri-Bold"/>
                <a:ea typeface="Calibri-Bold"/>
              </a:rPr>
              <a:t>Oreo Lab Report - Observations</a:t>
            </a:r>
            <a:endParaRPr lang="en-US" sz="4400" b="0" u="none" strike="noStrike">
              <a:solidFill>
                <a:srgbClr val="000000"/>
              </a:solidFill>
              <a:effectLst/>
              <a:uFillTx/>
              <a:latin typeface="Arial"/>
            </a:endParaRPr>
          </a:p>
        </p:txBody>
      </p:sp>
      <p:sp>
        <p:nvSpPr>
          <p:cNvPr id="43" name=""/>
          <p:cNvSpPr txBox="1"/>
          <p:nvPr/>
        </p:nvSpPr>
        <p:spPr>
          <a:xfrm>
            <a:off x="457200" y="1600200"/>
            <a:ext cx="8229600" cy="4724280"/>
          </a:xfrm>
          <a:prstGeom prst="rect">
            <a:avLst/>
          </a:prstGeom>
          <a:noFill/>
          <a:ln w="0">
            <a:noFill/>
          </a:ln>
        </p:spPr>
        <p:txBody>
          <a:bodyPr lIns="90000" tIns="45000" rIns="90000" bIns="45000" anchor="t">
            <a:normAutofit/>
          </a:bodyPr>
          <a:p>
            <a:pPr marL="318960" indent="-318960">
              <a:spcBef>
                <a:spcPts val="575"/>
              </a:spcBef>
              <a:buClr>
                <a:srgbClr val="000000"/>
              </a:buClr>
              <a:buSzPct val="45000"/>
              <a:buNone/>
            </a:pPr>
            <a:r>
              <a:rPr lang="en-US" sz="2400" b="0" u="none" strike="noStrike">
                <a:solidFill>
                  <a:srgbClr val="000000"/>
                </a:solidFill>
                <a:effectLst/>
                <a:uFillTx/>
                <a:latin typeface="Calibri"/>
                <a:ea typeface="Calibri"/>
              </a:rPr>
              <a:t>You are going to need to create some data tables to record your measurements and calculations</a:t>
            </a:r>
            <a:endParaRPr lang="en-US" sz="2400" b="0" u="none" strike="noStrike">
              <a:solidFill>
                <a:srgbClr val="000000"/>
              </a:solidFill>
              <a:effectLst/>
              <a:uFillTx/>
              <a:latin typeface="Arial"/>
            </a:endParaRPr>
          </a:p>
          <a:p>
            <a:pPr marL="318960" indent="-318960">
              <a:spcBef>
                <a:spcPts val="575"/>
              </a:spcBef>
              <a:buClr>
                <a:srgbClr val="000000"/>
              </a:buClr>
              <a:buSzPct val="45000"/>
              <a:buNone/>
            </a:pPr>
            <a:r>
              <a:rPr lang="en-US" sz="2400" b="0" u="none" strike="noStrike">
                <a:solidFill>
                  <a:srgbClr val="000000"/>
                </a:solidFill>
                <a:effectLst/>
                <a:uFillTx/>
                <a:latin typeface="Calibri"/>
                <a:ea typeface="Calibri"/>
              </a:rPr>
              <a:t>If you are finding the mass of the cookies, the mass of the wafers and then using them to find the mass of the icing, you will need 3 data tables</a:t>
            </a:r>
            <a:r>
              <a:rPr lang="en-US" sz="2400" b="0" u="none" strike="noStrike">
                <a:solidFill>
                  <a:srgbClr val="000000"/>
                </a:solidFill>
                <a:effectLst/>
                <a:uFillTx/>
                <a:latin typeface="Calibri"/>
                <a:ea typeface="Calibri"/>
              </a:rPr>
              <a:t>.</a:t>
            </a:r>
            <a:endParaRPr lang="en-US" sz="2400" b="0" u="none" strike="noStrike">
              <a:solidFill>
                <a:srgbClr val="000000"/>
              </a:solidFill>
              <a:effectLst/>
              <a:uFillTx/>
              <a:latin typeface="Arial"/>
            </a:endParaRPr>
          </a:p>
          <a:p>
            <a:pPr marL="318960" indent="-318960">
              <a:spcBef>
                <a:spcPts val="575"/>
              </a:spcBef>
              <a:buClr>
                <a:srgbClr val="000000"/>
              </a:buClr>
              <a:buSzPct val="45000"/>
              <a:buNone/>
            </a:pPr>
            <a:r>
              <a:rPr lang="en-US" sz="2400" b="0" u="none" strike="noStrike">
                <a:solidFill>
                  <a:srgbClr val="000000"/>
                </a:solidFill>
                <a:effectLst/>
                <a:uFillTx/>
                <a:latin typeface="Calibri"/>
                <a:ea typeface="Calibri"/>
              </a:rPr>
              <a:t>Follow the steps on the next 3 slides to create your data tables under the observations and data section of your lab report</a:t>
            </a:r>
            <a:r>
              <a:rPr lang="en-US" sz="2400" b="0" u="none" strike="noStrike">
                <a:solidFill>
                  <a:srgbClr val="000000"/>
                </a:solidFill>
                <a:effectLst/>
                <a:uFillTx/>
                <a:latin typeface="Calibri"/>
                <a:ea typeface="Calibri"/>
              </a:rPr>
              <a:t>.</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
          <p:cNvSpPr txBox="1"/>
          <p:nvPr/>
        </p:nvSpPr>
        <p:spPr>
          <a:xfrm>
            <a:off x="457200" y="274680"/>
            <a:ext cx="8229600" cy="1143000"/>
          </a:xfrm>
          <a:prstGeom prst="rect">
            <a:avLst/>
          </a:prstGeom>
          <a:noFill/>
          <a:ln w="0">
            <a:noFill/>
          </a:ln>
        </p:spPr>
        <p:txBody>
          <a:bodyPr lIns="90000" tIns="45000" rIns="90000" bIns="45000" anchor="ctr">
            <a:normAutofit fontScale="85000" lnSpcReduction="9999"/>
          </a:bodyPr>
          <a:p>
            <a:pPr algn="ctr"/>
            <a:r>
              <a:rPr lang="en-US" sz="4400" b="1" u="none" strike="noStrike">
                <a:solidFill>
                  <a:srgbClr val="000000"/>
                </a:solidFill>
                <a:effectLst/>
                <a:uFillTx/>
                <a:latin typeface="Calibri-Bold"/>
                <a:ea typeface="Calibri-Bold"/>
              </a:rPr>
              <a:t>Oreo Lab Report – Data Tables</a:t>
            </a:r>
            <a:endParaRPr lang="en-US" sz="4400" b="0" u="none" strike="noStrike">
              <a:solidFill>
                <a:srgbClr val="000000"/>
              </a:solidFill>
              <a:effectLst/>
              <a:uFillTx/>
              <a:latin typeface="Arial"/>
            </a:endParaRPr>
          </a:p>
        </p:txBody>
      </p:sp>
      <p:sp>
        <p:nvSpPr>
          <p:cNvPr id="45" name=""/>
          <p:cNvSpPr txBox="1"/>
          <p:nvPr/>
        </p:nvSpPr>
        <p:spPr>
          <a:xfrm>
            <a:off x="457200" y="1143000"/>
            <a:ext cx="8229600" cy="1219320"/>
          </a:xfrm>
          <a:prstGeom prst="rect">
            <a:avLst/>
          </a:prstGeom>
          <a:noFill/>
          <a:ln w="0">
            <a:noFill/>
          </a:ln>
        </p:spPr>
        <p:txBody>
          <a:bodyPr lIns="90000" tIns="45000" rIns="90000" bIns="45000" anchor="t">
            <a:normAutofit/>
          </a:bodyPr>
          <a:p>
            <a:pPr marL="318960" indent="-318960">
              <a:spcBef>
                <a:spcPts val="575"/>
              </a:spcBef>
              <a:buClr>
                <a:srgbClr val="000000"/>
              </a:buClr>
              <a:buSzPct val="45000"/>
              <a:buNone/>
            </a:pPr>
            <a:r>
              <a:rPr lang="en-US" sz="2400" b="0" u="none" strike="noStrike">
                <a:solidFill>
                  <a:srgbClr val="000000"/>
                </a:solidFill>
                <a:effectLst/>
                <a:uFillTx/>
                <a:latin typeface="Calibri"/>
                <a:ea typeface="Calibri"/>
              </a:rPr>
              <a:t>Create a 3 column by 5 row Data Table in “Observations” section to record the Oreo mass measurement</a:t>
            </a:r>
            <a:endParaRPr lang="en-US" sz="2400" b="0" u="none" strike="noStrike">
              <a:solidFill>
                <a:srgbClr val="000000"/>
              </a:solidFill>
              <a:effectLst/>
              <a:uFillTx/>
              <a:latin typeface="Arial"/>
            </a:endParaRPr>
          </a:p>
        </p:txBody>
      </p:sp>
      <p:sp>
        <p:nvSpPr>
          <p:cNvPr id="46" name=""/>
          <p:cNvSpPr txBox="1"/>
          <p:nvPr/>
        </p:nvSpPr>
        <p:spPr>
          <a:xfrm>
            <a:off x="502920" y="2895480"/>
            <a:ext cx="8138160" cy="609480"/>
          </a:xfrm>
          <a:prstGeom prst="rect">
            <a:avLst/>
          </a:prstGeom>
          <a:noFill/>
          <a:ln w="0">
            <a:noFill/>
          </a:ln>
        </p:spPr>
        <p:txBody>
          <a:bodyPr lIns="90000" tIns="45000" rIns="90000" bIns="45000" anchor="t">
            <a:normAutofit/>
          </a:bodyPr>
          <a:p>
            <a:pPr marL="318960" indent="-318960">
              <a:spcBef>
                <a:spcPts val="575"/>
              </a:spcBef>
              <a:buClr>
                <a:srgbClr val="000000"/>
              </a:buClr>
              <a:buSzPct val="45000"/>
              <a:buNone/>
            </a:pPr>
            <a:r>
              <a:rPr lang="en-US" sz="2400" b="0" u="none" strike="noStrike">
                <a:solidFill>
                  <a:srgbClr val="000000"/>
                </a:solidFill>
                <a:effectLst/>
                <a:uFillTx/>
                <a:latin typeface="Calibri"/>
                <a:ea typeface="Calibri"/>
              </a:rPr>
              <a:t>Merge the top three cells</a:t>
            </a:r>
            <a:endParaRPr lang="en-US" sz="2400" b="0" u="none" strike="noStrike">
              <a:solidFill>
                <a:srgbClr val="000000"/>
              </a:solidFill>
              <a:effectLst/>
              <a:uFillTx/>
              <a:latin typeface="Arial"/>
            </a:endParaRPr>
          </a:p>
        </p:txBody>
      </p:sp>
      <p:sp>
        <p:nvSpPr>
          <p:cNvPr id="47" name=""/>
          <p:cNvSpPr txBox="1"/>
          <p:nvPr/>
        </p:nvSpPr>
        <p:spPr>
          <a:xfrm>
            <a:off x="502920" y="4419720"/>
            <a:ext cx="8138160" cy="2133720"/>
          </a:xfrm>
          <a:prstGeom prst="rect">
            <a:avLst/>
          </a:prstGeom>
          <a:noFill/>
          <a:ln w="0">
            <a:noFill/>
          </a:ln>
        </p:spPr>
        <p:txBody>
          <a:bodyPr lIns="90000" tIns="45000" rIns="90000" bIns="45000" anchor="t">
            <a:normAutofit/>
          </a:bodyPr>
          <a:p>
            <a:pPr marL="318960" indent="-318960">
              <a:spcBef>
                <a:spcPts val="575"/>
              </a:spcBef>
              <a:buClr>
                <a:srgbClr val="000000"/>
              </a:buClr>
              <a:buSzPct val="45000"/>
              <a:buNone/>
            </a:pPr>
            <a:r>
              <a:rPr lang="en-US" sz="2400" b="0" u="none" strike="noStrike">
                <a:solidFill>
                  <a:srgbClr val="000000"/>
                </a:solidFill>
                <a:effectLst/>
                <a:uFillTx/>
                <a:latin typeface="Calibri"/>
                <a:ea typeface="Calibri"/>
              </a:rPr>
              <a:t>Label the cells as follows</a:t>
            </a:r>
            <a:r>
              <a:rPr lang="en-US" sz="2400" b="0" u="none" strike="noStrike">
                <a:solidFill>
                  <a:srgbClr val="000000"/>
                </a:solidFill>
                <a:effectLst/>
                <a:uFillTx/>
                <a:latin typeface="Calibri"/>
                <a:ea typeface="Calibri"/>
              </a:rPr>
              <a:t>:</a:t>
            </a:r>
            <a:endParaRPr lang="en-US" sz="2400" b="0" u="none" strike="noStrike">
              <a:solidFill>
                <a:srgbClr val="000000"/>
              </a:solidFill>
              <a:effectLst/>
              <a:uFillTx/>
              <a:latin typeface="Arial"/>
            </a:endParaRPr>
          </a:p>
        </p:txBody>
      </p:sp>
      <p:graphicFrame>
        <p:nvGraphicFramePr>
          <p:cNvPr id="48" name=""/>
          <p:cNvGraphicFramePr/>
          <p:nvPr/>
        </p:nvGraphicFramePr>
        <p:xfrm>
          <a:off x="1531800" y="1931760"/>
          <a:ext cx="6080760" cy="360"/>
        </p:xfrm>
        <a:graphic>
          <a:graphicData uri="http://schemas.openxmlformats.org/drawingml/2006/table">
            <a:tbl>
              <a:tblPr/>
              <a:tblGrid>
                <a:gridCol w="2026800"/>
                <a:gridCol w="2026800"/>
                <a:gridCol w="2027160"/>
              </a:tblGrid>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bl>
          </a:graphicData>
        </a:graphic>
      </p:graphicFrame>
      <p:graphicFrame>
        <p:nvGraphicFramePr>
          <p:cNvPr id="49" name=""/>
          <p:cNvGraphicFramePr/>
          <p:nvPr/>
        </p:nvGraphicFramePr>
        <p:xfrm>
          <a:off x="1531800" y="3381120"/>
          <a:ext cx="6080760" cy="360"/>
        </p:xfrm>
        <a:graphic>
          <a:graphicData uri="http://schemas.openxmlformats.org/drawingml/2006/table">
            <a:tbl>
              <a:tblPr/>
              <a:tblGrid>
                <a:gridCol w="2026800"/>
                <a:gridCol w="2026800"/>
                <a:gridCol w="2027160"/>
              </a:tblGrid>
              <a:tr h="32616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72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endParaRPr lang="en-US" sz="1800" b="0" u="none" strike="noStrike">
                        <a:solidFill>
                          <a:srgbClr val="000000"/>
                        </a:solidFill>
                        <a:effectLst/>
                        <a:uFillTx/>
                        <a:latin typeface="Arial"/>
                      </a:endParaRPr>
                    </a:p>
                  </a:txBody>
                  <a:tcPr anchor="t" marL="34920" marR="34920" marT="34920" marB="34920">
                    <a:lnL w="720">
                      <a:solidFill>
                        <a:srgbClr val="000000"/>
                      </a:solidFill>
                      <a:prstDash val="solid"/>
                    </a:lnL>
                    <a:lnR w="72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endParaRPr lang="en-US" sz="1800" b="0" u="none" strike="noStrike">
                        <a:solidFill>
                          <a:srgbClr val="000000"/>
                        </a:solidFill>
                        <a:effectLst/>
                        <a:uFillTx/>
                        <a:latin typeface="Arial"/>
                      </a:endParaRPr>
                    </a:p>
                  </a:txBody>
                  <a:tcPr anchor="t" marL="34920" marR="34920" marT="34920" marB="34920">
                    <a:lnL w="72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bl>
          </a:graphicData>
        </a:graphic>
      </p:graphicFrame>
      <p:graphicFrame>
        <p:nvGraphicFramePr>
          <p:cNvPr id="50" name=""/>
          <p:cNvGraphicFramePr/>
          <p:nvPr/>
        </p:nvGraphicFramePr>
        <p:xfrm>
          <a:off x="1531800" y="4903560"/>
          <a:ext cx="6080760" cy="360"/>
        </p:xfrm>
        <a:graphic>
          <a:graphicData uri="http://schemas.openxmlformats.org/drawingml/2006/table">
            <a:tbl>
              <a:tblPr/>
              <a:tblGrid>
                <a:gridCol w="2026800"/>
                <a:gridCol w="2026800"/>
                <a:gridCol w="2027160"/>
              </a:tblGrid>
              <a:tr h="326160">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Measured Mass of Oreos</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72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endParaRPr lang="en-US" sz="1800" b="0" u="none" strike="noStrike">
                        <a:solidFill>
                          <a:srgbClr val="000000"/>
                        </a:solidFill>
                        <a:effectLst/>
                        <a:uFillTx/>
                        <a:latin typeface="Arial"/>
                      </a:endParaRPr>
                    </a:p>
                  </a:txBody>
                  <a:tcPr anchor="t" marL="34920" marR="34920" marT="34920" marB="34920">
                    <a:lnL w="720">
                      <a:solidFill>
                        <a:srgbClr val="000000"/>
                      </a:solidFill>
                      <a:prstDash val="solid"/>
                    </a:lnL>
                    <a:lnR w="72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endParaRPr lang="en-US" sz="1800" b="0" u="none" strike="noStrike">
                        <a:solidFill>
                          <a:srgbClr val="000000"/>
                        </a:solidFill>
                        <a:effectLst/>
                        <a:uFillTx/>
                        <a:latin typeface="Arial"/>
                      </a:endParaRPr>
                    </a:p>
                  </a:txBody>
                  <a:tcPr anchor="t" marL="34920" marR="34920" marT="34920" marB="34920">
                    <a:lnL w="72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Oreo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Regular Oreo (g)</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Double Stuff Oreo (g)</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1</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2</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3</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 name=""/>
          <p:cNvSpPr txBox="1"/>
          <p:nvPr/>
        </p:nvSpPr>
        <p:spPr>
          <a:xfrm>
            <a:off x="457200" y="274680"/>
            <a:ext cx="8229600" cy="1143000"/>
          </a:xfrm>
          <a:prstGeom prst="rect">
            <a:avLst/>
          </a:prstGeom>
          <a:noFill/>
          <a:ln w="0">
            <a:noFill/>
          </a:ln>
        </p:spPr>
        <p:txBody>
          <a:bodyPr lIns="90000" tIns="45000" rIns="90000" bIns="45000" anchor="ctr">
            <a:normAutofit fontScale="85000" lnSpcReduction="9999"/>
          </a:bodyPr>
          <a:p>
            <a:pPr algn="ctr"/>
            <a:r>
              <a:rPr lang="en-US" sz="4400" b="1" u="none" strike="noStrike">
                <a:solidFill>
                  <a:srgbClr val="000000"/>
                </a:solidFill>
                <a:effectLst/>
                <a:uFillTx/>
                <a:latin typeface="Calibri-Bold"/>
                <a:ea typeface="Calibri-Bold"/>
              </a:rPr>
              <a:t>Oreo Lab Report – Data Tables</a:t>
            </a:r>
            <a:endParaRPr lang="en-US" sz="4400" b="0" u="none" strike="noStrike">
              <a:solidFill>
                <a:srgbClr val="000000"/>
              </a:solidFill>
              <a:effectLst/>
              <a:uFillTx/>
              <a:latin typeface="Arial"/>
            </a:endParaRPr>
          </a:p>
        </p:txBody>
      </p:sp>
      <p:sp>
        <p:nvSpPr>
          <p:cNvPr id="52" name=""/>
          <p:cNvSpPr txBox="1"/>
          <p:nvPr/>
        </p:nvSpPr>
        <p:spPr>
          <a:xfrm>
            <a:off x="457200" y="1143000"/>
            <a:ext cx="8229600" cy="1219320"/>
          </a:xfrm>
          <a:prstGeom prst="rect">
            <a:avLst/>
          </a:prstGeom>
          <a:noFill/>
          <a:ln w="0">
            <a:noFill/>
          </a:ln>
        </p:spPr>
        <p:txBody>
          <a:bodyPr lIns="90000" tIns="45000" rIns="90000" bIns="45000" anchor="t">
            <a:normAutofit/>
          </a:bodyPr>
          <a:p>
            <a:pPr marL="318960" indent="-318960">
              <a:spcBef>
                <a:spcPts val="575"/>
              </a:spcBef>
              <a:buClr>
                <a:srgbClr val="000000"/>
              </a:buClr>
              <a:buSzPct val="45000"/>
              <a:buNone/>
            </a:pPr>
            <a:r>
              <a:rPr lang="en-US" sz="2400" b="0" u="none" strike="noStrike">
                <a:solidFill>
                  <a:srgbClr val="000000"/>
                </a:solidFill>
                <a:effectLst/>
                <a:uFillTx/>
                <a:latin typeface="Calibri"/>
                <a:ea typeface="Calibri"/>
              </a:rPr>
              <a:t>Create a 3 column by 5 row Data Table in “Observations” section to record the Oreo wafer mass measurement</a:t>
            </a:r>
            <a:endParaRPr lang="en-US" sz="2400" b="0" u="none" strike="noStrike">
              <a:solidFill>
                <a:srgbClr val="000000"/>
              </a:solidFill>
              <a:effectLst/>
              <a:uFillTx/>
              <a:latin typeface="Arial"/>
            </a:endParaRPr>
          </a:p>
        </p:txBody>
      </p:sp>
      <p:sp>
        <p:nvSpPr>
          <p:cNvPr id="53" name=""/>
          <p:cNvSpPr txBox="1"/>
          <p:nvPr/>
        </p:nvSpPr>
        <p:spPr>
          <a:xfrm>
            <a:off x="502920" y="2895480"/>
            <a:ext cx="8138160" cy="609480"/>
          </a:xfrm>
          <a:prstGeom prst="rect">
            <a:avLst/>
          </a:prstGeom>
          <a:noFill/>
          <a:ln w="0">
            <a:noFill/>
          </a:ln>
        </p:spPr>
        <p:txBody>
          <a:bodyPr lIns="90000" tIns="45000" rIns="90000" bIns="45000" anchor="t">
            <a:normAutofit/>
          </a:bodyPr>
          <a:p>
            <a:pPr marL="318960" indent="-318960">
              <a:spcBef>
                <a:spcPts val="575"/>
              </a:spcBef>
              <a:buClr>
                <a:srgbClr val="000000"/>
              </a:buClr>
              <a:buSzPct val="45000"/>
              <a:buNone/>
            </a:pPr>
            <a:r>
              <a:rPr lang="en-US" sz="2400" b="0" u="none" strike="noStrike">
                <a:solidFill>
                  <a:srgbClr val="000000"/>
                </a:solidFill>
                <a:effectLst/>
                <a:uFillTx/>
                <a:latin typeface="Calibri"/>
                <a:ea typeface="Calibri"/>
              </a:rPr>
              <a:t>Merge the top three cells</a:t>
            </a:r>
            <a:endParaRPr lang="en-US" sz="2400" b="0" u="none" strike="noStrike">
              <a:solidFill>
                <a:srgbClr val="000000"/>
              </a:solidFill>
              <a:effectLst/>
              <a:uFillTx/>
              <a:latin typeface="Arial"/>
            </a:endParaRPr>
          </a:p>
        </p:txBody>
      </p:sp>
      <p:sp>
        <p:nvSpPr>
          <p:cNvPr id="54" name=""/>
          <p:cNvSpPr txBox="1"/>
          <p:nvPr/>
        </p:nvSpPr>
        <p:spPr>
          <a:xfrm>
            <a:off x="502920" y="4419720"/>
            <a:ext cx="8138160" cy="2133720"/>
          </a:xfrm>
          <a:prstGeom prst="rect">
            <a:avLst/>
          </a:prstGeom>
          <a:noFill/>
          <a:ln w="0">
            <a:noFill/>
          </a:ln>
        </p:spPr>
        <p:txBody>
          <a:bodyPr lIns="90000" tIns="45000" rIns="90000" bIns="45000" anchor="t">
            <a:normAutofit/>
          </a:bodyPr>
          <a:p>
            <a:pPr marL="318960" indent="-318960">
              <a:spcBef>
                <a:spcPts val="575"/>
              </a:spcBef>
              <a:buClr>
                <a:srgbClr val="000000"/>
              </a:buClr>
              <a:buSzPct val="45000"/>
              <a:buNone/>
            </a:pPr>
            <a:r>
              <a:rPr lang="en-US" sz="2400" b="0" u="none" strike="noStrike">
                <a:solidFill>
                  <a:srgbClr val="000000"/>
                </a:solidFill>
                <a:effectLst/>
                <a:uFillTx/>
                <a:latin typeface="Calibri"/>
                <a:ea typeface="Calibri"/>
              </a:rPr>
              <a:t>Label the cells as follows</a:t>
            </a:r>
            <a:r>
              <a:rPr lang="en-US" sz="2400" b="0" u="none" strike="noStrike">
                <a:solidFill>
                  <a:srgbClr val="000000"/>
                </a:solidFill>
                <a:effectLst/>
                <a:uFillTx/>
                <a:latin typeface="Calibri"/>
                <a:ea typeface="Calibri"/>
              </a:rPr>
              <a:t>:</a:t>
            </a:r>
            <a:endParaRPr lang="en-US" sz="2400" b="0" u="none" strike="noStrike">
              <a:solidFill>
                <a:srgbClr val="000000"/>
              </a:solidFill>
              <a:effectLst/>
              <a:uFillTx/>
              <a:latin typeface="Arial"/>
            </a:endParaRPr>
          </a:p>
        </p:txBody>
      </p:sp>
      <p:graphicFrame>
        <p:nvGraphicFramePr>
          <p:cNvPr id="55" name=""/>
          <p:cNvGraphicFramePr/>
          <p:nvPr/>
        </p:nvGraphicFramePr>
        <p:xfrm>
          <a:off x="1531800" y="1931760"/>
          <a:ext cx="6080760" cy="360"/>
        </p:xfrm>
        <a:graphic>
          <a:graphicData uri="http://schemas.openxmlformats.org/drawingml/2006/table">
            <a:tbl>
              <a:tblPr/>
              <a:tblGrid>
                <a:gridCol w="2026800"/>
                <a:gridCol w="2026800"/>
                <a:gridCol w="2027160"/>
              </a:tblGrid>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bl>
          </a:graphicData>
        </a:graphic>
      </p:graphicFrame>
      <p:graphicFrame>
        <p:nvGraphicFramePr>
          <p:cNvPr id="56" name=""/>
          <p:cNvGraphicFramePr/>
          <p:nvPr/>
        </p:nvGraphicFramePr>
        <p:xfrm>
          <a:off x="1531800" y="3381120"/>
          <a:ext cx="6080760" cy="360"/>
        </p:xfrm>
        <a:graphic>
          <a:graphicData uri="http://schemas.openxmlformats.org/drawingml/2006/table">
            <a:tbl>
              <a:tblPr/>
              <a:tblGrid>
                <a:gridCol w="2026800"/>
                <a:gridCol w="2026800"/>
                <a:gridCol w="2027160"/>
              </a:tblGrid>
              <a:tr h="32616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72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endParaRPr lang="en-US" sz="1800" b="0" u="none" strike="noStrike">
                        <a:solidFill>
                          <a:srgbClr val="000000"/>
                        </a:solidFill>
                        <a:effectLst/>
                        <a:uFillTx/>
                        <a:latin typeface="Arial"/>
                      </a:endParaRPr>
                    </a:p>
                  </a:txBody>
                  <a:tcPr anchor="t" marL="34920" marR="34920" marT="34920" marB="34920">
                    <a:lnL w="720">
                      <a:solidFill>
                        <a:srgbClr val="000000"/>
                      </a:solidFill>
                      <a:prstDash val="solid"/>
                    </a:lnL>
                    <a:lnR w="72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endParaRPr lang="en-US" sz="1800" b="0" u="none" strike="noStrike">
                        <a:solidFill>
                          <a:srgbClr val="000000"/>
                        </a:solidFill>
                        <a:effectLst/>
                        <a:uFillTx/>
                        <a:latin typeface="Arial"/>
                      </a:endParaRPr>
                    </a:p>
                  </a:txBody>
                  <a:tcPr anchor="t" marL="34920" marR="34920" marT="34920" marB="34920">
                    <a:lnL w="72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bl>
          </a:graphicData>
        </a:graphic>
      </p:graphicFrame>
      <p:graphicFrame>
        <p:nvGraphicFramePr>
          <p:cNvPr id="57" name=""/>
          <p:cNvGraphicFramePr/>
          <p:nvPr/>
        </p:nvGraphicFramePr>
        <p:xfrm>
          <a:off x="1531800" y="4903560"/>
          <a:ext cx="6080760" cy="360"/>
        </p:xfrm>
        <a:graphic>
          <a:graphicData uri="http://schemas.openxmlformats.org/drawingml/2006/table">
            <a:tbl>
              <a:tblPr/>
              <a:tblGrid>
                <a:gridCol w="2026800"/>
                <a:gridCol w="2026800"/>
                <a:gridCol w="2027160"/>
              </a:tblGrid>
              <a:tr h="326160">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Measured Mass of Oreo Wafers</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72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endParaRPr lang="en-US" sz="1800" b="0" u="none" strike="noStrike">
                        <a:solidFill>
                          <a:srgbClr val="000000"/>
                        </a:solidFill>
                        <a:effectLst/>
                        <a:uFillTx/>
                        <a:latin typeface="Arial"/>
                      </a:endParaRPr>
                    </a:p>
                  </a:txBody>
                  <a:tcPr anchor="t" marL="34920" marR="34920" marT="34920" marB="34920">
                    <a:lnL w="720">
                      <a:solidFill>
                        <a:srgbClr val="000000"/>
                      </a:solidFill>
                      <a:prstDash val="solid"/>
                    </a:lnL>
                    <a:lnR w="72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endParaRPr lang="en-US" sz="1800" b="0" u="none" strike="noStrike">
                        <a:solidFill>
                          <a:srgbClr val="000000"/>
                        </a:solidFill>
                        <a:effectLst/>
                        <a:uFillTx/>
                        <a:latin typeface="Arial"/>
                      </a:endParaRPr>
                    </a:p>
                  </a:txBody>
                  <a:tcPr anchor="t" marL="34920" marR="34920" marT="34920" marB="34920">
                    <a:lnL w="72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Oreo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Regular Oreo (g)</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Double Stuff Oreo (g)</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1</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2</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3</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 name=""/>
          <p:cNvSpPr txBox="1"/>
          <p:nvPr/>
        </p:nvSpPr>
        <p:spPr>
          <a:xfrm>
            <a:off x="457200" y="274680"/>
            <a:ext cx="8229600" cy="1143000"/>
          </a:xfrm>
          <a:prstGeom prst="rect">
            <a:avLst/>
          </a:prstGeom>
          <a:noFill/>
          <a:ln w="0">
            <a:noFill/>
          </a:ln>
        </p:spPr>
        <p:txBody>
          <a:bodyPr lIns="90000" tIns="45000" rIns="90000" bIns="45000" anchor="ctr">
            <a:normAutofit fontScale="85000" lnSpcReduction="9999"/>
          </a:bodyPr>
          <a:p>
            <a:pPr algn="ctr"/>
            <a:r>
              <a:rPr lang="en-US" sz="4400" b="1" u="none" strike="noStrike">
                <a:solidFill>
                  <a:srgbClr val="000000"/>
                </a:solidFill>
                <a:effectLst/>
                <a:uFillTx/>
                <a:latin typeface="Calibri-Bold"/>
                <a:ea typeface="Calibri-Bold"/>
              </a:rPr>
              <a:t>Oreo Lab Report – Data Tables</a:t>
            </a:r>
            <a:endParaRPr lang="en-US" sz="4400" b="0" u="none" strike="noStrike">
              <a:solidFill>
                <a:srgbClr val="000000"/>
              </a:solidFill>
              <a:effectLst/>
              <a:uFillTx/>
              <a:latin typeface="Arial"/>
            </a:endParaRPr>
          </a:p>
        </p:txBody>
      </p:sp>
      <p:sp>
        <p:nvSpPr>
          <p:cNvPr id="59" name=""/>
          <p:cNvSpPr txBox="1"/>
          <p:nvPr/>
        </p:nvSpPr>
        <p:spPr>
          <a:xfrm>
            <a:off x="457200" y="1143000"/>
            <a:ext cx="8229600" cy="1219320"/>
          </a:xfrm>
          <a:prstGeom prst="rect">
            <a:avLst/>
          </a:prstGeom>
          <a:noFill/>
          <a:ln w="0">
            <a:noFill/>
          </a:ln>
        </p:spPr>
        <p:txBody>
          <a:bodyPr lIns="90000" tIns="45000" rIns="90000" bIns="45000" anchor="t">
            <a:normAutofit/>
          </a:bodyPr>
          <a:p>
            <a:pPr marL="318960" indent="-318960">
              <a:spcBef>
                <a:spcPts val="575"/>
              </a:spcBef>
              <a:buClr>
                <a:srgbClr val="000000"/>
              </a:buClr>
              <a:buSzPct val="45000"/>
              <a:buNone/>
            </a:pPr>
            <a:r>
              <a:rPr lang="en-US" sz="2400" b="0" u="none" strike="noStrike">
                <a:solidFill>
                  <a:srgbClr val="000000"/>
                </a:solidFill>
                <a:effectLst/>
                <a:uFillTx/>
                <a:latin typeface="Calibri"/>
                <a:ea typeface="Calibri"/>
              </a:rPr>
              <a:t>Create a 3 column by 6 row Data Table in “Observations” section to record the Oreo icing mass calculations</a:t>
            </a:r>
            <a:endParaRPr lang="en-US" sz="2400" b="0" u="none" strike="noStrike">
              <a:solidFill>
                <a:srgbClr val="000000"/>
              </a:solidFill>
              <a:effectLst/>
              <a:uFillTx/>
              <a:latin typeface="Arial"/>
            </a:endParaRPr>
          </a:p>
        </p:txBody>
      </p:sp>
      <p:sp>
        <p:nvSpPr>
          <p:cNvPr id="60" name=""/>
          <p:cNvSpPr txBox="1"/>
          <p:nvPr/>
        </p:nvSpPr>
        <p:spPr>
          <a:xfrm>
            <a:off x="502920" y="3200400"/>
            <a:ext cx="8138160" cy="609480"/>
          </a:xfrm>
          <a:prstGeom prst="rect">
            <a:avLst/>
          </a:prstGeom>
          <a:noFill/>
          <a:ln w="0">
            <a:noFill/>
          </a:ln>
        </p:spPr>
        <p:txBody>
          <a:bodyPr lIns="90000" tIns="45000" rIns="90000" bIns="45000" anchor="t">
            <a:normAutofit/>
          </a:bodyPr>
          <a:p>
            <a:pPr marL="318960" indent="-318960">
              <a:spcBef>
                <a:spcPts val="575"/>
              </a:spcBef>
              <a:buClr>
                <a:srgbClr val="000000"/>
              </a:buClr>
              <a:buSzPct val="45000"/>
              <a:buNone/>
            </a:pPr>
            <a:r>
              <a:rPr lang="en-US" sz="2400" b="0" u="none" strike="noStrike">
                <a:solidFill>
                  <a:srgbClr val="000000"/>
                </a:solidFill>
                <a:effectLst/>
                <a:uFillTx/>
                <a:latin typeface="Calibri"/>
                <a:ea typeface="Calibri"/>
              </a:rPr>
              <a:t>Merge the top three cells</a:t>
            </a:r>
            <a:endParaRPr lang="en-US" sz="2400" b="0" u="none" strike="noStrike">
              <a:solidFill>
                <a:srgbClr val="000000"/>
              </a:solidFill>
              <a:effectLst/>
              <a:uFillTx/>
              <a:latin typeface="Arial"/>
            </a:endParaRPr>
          </a:p>
        </p:txBody>
      </p:sp>
      <p:sp>
        <p:nvSpPr>
          <p:cNvPr id="61" name=""/>
          <p:cNvSpPr txBox="1"/>
          <p:nvPr/>
        </p:nvSpPr>
        <p:spPr>
          <a:xfrm>
            <a:off x="502920" y="4800600"/>
            <a:ext cx="8138160" cy="685800"/>
          </a:xfrm>
          <a:prstGeom prst="rect">
            <a:avLst/>
          </a:prstGeom>
          <a:noFill/>
          <a:ln w="0">
            <a:noFill/>
          </a:ln>
        </p:spPr>
        <p:txBody>
          <a:bodyPr lIns="90000" tIns="45000" rIns="90000" bIns="45000" anchor="t">
            <a:normAutofit/>
          </a:bodyPr>
          <a:p>
            <a:pPr marL="318960" indent="-318960">
              <a:spcBef>
                <a:spcPts val="575"/>
              </a:spcBef>
              <a:buClr>
                <a:srgbClr val="000000"/>
              </a:buClr>
              <a:buSzPct val="45000"/>
              <a:buNone/>
            </a:pPr>
            <a:r>
              <a:rPr lang="en-US" sz="2400" b="0" u="none" strike="noStrike">
                <a:solidFill>
                  <a:srgbClr val="000000"/>
                </a:solidFill>
                <a:effectLst/>
                <a:uFillTx/>
                <a:latin typeface="Calibri"/>
                <a:ea typeface="Calibri"/>
              </a:rPr>
              <a:t>Label the cells as follows</a:t>
            </a:r>
            <a:r>
              <a:rPr lang="en-US" sz="2400" b="0" u="none" strike="noStrike">
                <a:solidFill>
                  <a:srgbClr val="000000"/>
                </a:solidFill>
                <a:effectLst/>
                <a:uFillTx/>
                <a:latin typeface="Calibri"/>
                <a:ea typeface="Calibri"/>
              </a:rPr>
              <a:t>:</a:t>
            </a:r>
            <a:endParaRPr lang="en-US" sz="2400" b="0" u="none" strike="noStrike">
              <a:solidFill>
                <a:srgbClr val="000000"/>
              </a:solidFill>
              <a:effectLst/>
              <a:uFillTx/>
              <a:latin typeface="Arial"/>
            </a:endParaRPr>
          </a:p>
        </p:txBody>
      </p:sp>
      <p:graphicFrame>
        <p:nvGraphicFramePr>
          <p:cNvPr id="62" name=""/>
          <p:cNvGraphicFramePr/>
          <p:nvPr/>
        </p:nvGraphicFramePr>
        <p:xfrm>
          <a:off x="1531800" y="1967400"/>
          <a:ext cx="6080760" cy="360"/>
        </p:xfrm>
        <a:graphic>
          <a:graphicData uri="http://schemas.openxmlformats.org/drawingml/2006/table">
            <a:tbl>
              <a:tblPr/>
              <a:tblGrid>
                <a:gridCol w="2026800"/>
                <a:gridCol w="2026800"/>
                <a:gridCol w="2027160"/>
              </a:tblGrid>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bl>
          </a:graphicData>
        </a:graphic>
      </p:graphicFrame>
      <p:graphicFrame>
        <p:nvGraphicFramePr>
          <p:cNvPr id="63" name=""/>
          <p:cNvGraphicFramePr/>
          <p:nvPr/>
        </p:nvGraphicFramePr>
        <p:xfrm>
          <a:off x="1531800" y="3643920"/>
          <a:ext cx="6080760" cy="360"/>
        </p:xfrm>
        <a:graphic>
          <a:graphicData uri="http://schemas.openxmlformats.org/drawingml/2006/table">
            <a:tbl>
              <a:tblPr/>
              <a:tblGrid>
                <a:gridCol w="2026800"/>
                <a:gridCol w="2026800"/>
                <a:gridCol w="2027160"/>
              </a:tblGrid>
              <a:tr h="32616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72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endParaRPr lang="en-US" sz="1800" b="0" u="none" strike="noStrike">
                        <a:solidFill>
                          <a:srgbClr val="000000"/>
                        </a:solidFill>
                        <a:effectLst/>
                        <a:uFillTx/>
                        <a:latin typeface="Arial"/>
                      </a:endParaRPr>
                    </a:p>
                  </a:txBody>
                  <a:tcPr anchor="t" marL="34920" marR="34920" marT="34920" marB="34920">
                    <a:lnL w="720">
                      <a:solidFill>
                        <a:srgbClr val="000000"/>
                      </a:solidFill>
                      <a:prstDash val="solid"/>
                    </a:lnL>
                    <a:lnR w="72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endParaRPr lang="en-US" sz="1800" b="0" u="none" strike="noStrike">
                        <a:solidFill>
                          <a:srgbClr val="000000"/>
                        </a:solidFill>
                        <a:effectLst/>
                        <a:uFillTx/>
                        <a:latin typeface="Arial"/>
                      </a:endParaRPr>
                    </a:p>
                  </a:txBody>
                  <a:tcPr anchor="t" marL="34920" marR="34920" marT="34920" marB="34920">
                    <a:lnL w="72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bl>
          </a:graphicData>
        </a:graphic>
      </p:graphicFrame>
      <p:graphicFrame>
        <p:nvGraphicFramePr>
          <p:cNvPr id="64" name=""/>
          <p:cNvGraphicFramePr/>
          <p:nvPr/>
        </p:nvGraphicFramePr>
        <p:xfrm>
          <a:off x="1531800" y="5320080"/>
          <a:ext cx="6080760" cy="360"/>
        </p:xfrm>
        <a:graphic>
          <a:graphicData uri="http://schemas.openxmlformats.org/drawingml/2006/table">
            <a:tbl>
              <a:tblPr/>
              <a:tblGrid>
                <a:gridCol w="2026800"/>
                <a:gridCol w="2026800"/>
                <a:gridCol w="2027160"/>
              </a:tblGrid>
              <a:tr h="326160">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Calculated Mass of Oreo Icing</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72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endParaRPr lang="en-US" sz="1800" b="0" u="none" strike="noStrike">
                        <a:solidFill>
                          <a:srgbClr val="000000"/>
                        </a:solidFill>
                        <a:effectLst/>
                        <a:uFillTx/>
                        <a:latin typeface="Arial"/>
                      </a:endParaRPr>
                    </a:p>
                  </a:txBody>
                  <a:tcPr anchor="t" marL="34920" marR="34920" marT="34920" marB="34920">
                    <a:lnL w="720">
                      <a:solidFill>
                        <a:srgbClr val="000000"/>
                      </a:solidFill>
                      <a:prstDash val="solid"/>
                    </a:lnL>
                    <a:lnR w="72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endParaRPr lang="en-US" sz="1800" b="0" u="none" strike="noStrike">
                        <a:solidFill>
                          <a:srgbClr val="000000"/>
                        </a:solidFill>
                        <a:effectLst/>
                        <a:uFillTx/>
                        <a:latin typeface="Arial"/>
                      </a:endParaRPr>
                    </a:p>
                  </a:txBody>
                  <a:tcPr anchor="t" marL="34920" marR="34920" marT="34920" marB="34920">
                    <a:lnL w="72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Oreo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Oreo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Oreo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1</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1</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1</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2</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2</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2</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3</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3</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3</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r h="231120">
                <a:tc>
                  <a:txBody>
                    <a:bodyPr lIns="34920" tIns="34920" rIns="34920" bIns="34920" anchor="t" anchorCtr="1">
                      <a:noAutofit/>
                    </a:bodyPr>
                    <a:p>
                      <a:pPr algn="ctr">
                        <a:lnSpc>
                          <a:spcPct val="115000"/>
                        </a:lnSpc>
                      </a:pPr>
                      <a:r>
                        <a:rPr lang="en-US" sz="1100" b="0" u="none" strike="noStrike">
                          <a:solidFill>
                            <a:srgbClr val="000000"/>
                          </a:solidFill>
                          <a:effectLst/>
                          <a:uFillTx/>
                          <a:latin typeface="Calibri"/>
                          <a:ea typeface="Calibri"/>
                        </a:rPr>
                        <a:t>Average</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c>
                  <a:txBody>
                    <a:bodyPr lIns="34920" tIns="34920" rIns="34920" bIns="34920" anchor="t" anchorCtr="1">
                      <a:noAutofit/>
                    </a:bodyPr>
                    <a:p>
                      <a:pPr>
                        <a:lnSpc>
                          <a:spcPct val="115000"/>
                        </a:lnSpc>
                      </a:pPr>
                      <a:r>
                        <a:rPr lang="en-US" sz="1100" b="0" u="none" strike="noStrike">
                          <a:solidFill>
                            <a:srgbClr val="000000"/>
                          </a:solidFill>
                          <a:effectLst/>
                          <a:uFillTx/>
                          <a:latin typeface="Calibri"/>
                          <a:ea typeface="Calibri"/>
                        </a:rPr>
                        <a:t> </a:t>
                      </a:r>
                      <a:endParaRPr lang="en-US" sz="1100" b="0" u="none" strike="noStrike">
                        <a:solidFill>
                          <a:srgbClr val="000000"/>
                        </a:solidFill>
                        <a:effectLst/>
                        <a:uFillTx/>
                        <a:latin typeface="Arial"/>
                      </a:endParaRPr>
                    </a:p>
                  </a:txBody>
                  <a:tcPr anchor="t" marL="34920" marR="34920" marT="34920" marB="349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5" name=""/>
          <p:cNvSpPr txBox="1"/>
          <p:nvPr/>
        </p:nvSpPr>
        <p:spPr>
          <a:xfrm>
            <a:off x="457200" y="274680"/>
            <a:ext cx="8229600" cy="1143000"/>
          </a:xfrm>
          <a:prstGeom prst="rect">
            <a:avLst/>
          </a:prstGeom>
          <a:noFill/>
          <a:ln w="0">
            <a:noFill/>
          </a:ln>
        </p:spPr>
        <p:txBody>
          <a:bodyPr lIns="90000" tIns="45000" rIns="90000" bIns="45000" anchor="ctr">
            <a:normAutofit fontScale="85000" lnSpcReduction="9999"/>
          </a:bodyPr>
          <a:p>
            <a:pPr algn="ctr"/>
            <a:r>
              <a:rPr lang="en-US" sz="4400" b="1" u="none" strike="noStrike">
                <a:solidFill>
                  <a:srgbClr val="000000"/>
                </a:solidFill>
                <a:effectLst/>
                <a:uFillTx/>
                <a:latin typeface="Calibri-Bold"/>
                <a:ea typeface="Calibri-Bold"/>
              </a:rPr>
              <a:t>Oreo Lab Report - Procedures</a:t>
            </a:r>
            <a:endParaRPr lang="en-US" sz="4400" b="0" u="none" strike="noStrike">
              <a:solidFill>
                <a:srgbClr val="000000"/>
              </a:solidFill>
              <a:effectLst/>
              <a:uFillTx/>
              <a:latin typeface="Arial"/>
            </a:endParaRPr>
          </a:p>
        </p:txBody>
      </p:sp>
      <p:sp>
        <p:nvSpPr>
          <p:cNvPr id="66" name=""/>
          <p:cNvSpPr txBox="1"/>
          <p:nvPr/>
        </p:nvSpPr>
        <p:spPr>
          <a:xfrm>
            <a:off x="457200" y="1600200"/>
            <a:ext cx="8229600" cy="3505320"/>
          </a:xfrm>
          <a:prstGeom prst="rect">
            <a:avLst/>
          </a:prstGeom>
          <a:noFill/>
          <a:ln w="0">
            <a:noFill/>
          </a:ln>
        </p:spPr>
        <p:txBody>
          <a:bodyPr lIns="90000" tIns="45000" rIns="90000" bIns="45000" anchor="t">
            <a:normAutofit/>
          </a:bodyPr>
          <a:p>
            <a:pPr marL="417240" indent="-417240">
              <a:spcBef>
                <a:spcPts val="768"/>
              </a:spcBef>
              <a:buClr>
                <a:srgbClr val="000000"/>
              </a:buClr>
              <a:buSzPct val="45000"/>
              <a:buNone/>
            </a:pPr>
            <a:r>
              <a:rPr lang="en-US" sz="3200" b="0" u="none" strike="noStrike">
                <a:solidFill>
                  <a:srgbClr val="000000"/>
                </a:solidFill>
                <a:effectLst/>
                <a:uFillTx/>
                <a:latin typeface="Calibri"/>
                <a:ea typeface="Calibri"/>
              </a:rPr>
              <a:t>As a group develop a </a:t>
            </a:r>
            <a:r>
              <a:rPr lang="en-US" sz="3200" b="1" i="1" u="sng" strike="noStrike">
                <a:solidFill>
                  <a:srgbClr val="000000"/>
                </a:solidFill>
                <a:effectLst/>
                <a:uFillTx/>
                <a:latin typeface="Calibri-BoldItalic"/>
                <a:ea typeface="Calibri-BoldItalic"/>
              </a:rPr>
              <a:t>specific</a:t>
            </a:r>
            <a:r>
              <a:rPr lang="en-US" sz="3200" b="0" u="none" strike="noStrike">
                <a:solidFill>
                  <a:srgbClr val="000000"/>
                </a:solidFill>
                <a:effectLst/>
                <a:uFillTx/>
                <a:latin typeface="Calibri"/>
                <a:ea typeface="Calibri"/>
              </a:rPr>
              <a:t> set of procedures you will use to determine if “Double Stuff Oreos” actually have twice the stuffing as regular Oreos</a:t>
            </a:r>
            <a:r>
              <a:rPr lang="en-US" sz="3200" b="0" u="none" strike="noStrike">
                <a:solidFill>
                  <a:srgbClr val="000000"/>
                </a:solidFill>
                <a:effectLst/>
                <a:uFillTx/>
                <a:latin typeface="Calibri"/>
                <a:ea typeface="Calibri"/>
              </a:rPr>
              <a:t>?</a:t>
            </a:r>
            <a:endParaRPr lang="en-US" sz="3200" b="0" u="none" strike="noStrike">
              <a:solidFill>
                <a:srgbClr val="000000"/>
              </a:solidFill>
              <a:effectLst/>
              <a:uFillTx/>
              <a:latin typeface="Arial"/>
            </a:endParaRPr>
          </a:p>
          <a:p>
            <a:pPr marL="417240" indent="-417240">
              <a:spcBef>
                <a:spcPts val="768"/>
              </a:spcBef>
              <a:buClr>
                <a:srgbClr val="000000"/>
              </a:buClr>
              <a:buSzPct val="45000"/>
              <a:buNone/>
            </a:pPr>
            <a:r>
              <a:rPr lang="en-US" sz="3200" b="0" u="none" strike="noStrike">
                <a:solidFill>
                  <a:srgbClr val="000000"/>
                </a:solidFill>
                <a:effectLst/>
                <a:uFillTx/>
                <a:latin typeface="Calibri"/>
                <a:ea typeface="Calibri"/>
              </a:rPr>
              <a:t>Remember how we measured the mass of water? Can you use that method here</a:t>
            </a:r>
            <a:r>
              <a:rPr lang="en-US" sz="3200" b="0" u="none" strike="noStrike">
                <a:solidFill>
                  <a:srgbClr val="000000"/>
                </a:solidFill>
                <a:effectLst/>
                <a:uFillTx/>
                <a:latin typeface="Calibri"/>
                <a:ea typeface="Calibri"/>
              </a:rPr>
              <a:t>?</a:t>
            </a:r>
            <a:endParaRPr lang="en-US" sz="3200" b="0" u="none" strike="noStrike">
              <a:solidFill>
                <a:srgbClr val="000000"/>
              </a:solidFill>
              <a:effectLst/>
              <a:uFillTx/>
              <a:latin typeface="Arial"/>
            </a:endParaRPr>
          </a:p>
        </p:txBody>
      </p:sp>
      <p:pic>
        <p:nvPicPr>
          <p:cNvPr id="67" name=""/>
          <p:cNvPicPr/>
          <p:nvPr/>
        </p:nvPicPr>
        <p:blipFill>
          <a:blip r:embed="rId1"/>
          <a:stretch/>
        </p:blipFill>
        <p:spPr>
          <a:xfrm>
            <a:off x="152280" y="4800600"/>
            <a:ext cx="3753000" cy="1495440"/>
          </a:xfrm>
          <a:prstGeom prst="rect">
            <a:avLst/>
          </a:prstGeom>
          <a:noFill/>
          <a:ln w="0">
            <a:noFill/>
          </a:ln>
        </p:spPr>
      </p:pic>
      <p:pic>
        <p:nvPicPr>
          <p:cNvPr id="68" name=""/>
          <p:cNvPicPr/>
          <p:nvPr/>
        </p:nvPicPr>
        <p:blipFill>
          <a:blip r:embed="rId2"/>
          <a:stretch/>
        </p:blipFill>
        <p:spPr>
          <a:xfrm>
            <a:off x="4228920" y="5076720"/>
            <a:ext cx="4686120" cy="1019160"/>
          </a:xfrm>
          <a:prstGeom prst="rect">
            <a:avLst/>
          </a:prstGeom>
          <a:noFill/>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 name=""/>
          <p:cNvSpPr txBox="1"/>
          <p:nvPr/>
        </p:nvSpPr>
        <p:spPr>
          <a:xfrm>
            <a:off x="457200" y="274680"/>
            <a:ext cx="8229600" cy="1143000"/>
          </a:xfrm>
          <a:prstGeom prst="rect">
            <a:avLst/>
          </a:prstGeom>
          <a:noFill/>
          <a:ln w="0">
            <a:noFill/>
          </a:ln>
        </p:spPr>
        <p:txBody>
          <a:bodyPr lIns="90000" tIns="45000" rIns="90000" bIns="45000" anchor="ctr">
            <a:normAutofit/>
          </a:bodyPr>
          <a:p>
            <a:pPr algn="ctr"/>
            <a:r>
              <a:rPr lang="en-US" sz="4400" b="1" u="none" strike="noStrike">
                <a:solidFill>
                  <a:srgbClr val="000000"/>
                </a:solidFill>
                <a:effectLst/>
                <a:uFillTx/>
                <a:latin typeface="Calibri-Bold"/>
                <a:ea typeface="Calibri-Bold"/>
              </a:rPr>
              <a:t>Oreo Lab Report</a:t>
            </a:r>
            <a:endParaRPr lang="en-US" sz="4400" b="0" u="none" strike="noStrike">
              <a:solidFill>
                <a:srgbClr val="000000"/>
              </a:solidFill>
              <a:effectLst/>
              <a:uFillTx/>
              <a:latin typeface="Arial"/>
            </a:endParaRPr>
          </a:p>
        </p:txBody>
      </p:sp>
      <p:sp>
        <p:nvSpPr>
          <p:cNvPr id="70" name=""/>
          <p:cNvSpPr txBox="1"/>
          <p:nvPr/>
        </p:nvSpPr>
        <p:spPr>
          <a:xfrm>
            <a:off x="457200" y="1600200"/>
            <a:ext cx="8229600" cy="4724280"/>
          </a:xfrm>
          <a:prstGeom prst="rect">
            <a:avLst/>
          </a:prstGeom>
          <a:noFill/>
          <a:ln w="0">
            <a:noFill/>
          </a:ln>
        </p:spPr>
        <p:txBody>
          <a:bodyPr lIns="90000" tIns="45000" rIns="90000" bIns="45000" anchor="t">
            <a:normAutofit/>
          </a:bodyPr>
          <a:p>
            <a:pPr marL="417240" indent="-417240">
              <a:spcBef>
                <a:spcPts val="768"/>
              </a:spcBef>
              <a:buClr>
                <a:srgbClr val="000000"/>
              </a:buClr>
              <a:buSzPct val="45000"/>
              <a:buNone/>
            </a:pPr>
            <a:r>
              <a:rPr lang="en-US" sz="3200" b="0" u="none" strike="noStrike">
                <a:solidFill>
                  <a:srgbClr val="000000"/>
                </a:solidFill>
                <a:effectLst/>
                <a:uFillTx/>
                <a:latin typeface="Calibri"/>
                <a:ea typeface="Calibri"/>
              </a:rPr>
              <a:t>Complete the following sections as a group prior to coming to next class where you will carry out the experiment</a:t>
            </a:r>
            <a:r>
              <a:rPr lang="en-US" sz="3200" b="0" u="none" strike="noStrike">
                <a:solidFill>
                  <a:srgbClr val="000000"/>
                </a:solidFill>
                <a:effectLst/>
                <a:uFillTx/>
                <a:latin typeface="Calibri"/>
                <a:ea typeface="Calibri"/>
              </a:rPr>
              <a:t>:</a:t>
            </a:r>
            <a:endParaRPr lang="en-US" sz="3200" b="0" u="none" strike="noStrike">
              <a:solidFill>
                <a:srgbClr val="000000"/>
              </a:solidFill>
              <a:effectLst/>
              <a:uFillTx/>
              <a:latin typeface="Arial"/>
            </a:endParaRPr>
          </a:p>
          <a:p>
            <a:pPr marL="822960" lvl="1" indent="-365760">
              <a:spcBef>
                <a:spcPts val="672"/>
              </a:spcBef>
              <a:buClr>
                <a:srgbClr val="000000"/>
              </a:buClr>
              <a:buSzPct val="45000"/>
              <a:buNone/>
            </a:pPr>
            <a:r>
              <a:rPr lang="en-US" sz="2800" b="1" u="none" strike="noStrike">
                <a:solidFill>
                  <a:srgbClr val="000000"/>
                </a:solidFill>
                <a:effectLst/>
                <a:uFillTx/>
                <a:latin typeface="Calibri-Bold"/>
                <a:ea typeface="Calibri-Bold"/>
              </a:rPr>
              <a:t>Title / Date / Lab Partners</a:t>
            </a:r>
            <a:endParaRPr lang="en-US" sz="2800" b="0" u="none" strike="noStrike">
              <a:solidFill>
                <a:srgbClr val="000000"/>
              </a:solidFill>
              <a:effectLst/>
              <a:uFillTx/>
              <a:latin typeface="Arial"/>
            </a:endParaRPr>
          </a:p>
          <a:p>
            <a:pPr marL="822960" lvl="1" indent="-365760">
              <a:spcBef>
                <a:spcPts val="672"/>
              </a:spcBef>
              <a:buClr>
                <a:srgbClr val="000000"/>
              </a:buClr>
              <a:buSzPct val="45000"/>
              <a:buNone/>
            </a:pPr>
            <a:r>
              <a:rPr lang="en-US" sz="2800" b="1" u="none" strike="noStrike">
                <a:solidFill>
                  <a:srgbClr val="000000"/>
                </a:solidFill>
                <a:effectLst/>
                <a:uFillTx/>
                <a:latin typeface="Calibri-Bold"/>
                <a:ea typeface="Calibri-Bold"/>
              </a:rPr>
              <a:t>Introduction</a:t>
            </a:r>
            <a:endParaRPr lang="en-US" sz="2800" b="0" u="none" strike="noStrike">
              <a:solidFill>
                <a:srgbClr val="000000"/>
              </a:solidFill>
              <a:effectLst/>
              <a:uFillTx/>
              <a:latin typeface="Arial"/>
            </a:endParaRPr>
          </a:p>
          <a:p>
            <a:pPr marL="822960" lvl="1" indent="-365760">
              <a:spcBef>
                <a:spcPts val="672"/>
              </a:spcBef>
              <a:buClr>
                <a:srgbClr val="000000"/>
              </a:buClr>
              <a:buSzPct val="45000"/>
              <a:buNone/>
            </a:pPr>
            <a:r>
              <a:rPr lang="en-US" sz="2800" b="1" u="none" strike="noStrike">
                <a:solidFill>
                  <a:srgbClr val="000000"/>
                </a:solidFill>
                <a:effectLst/>
                <a:uFillTx/>
                <a:latin typeface="Calibri-Bold"/>
                <a:ea typeface="Calibri-Bold"/>
              </a:rPr>
              <a:t>Purpose/Objective</a:t>
            </a:r>
            <a:endParaRPr lang="en-US" sz="2800" b="0" u="none" strike="noStrike">
              <a:solidFill>
                <a:srgbClr val="000000"/>
              </a:solidFill>
              <a:effectLst/>
              <a:uFillTx/>
              <a:latin typeface="Arial"/>
            </a:endParaRPr>
          </a:p>
          <a:p>
            <a:pPr marL="822960" lvl="1" indent="-365760">
              <a:spcBef>
                <a:spcPts val="672"/>
              </a:spcBef>
              <a:buClr>
                <a:srgbClr val="000000"/>
              </a:buClr>
              <a:buSzPct val="45000"/>
              <a:buNone/>
            </a:pPr>
            <a:r>
              <a:rPr lang="en-US" sz="2800" b="1" u="none" strike="noStrike">
                <a:solidFill>
                  <a:srgbClr val="000000"/>
                </a:solidFill>
                <a:effectLst/>
                <a:uFillTx/>
                <a:latin typeface="Calibri-Bold"/>
                <a:ea typeface="Calibri-Bold"/>
              </a:rPr>
              <a:t>Hypothesis</a:t>
            </a:r>
            <a:endParaRPr lang="en-US" sz="2800" b="0" u="none" strike="noStrike">
              <a:solidFill>
                <a:srgbClr val="000000"/>
              </a:solidFill>
              <a:effectLst/>
              <a:uFillTx/>
              <a:latin typeface="Arial"/>
            </a:endParaRPr>
          </a:p>
          <a:p>
            <a:pPr marL="822960" lvl="1" indent="-365760">
              <a:spcBef>
                <a:spcPts val="672"/>
              </a:spcBef>
              <a:buClr>
                <a:srgbClr val="000000"/>
              </a:buClr>
              <a:buSzPct val="45000"/>
              <a:buNone/>
            </a:pPr>
            <a:r>
              <a:rPr lang="en-US" sz="2800" b="1" u="none" strike="noStrike">
                <a:solidFill>
                  <a:srgbClr val="000000"/>
                </a:solidFill>
                <a:effectLst/>
                <a:uFillTx/>
                <a:latin typeface="Calibri-Bold"/>
                <a:ea typeface="Calibri-Bold"/>
              </a:rPr>
              <a:t>Materials</a:t>
            </a:r>
            <a:endParaRPr lang="en-US" sz="2800" b="0" u="none" strike="noStrike">
              <a:solidFill>
                <a:srgbClr val="000000"/>
              </a:solidFill>
              <a:effectLst/>
              <a:uFillTx/>
              <a:latin typeface="Arial"/>
            </a:endParaRPr>
          </a:p>
          <a:p>
            <a:pPr marL="822960" lvl="1" indent="-365760">
              <a:spcBef>
                <a:spcPts val="672"/>
              </a:spcBef>
              <a:buClr>
                <a:srgbClr val="000000"/>
              </a:buClr>
              <a:buSzPct val="45000"/>
              <a:buNone/>
            </a:pPr>
            <a:r>
              <a:rPr lang="en-US" sz="2800" b="1" u="none" strike="noStrike">
                <a:solidFill>
                  <a:srgbClr val="000000"/>
                </a:solidFill>
                <a:effectLst/>
                <a:uFillTx/>
                <a:latin typeface="Calibri-Bold"/>
                <a:ea typeface="Calibri-Bold"/>
              </a:rPr>
              <a:t>Procedure</a:t>
            </a: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LibreOffice/26.2.4.2$Linux_AARCH64 LibreOffice_project/620$Build-2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