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slide. Frame the class: today we build the toolkit every science student needs — using numbers correctly, talking the same language as scientists worldwide, and doing conversions with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Science is not just plugging numbers into formulas. Every problem tells a story about what nature is doing.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digits looks impressive but isn't automatically better. Match the number of digits you write to what your tool actually 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significant digits or simply round to a sensible place (thousandths, hundredths).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'E' is not part of the number. It stands for '× 10^'.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Instead of counting zeros, use prefixes (KHDUdcm) or scientific notation.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= Système International. These four units are what every scientist in the world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rung is a factor of 10. Moving between prefixes is just moving the decimal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factors ALWAYS equal 1. That's why you can multiply by them freely without changing the true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194560"/>
            <a:ext cx="822960" cy="137160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423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FOUNDATIONS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Metrics, Numbers &amp;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Analysis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5029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every scientist speaks.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Numbers Are the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 of Science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STAGE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Science, Really?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More Than Math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is the study of how nature works. It's full of concepts — motion, energy, forces, waves — and we describe those concepts through math and numbers.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Halves of the Same Coin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is BOTH: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Qualitative — the concepts and stories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Quantitative — the math and numbers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both to really understand.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5 DECIMALS ISN'T ALWAYS BETTER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Precision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these is the most precise?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2194560" cy="1188720"/>
          </a:xfrm>
          <a:prstGeom prst="roundRect">
            <a:avLst>
              <a:gd name="adj" fmla="val 923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60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sig fig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2560320"/>
            <a:ext cx="2194560" cy="1188720"/>
          </a:xfrm>
          <a:prstGeom prst="roundRect">
            <a:avLst>
              <a:gd name="adj" fmla="val 923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80360" y="2560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.21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880360" y="3794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sig figs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12080" y="2560320"/>
            <a:ext cx="2194560" cy="1188720"/>
          </a:xfrm>
          <a:prstGeom prst="roundRect">
            <a:avLst>
              <a:gd name="adj" fmla="val 923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2560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.20788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212080" y="3794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sig figs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43800" y="2560320"/>
            <a:ext cx="2194560" cy="1188720"/>
          </a:xfrm>
          <a:prstGeom prst="roundRect">
            <a:avLst>
              <a:gd name="adj" fmla="val 923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43800" y="2560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.20787958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543800" y="3794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sig figs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875520" y="2560320"/>
            <a:ext cx="2194560" cy="1188720"/>
          </a:xfrm>
          <a:prstGeom prst="roundRect">
            <a:avLst>
              <a:gd name="adj" fmla="val 9231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0" y="2560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.2078795764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875520" y="3794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sig figs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754880"/>
            <a:ext cx="11064240" cy="1280160"/>
          </a:xfrm>
          <a:prstGeom prst="roundRect">
            <a:avLst>
              <a:gd name="adj" fmla="val 10714"/>
            </a:avLst>
          </a:prstGeom>
          <a:solidFill>
            <a:srgbClr val="FFF8E1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846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⚠  The catch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is only as precise as the tool that measured it. Writing .2078795764 when your ruler shows tenths is FALSE PRECISION.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MEANING OF NUMBERS IN YOUR CALCULATOR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Calculator Trap #1 — Too Many Decimals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303520" cy="4023360"/>
          </a:xfrm>
          <a:prstGeom prst="roundRect">
            <a:avLst>
              <a:gd name="adj" fmla="val 3409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Calculator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5303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.2078795764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digits!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Don't write this down.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394960" cy="402336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1488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2743200"/>
            <a:ext cx="5394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.208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6217920" y="420624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to thousandths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7920" y="50292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Match your data's precision.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MEANS × 10 TO THE POWER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Calculator Trap #2 — Scientific Notation on Screen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303520" cy="4023360"/>
          </a:xfrm>
          <a:prstGeom prst="roundRect">
            <a:avLst>
              <a:gd name="adj" fmla="val 3409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 Shows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5303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4.587E4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that even mean?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Don't write '4.587E4' as your answer.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394960" cy="402336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1488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Two Ways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274320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4.587 × 10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217920" y="36118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notation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40233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448056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45,870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217920" y="54406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Expanded form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DEAL WITH WILD SCALES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Atoms to Universes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94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300,000 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Oʻahu → Big Island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754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3.0 × 10</a:t>
            </a:r>
            <a:pPr algn="ctr" indent="0" marL="0">
              <a:buNone/>
            </a:pPr>
            <a:r>
              <a:rPr lang="en-US" sz="2000" b="1" baseline="30000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m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194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17920" y="265176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.00000003 g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17920" y="3703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a mosquito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217920" y="4754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3.0 × 10</a:t>
            </a:r>
            <a:pPr algn="ctr" indent="0" marL="0">
              <a:buNone/>
            </a:pPr>
            <a:r>
              <a:rPr lang="en-US" sz="2000" b="1" baseline="30000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-8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g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RULE, TWO DIRECTIONS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Scientific Notation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206240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48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Exponent = BIG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 × 10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=  300,000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decimal 5 places to the RIGHT.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2976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3.0 → 30 → 300 → 3,000 → 30,000 → 300,000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120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Or: 'the number of zeros to add.'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2011680"/>
            <a:ext cx="5486400" cy="4206240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2148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Exponent = TINY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0" y="26517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 × 10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-8</a:t>
            </a:r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=  .00000003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309360" y="37490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decimal 8 places to the LEFT.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42976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3.0 → .3 → .03 → ... → .00000003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5120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Or: 'number of decimal shifts.'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Metric System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SI Units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YOU NEED FIRST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 Base Units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94560"/>
            <a:ext cx="2743200" cy="39319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46888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1463040" y="2468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3566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kilogram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48640" y="4572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kg )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unit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2194560"/>
            <a:ext cx="2743200" cy="39319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24688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4343400" y="2468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29000" y="3566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29000" y="39319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429000" y="4572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m )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429000" y="5394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194560"/>
            <a:ext cx="2743200" cy="39319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23760" y="2468880"/>
            <a:ext cx="914400" cy="9144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468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309360" y="3566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39319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309360" y="4572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L )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309360" y="5394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unit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89720" y="2194560"/>
            <a:ext cx="2743200" cy="39319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104120" y="2468880"/>
            <a:ext cx="914400" cy="914400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28" name="Text 26"/>
          <p:cNvSpPr/>
          <p:nvPr/>
        </p:nvSpPr>
        <p:spPr>
          <a:xfrm>
            <a:off x="10104120" y="2468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189720" y="3566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89720" y="39319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189720" y="4572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6D28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s )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189720" y="5394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unit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SPEAKS ONE LANGUAGE OF MEASUREMENT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Metric System?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03120"/>
            <a:ext cx="5303520" cy="4023360"/>
          </a:xfrm>
          <a:prstGeom prst="roundRect">
            <a:avLst>
              <a:gd name="adj" fmla="val 3409"/>
            </a:avLst>
          </a:prstGeom>
          <a:solidFill>
            <a:srgbClr val="21295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34290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~195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officially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metric system: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5303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🇺🇸  United States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🇱🇷  Liberia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🇲🇲  Myanmar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17920" y="2103120"/>
            <a:ext cx="5486400" cy="402336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92240" y="23774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🌐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315200" y="2377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83680" y="3108960"/>
            <a:ext cx="47548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across every continent share data, compare results, and check each other's work. That only works if we all use the same system.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system is SI (metric). If you want to talk science, you talk metric.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MULTIPLES OF 10 MAKE EVERYTHING EASY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Metric Ladder — KHDUdcm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Henry Doesn't Usually Drink Chocolate Milk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77240" y="265176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7F9FC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8892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7724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×1000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77440" y="265176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7F9FC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278892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237744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hecto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7744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×100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77640" y="265176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7F9FC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77640" y="278892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397764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97764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577840" y="265176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FF8E1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77840" y="278892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557784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57784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77840" y="5074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 / m / 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78040" y="265176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7F9FC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278892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5200" dirty="0"/>
          </a:p>
        </p:txBody>
      </p:sp>
      <p:sp>
        <p:nvSpPr>
          <p:cNvPr id="25" name="Text 23"/>
          <p:cNvSpPr/>
          <p:nvPr/>
        </p:nvSpPr>
        <p:spPr>
          <a:xfrm>
            <a:off x="717804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17804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×0.1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778240" y="265176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7F9FC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0" y="278892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5200" dirty="0"/>
          </a:p>
        </p:txBody>
      </p:sp>
      <p:sp>
        <p:nvSpPr>
          <p:cNvPr id="29" name="Text 27"/>
          <p:cNvSpPr/>
          <p:nvPr/>
        </p:nvSpPr>
        <p:spPr>
          <a:xfrm>
            <a:off x="877824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77824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×0.01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378440" y="265176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7F9FC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78440" y="278892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5200" dirty="0"/>
          </a:p>
        </p:txBody>
      </p:sp>
      <p:sp>
        <p:nvSpPr>
          <p:cNvPr id="33" name="Text 31"/>
          <p:cNvSpPr/>
          <p:nvPr/>
        </p:nvSpPr>
        <p:spPr>
          <a:xfrm>
            <a:off x="1037844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37844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×0.001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77240" y="5852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larger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686800" y="5852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→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SIX-STEP RECIPE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Convert Metric Units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2402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554480" y="22860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number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27432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centimeters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2402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394960" y="22860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KHDUdcm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94960" y="27432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H D U d c 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201168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402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235440" y="22860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 the starting prefix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35440" y="27432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…c…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43434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554480" y="4389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 the target prefix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54480" y="48463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…U… (m)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89120" y="411480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43434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5394960" y="4389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 spaces + direction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394960" y="48463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places LEFT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29600" y="411480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12480" y="43434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2" name="Text 30"/>
          <p:cNvSpPr/>
          <p:nvPr/>
        </p:nvSpPr>
        <p:spPr>
          <a:xfrm>
            <a:off x="841248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9235440" y="4389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decimal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235440" y="48463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→ 5.00 m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Only works for units that are NOT squared or cubed.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WATCHING THE DECIMAL MOVE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— 500 cm → 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 cm  =  ?  m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743200" y="28346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2834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3931920" y="28346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0" y="2834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120640" y="28346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2834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6309360" y="28346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FFC107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2834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7498080" y="28346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834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8686800" y="28346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065A8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0" y="2834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600" dirty="0"/>
          </a:p>
        </p:txBody>
      </p:sp>
      <p:sp>
        <p:nvSpPr>
          <p:cNvPr id="18" name="Shape 16"/>
          <p:cNvSpPr/>
          <p:nvPr/>
        </p:nvSpPr>
        <p:spPr>
          <a:xfrm>
            <a:off x="9875520" y="28346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0" y="2834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8595360" y="40233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17920" y="40233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end: U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0" y="46634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2 places LEFT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200400" y="5486400"/>
            <a:ext cx="5852160" cy="822960"/>
          </a:xfrm>
          <a:prstGeom prst="roundRect">
            <a:avLst>
              <a:gd name="adj" fmla="val 13333"/>
            </a:avLst>
          </a:prstGeom>
          <a:solidFill>
            <a:srgbClr val="DCFCE7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0" y="54864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500. cm  →  5.00 m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CONVERSIONS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— Try These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94560"/>
            <a:ext cx="5486400" cy="402336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4,000 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48640" y="42976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48463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 km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400800" y="2194560"/>
            <a:ext cx="5486400" cy="402336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377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0" y="28803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0" y="338328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45.5 L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400800" y="42976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0" y="48463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 mL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Factor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Conversions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 BEHIND UNIT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Multiplying by 'One' — But Cleverly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Anything ÷ Itself = 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minutes = 1 hour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(60 min) ÷ (1 hour)  =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hour) ÷ (60 min)   = 1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Multiplying by 1 doesn't change the value — but it CAN change the units.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— 2 hours = ? min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 × (60 min / 1 hour)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2 × 60 min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120 minutes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'hours' cancel; the 'minutes' stay.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HABITS THAT MAKE IT FOOLPROOF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for Setting Up Conversions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0312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37744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192024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4747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what you have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448056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the UNITS. 'Just numbers' is a recipe for errors.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10312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60720" y="237744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576072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72000" y="34747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by unit factors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09160" y="448056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factor is a fraction with equal values in different units (1 cm = 10 mm).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210312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0" y="237744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412480" y="34747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Flip factors as needed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9640" y="448056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version where the unwanted unit cancels. Cross it out, then move on.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UNIT FACTORS TOGETHER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There's No Direct Equality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centimeters are in 1 mile?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equalities:  1 inch = 2.54 cm  •  1609 m = 1 mile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3657600" cy="3017520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703320"/>
            <a:ext cx="3291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→ 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(use KHDUdcm)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cm = 0.01 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3108960"/>
            <a:ext cx="3657600" cy="3017520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3703320"/>
            <a:ext cx="3291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→ mile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(unit factor)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1609 m = 1 mile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0" y="3108960"/>
            <a:ext cx="3657600" cy="3017520"/>
          </a:xfrm>
          <a:prstGeom prst="roundRect">
            <a:avLst>
              <a:gd name="adj" fmla="val 3636"/>
            </a:avLst>
          </a:prstGeom>
          <a:solidFill>
            <a:srgbClr val="DCFCE7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12480" y="3703320"/>
            <a:ext cx="3291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chain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mile × 1609 m/mile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100 cm/m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160,900 cm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WHICH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Methods —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 Conversions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Write down the number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Write KHDUdcm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Mark starting prefix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Mark target prefix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Count spaces + direction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Move the decimal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single-unit metric jumps (m → km, mg → g)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Factor Method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Write down what you have (with units!)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Find an equality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unit factors (top or bottom)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Multiply so unwanted units cancel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Multiply tops, divide bottoms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Write final answer with units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any conversion (metric or not, squared/cubed)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Set #1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548640" y="429768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45262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on Google Classroom.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next class meeting.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ALL steps — units count. Round sensibly.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2026-07-11T20:08:24Z</dcterms:created>
  <dcterms:modified xsi:type="dcterms:W3CDTF">2026-07-11T20:08:24Z</dcterms:modified>
</cp:coreProperties>
</file>