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Frame the class: today we build the toolkit every science student needs — using numbers correctly, talking the same language as scientists worldwide, and doing conversions with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Science is not just plugging numbers into formulas. Every problem tells a story about what nature is doing.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digits looks impressive but isn't automatically better. Match the number of digits you write to what your tool actually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significant digits or simply round to a sensible place (thousandths, hundredths).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'E' is not part of the number. It stands for '× 10^'.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counting zeros, use prefixes (KHDUdcm) or scientific notation.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= Système International. These four units are what every scientist in the world 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rung is a factor of 10. Moving between prefixes is just moving the decimal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factors ALWAYS equal 1. That's why you can multiply by them freely without changing the true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msp-metrics-problem-sets.html" TargetMode="External"/><Relationship Id="rId2" Type="http://schemas.openxmlformats.org/officeDocument/2006/relationships/hyperlink" Target="msp-metrics-problem-sets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94560"/>
            <a:ext cx="822960" cy="13716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423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FOUNDATIONS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Metrics, Numbers &amp;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Analysis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5029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every scientist speaks.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Are the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of Science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0"/>
            <a:ext cx="640080" cy="73152"/>
          </a:xfrm>
          <a:prstGeom prst="rect">
            <a:avLst/>
          </a:prstGeom>
          <a:solidFill>
            <a:srgbClr val="FFC10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Science, Really?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More Than Math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is the study of how nature works. It's full of concepts — motion, energy, forces, waves — and we describe those concepts through math and numbers.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Halves of the Same Coin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is BOTH: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Qualitative — the concepts and stories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Quantitative — the math and numbers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both to really understand.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5 DECIMALS ISN'T ALWAYS BETTER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Precision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the most precise?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sig fig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8036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sig figs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.20788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1208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sig figs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4380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.20787958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54380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sig figs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87552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.2078795764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87552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sig figs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10714"/>
            </a:avLst>
          </a:prstGeom>
          <a:solidFill>
            <a:srgbClr val="FFF8E1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The catch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is only as precise as the tool that measured it. Writing .2078795764 when your ruler shows tenths is FALSE PRECISION.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MEANING OF NUMBERS IN YOUR CALCULATOR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Calculator Trap #1 — Too Many Decimals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303520" cy="4023360"/>
          </a:xfrm>
          <a:prstGeom prst="roundRect">
            <a:avLst>
              <a:gd name="adj" fmla="val 3409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Calculator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.2078795764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digits!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Don't write this down.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39496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148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74320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.208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217920" y="4206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to thousandths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50292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 your data's precision.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MEANS × 10 TO THE POWER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Calculator Trap #2 — Scientific Notation on Screen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303520" cy="4023360"/>
          </a:xfrm>
          <a:prstGeom prst="roundRect">
            <a:avLst>
              <a:gd name="adj" fmla="val 3409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Shows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4.587E4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that even mean?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Don't write '4.587E4' as your answer.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39496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148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Two Ways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7432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4.587 × 10</a:t>
            </a:r>
            <a:pPr algn="ctr" indent="0" marL="0">
              <a:buNone/>
            </a:pPr>
            <a:r>
              <a:rPr lang="en-US" sz="2400" b="1" baseline="30000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36118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notation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4023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44805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45,870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217920" y="54406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form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DEAL WITH WILD SCALES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Atoms to Universes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300,000 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Oʻahu → Big Island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3.0 × 10</a:t>
            </a:r>
            <a:pPr algn="ctr" indent="0" marL="0">
              <a:buNone/>
            </a:pPr>
            <a:r>
              <a:rPr lang="en-US" sz="2000" b="1" baseline="30000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26517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.00000003 g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17920" y="3703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of a mosquito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0" y="47548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3.0 × 10</a:t>
            </a:r>
            <a:pPr algn="ctr" indent="0" marL="0">
              <a:buNone/>
            </a:pPr>
            <a:r>
              <a:rPr lang="en-US" sz="2000" b="1" baseline="30000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-8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RULE, TWO DIRECTIONS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Notation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206240"/>
          </a:xfrm>
          <a:prstGeom prst="roundRect">
            <a:avLst>
              <a:gd name="adj" fmla="val 326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Exponent = BIG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 × 10</a:t>
            </a:r>
            <a:pPr algn="ctr" indent="0" marL="0">
              <a:buNone/>
            </a:pPr>
            <a:r>
              <a:rPr lang="en-US" sz="2400" b="1" baseline="3000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300,000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decimal 5 places to the RIGHT.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 → 30 → 300 → 3,000 → 30,000 → 300,000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'the number of zeros to add.'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5486400" cy="4206240"/>
          </a:xfrm>
          <a:prstGeom prst="roundRect">
            <a:avLst>
              <a:gd name="adj" fmla="val 326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Exponent = TINY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 × 10</a:t>
            </a:r>
            <a:pPr algn="ctr" indent="0" marL="0">
              <a:buNone/>
            </a:pPr>
            <a:r>
              <a:rPr lang="en-US" sz="2400" b="1" baseline="3000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-8</a:t>
            </a:r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.00000003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09360" y="3749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decimal 8 places to the LEFT.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 → .3 → .03 → ... → .00000003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'number of decimal shifts.'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 System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SI Units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0"/>
            <a:ext cx="640080" cy="73152"/>
          </a:xfrm>
          <a:prstGeom prst="rect">
            <a:avLst/>
          </a:prstGeom>
          <a:solidFill>
            <a:srgbClr val="FFC10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YOU NEED 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 Base Units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46888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kilogram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kg 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219456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4688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42900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meter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42900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m 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29000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19456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0" y="2468880"/>
            <a:ext cx="914400" cy="9144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30936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30936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L )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09360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89720" y="219456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04120" y="2468880"/>
            <a:ext cx="914400" cy="9144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8" name="Text 26"/>
          <p:cNvSpPr/>
          <p:nvPr/>
        </p:nvSpPr>
        <p:spPr>
          <a:xfrm>
            <a:off x="1010412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18972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8972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18972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s )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189720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unit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SPEAKS ONE LANGUAGE OF MEASUREMENT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Metric System?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5303520" cy="4023360"/>
          </a:xfrm>
          <a:prstGeom prst="roundRect">
            <a:avLst>
              <a:gd name="adj" fmla="val 3409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77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~195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officially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metric system: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🇺🇸  United States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🇱🇷  Liberia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🇲🇲  Myanmar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548640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3774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🌐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315200" y="2377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3108960"/>
            <a:ext cx="4754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across every continent share data, compare results, and check each other's work. That only works if we all use the same system.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system is SI (metric). If you want to talk science, you talk metric.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MULTIPLES OF 10 MAKE EVERYTHING EASY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 Ladder — KHDUdcm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King Henry Doesn't Usually Drink Chocolate Milk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×1000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774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23774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39776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776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5778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FF8E1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55778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778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7840" y="5074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 / m / 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780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5200" dirty="0"/>
          </a:p>
        </p:txBody>
      </p:sp>
      <p:sp>
        <p:nvSpPr>
          <p:cNvPr id="25" name="Text 23"/>
          <p:cNvSpPr/>
          <p:nvPr/>
        </p:nvSpPr>
        <p:spPr>
          <a:xfrm>
            <a:off x="71780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782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87782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7782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×0.01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3784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784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5200" dirty="0"/>
          </a:p>
        </p:txBody>
      </p:sp>
      <p:sp>
        <p:nvSpPr>
          <p:cNvPr id="33" name="Text 31"/>
          <p:cNvSpPr/>
          <p:nvPr/>
        </p:nvSpPr>
        <p:spPr>
          <a:xfrm>
            <a:off x="103784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3784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×0.001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5852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larger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86800" y="5852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SIX-STEP RECIPE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Convert Metric Units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5448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number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743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centimeters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39496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KHDUdcm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2743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H D U d c 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0116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23544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the starting prefix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35440" y="2743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…c…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343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55448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the target prefix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846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…U… (m)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89120" y="411480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4343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539496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spaces + direction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4846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places LEFT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29600" y="411480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0" y="4343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23544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the decimal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235440" y="4846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→ 5.00 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Only works for units that are NOT squared or cubed.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THE DECIMAL MOVE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500 cm → 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cm  =  ?  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93192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12064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630936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FC10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749808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868680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987552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595360" y="4023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4023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4663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2 places LEFT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200400" y="5486400"/>
            <a:ext cx="5852160" cy="82296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54864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500. cm  →  5.00 m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CONVERSIONS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— Try These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548640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4,000 m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 km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6400800" y="2194560"/>
            <a:ext cx="548640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880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383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45.5 L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40080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00800" y="48463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 mL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Factor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0"/>
            <a:ext cx="640080" cy="73152"/>
          </a:xfrm>
          <a:prstGeom prst="rect">
            <a:avLst/>
          </a:prstGeom>
          <a:solidFill>
            <a:srgbClr val="FFC107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 BEHIND UNIT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Multiplying by 'One' — But Cleverly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 ÷ Itself =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minutes = 1 hour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 min) ÷ (1 hour)  =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hour) ÷ (60 min)   = 1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by 1 doesn't change the value — but it CAN change the units.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2 hours = ? min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× (60 min / 1 hour)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 × 60 min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120 minutes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'hours' cancel; the 'minutes' stay.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HABITS THAT MAKE IT FOOLPROOF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for Setting Up Conversions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23774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what you have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44805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UNITS. 'Just numbers' is a recipe for errors.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10312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23774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0" y="34747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by unit factors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09160" y="44805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 factor is a fraction with equal values in different units (1 cm = 10 mm).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10312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0" y="23774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12480" y="34747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 factors as needed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49640" y="44805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version where the unwanted unit cancels. Cross it out, then move 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UNIT FACTORS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There's No Direct Equality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centimeters are in 1 mile?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equalities:  1 inch = 2.54 cm  •  1609 m = 1 mile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→ 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 KHDUdcm)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cm = 0.01 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310896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37033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→ mile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(unit factor)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1609 m = 1 mile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310896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37033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chain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mile × 1609 m/mile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100 cm/m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160,900 cm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Methods —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 Conversions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down the number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Write KHDUdcm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Mark starting prefix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Mark target prefix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Count spaces + direction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Move the decimal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single-unit metric jumps (m → km, mg → g)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Factor Method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down what you have (with units!)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Find an equality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unit factors (top or bottom)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Multiply so unwanted units cancel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Multiply tops, divide bottoms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Write final answer with units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any conversion (metric or not, squared/cubed)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— Problem Sets #1 &amp; #2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5760720" y="3246120"/>
            <a:ext cx="914400" cy="73152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47472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homework in your notebook. Show ALL work — you will be expected to solve the problems on the whiteboard in class. Box or circle your final answer with units.</a:t>
            </a:r>
            <a:endParaRPr lang="en-US" sz="1700" dirty="0"/>
          </a:p>
        </p:txBody>
      </p:sp>
      <p:sp>
        <p:nvSpPr>
          <p:cNvPr id="6" name="Shape 4">
            <a:hlinkClick r:id="rId1" tooltip="Open the Problem Sets page"/>
          </p:cNvPr>
          <p:cNvSpPr/>
          <p:nvPr/>
        </p:nvSpPr>
        <p:spPr>
          <a:xfrm>
            <a:off x="3566160" y="4892040"/>
            <a:ext cx="5120640" cy="914400"/>
          </a:xfrm>
          <a:prstGeom prst="roundRect">
            <a:avLst>
              <a:gd name="adj" fmla="val 14000"/>
            </a:avLst>
          </a:prstGeom>
          <a:solidFill>
            <a:srgbClr val="FFC107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Text 5">
            <a:hlinkClick r:id="rId2" tooltip="Open the Problem Sets page"/>
          </p:cNvPr>
          <p:cNvSpPr/>
          <p:nvPr/>
        </p:nvSpPr>
        <p:spPr>
          <a:xfrm>
            <a:off x="3566160" y="48920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2" invalidUrl="" action="" tgtFrame="" tooltip="Open the Problem Sets pag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📝  Homework Problem Sets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button — or open msp-metrics-problem-sets.html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2026-07-12T19:24:10Z</dcterms:created>
  <dcterms:modified xsi:type="dcterms:W3CDTF">2026-07-12T19:24:10Z</dcterms:modified>
</cp:coreProperties>
</file>