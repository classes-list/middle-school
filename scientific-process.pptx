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Today we build the intellectual toolkit every scientist uses: skepticism, testable questions, controlled experiments, and honest conclusions.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Skepticism isn't cynicism. It's the habit of asking 'how do we know?' before you accept a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media reports 'A study said…' every week. Don't believe the first thing you hear — check reliability, sample size, funding, replication.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claim fails any of these six, be skeptical.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'Better' and 'best' are traps. If you can't measure it, you can't test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controlled experiment changes ONE variable and measures ONE variable. Everything else is a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Hypothesis: If speed is related to wheel size, then larger wheels will produce faster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biggest ethical rule: never rewrite your hypothesis to match your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94560"/>
            <a:ext cx="822960" cy="13716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423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FOUNDATIONS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Scientific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5029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scientists separate what is TRUE from what only sounds true.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Being Skeptical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0"/>
            <a:ext cx="640080" cy="73152"/>
          </a:xfrm>
          <a:prstGeom prst="rect">
            <a:avLst/>
          </a:prstGeom>
          <a:solidFill>
            <a:srgbClr val="FFC10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SKEPTICISM IS A SUPERPOWER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You Hear Is Opinion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Old Saying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"Believe nothing that you hear and only half of what you see."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Opinions and perspectives are useful — but they aren't facts. A scientist's job is to find what can be shown true, again and again.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31520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Scientists Chase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— things that can be shown true REPEATEDLY, by different people, in different labs, over time.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claim only holds up when one person tests it once, it's not yet a fact.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Scientific Process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IN THE MEDIA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New Study Shows…"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year, headlines about coffee say: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603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Coffee causes cancer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256032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25603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Coffee prevents cancer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0" y="256032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25603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Coffee harms your heart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657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Coffee protects your heart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89120" y="365760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3657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Coffee shortens your life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0" y="365760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3657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Coffee extends your life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FF8E1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0292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does coffee kill you, save you, or both?  The answer lies in the SOURCES.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Scientific Process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 TO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Study Reliable?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40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5448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Testable hypothesis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7889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DO something to check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240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39496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Well-designed experiment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27889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 actually answers the question.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201168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240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23544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environment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35440" y="27889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variables held constant.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343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55448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one variable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48920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thing changes at a time.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89120" y="411480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4343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539496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trials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48920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Repeat, repeat, repeat.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0" y="411480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0" y="4343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923544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researcher bias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235440" y="48920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Blinding, randomization, honest reporting.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Scientific Process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 Steps of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Scientific Process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0"/>
            <a:ext cx="640080" cy="73152"/>
          </a:xfrm>
          <a:prstGeom prst="rect">
            <a:avLst/>
          </a:prstGeom>
          <a:solidFill>
            <a:srgbClr val="FFC10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REPEATABLE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743200"/>
            <a:ext cx="1737360" cy="2377440"/>
          </a:xfrm>
          <a:prstGeom prst="roundRect">
            <a:avLst>
              <a:gd name="adj" fmla="val 7895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67712" y="347472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423160" y="2743200"/>
            <a:ext cx="1737360" cy="2377440"/>
          </a:xfrm>
          <a:prstGeom prst="roundRect">
            <a:avLst>
              <a:gd name="adj" fmla="val 7895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423160" y="4023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42232" y="347472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297680" y="2743200"/>
            <a:ext cx="1737360" cy="2377440"/>
          </a:xfrm>
          <a:prstGeom prst="roundRect">
            <a:avLst>
              <a:gd name="adj" fmla="val 7895"/>
            </a:avLst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4297680" y="4023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16752" y="347472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172200" y="2743200"/>
            <a:ext cx="1737360" cy="2377440"/>
          </a:xfrm>
          <a:prstGeom prst="roundRect">
            <a:avLst>
              <a:gd name="adj" fmla="val 7895"/>
            </a:avLst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172200" y="4023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91272" y="347472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8046720" y="2743200"/>
            <a:ext cx="1737360" cy="2377440"/>
          </a:xfrm>
          <a:prstGeom prst="roundRect">
            <a:avLst>
              <a:gd name="adj" fmla="val 7895"/>
            </a:avLst>
          </a:prstGeom>
          <a:solidFill>
            <a:srgbClr val="B8860B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8046720" y="4023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65792" y="3474720"/>
            <a:ext cx="320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921240" y="2743200"/>
            <a:ext cx="1737360" cy="2377440"/>
          </a:xfrm>
          <a:prstGeom prst="roundRect">
            <a:avLst>
              <a:gd name="adj" fmla="val 7895"/>
            </a:avLst>
          </a:prstGeom>
          <a:solidFill>
            <a:srgbClr val="6D28D9"/>
          </a:solidFill>
          <a:ln/>
        </p:spPr>
      </p:sp>
      <p:sp>
        <p:nvSpPr>
          <p:cNvPr id="26" name="Text 24"/>
          <p:cNvSpPr/>
          <p:nvPr/>
        </p:nvSpPr>
        <p:spPr>
          <a:xfrm>
            <a:off x="9921240" y="2834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9921240" y="4023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Repeatable. Reliable. Replicable.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Scientific Process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AND MEASURABLE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Question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Question Good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something you're curious about — then check: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you DO something to test it?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you MEASURE the result?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vague words like 'better' or 'best' — those are opinions, not measurements.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31520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Testable vs. Not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 fingers wrinkle FASTER in cold or hot water?  (Timeable!)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What tastes better — Oreos or Chips Ahoy?  (Opinion — not measurable.)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Scientific Process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VAGUE → TESTABLE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Refining a Question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7F9FC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48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VAGUE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08960" y="21031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is better, Tide or All?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108960" y="27889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Opinion. Not measurable.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7F9FC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566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352044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laundry detergent works best on grass stains?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08960" y="420624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Closer, but 'best' is still fuzzy.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7F9FC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983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08960" y="49377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detergent — Tide or All — removes a grass stain with the least amount of detergent?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08960" y="562356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IV, one DV, measurable.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Scientific Process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EDUCATED GUESS, PHRASED AS A PREDICTION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Hypothesis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11064240" cy="1463040"/>
          </a:xfrm>
          <a:prstGeom prst="roundRect">
            <a:avLst>
              <a:gd name="adj" fmla="val 9375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DV  is related to  IV,  then  [prediction].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5486400" cy="2468880"/>
          </a:xfrm>
          <a:prstGeom prst="roundRect">
            <a:avLst>
              <a:gd name="adj" fmla="val 5556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40233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645920" y="4023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75488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 freezing time  is related to  starting water temperature,  then  cold water will freeze faster.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749040"/>
            <a:ext cx="5486400" cy="2468880"/>
          </a:xfrm>
          <a:prstGeom prst="roundRect">
            <a:avLst>
              <a:gd name="adj" fmla="val 5556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40233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315200" y="4023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 Prediction, Not a Wish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0" y="475488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hypothesis doesn't have to be RIGHT — it just has to be a specific, testable guess about the relationship.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Scientific Process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VS. EXPERIMENTAL GROUPS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Experiment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Group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that gets NO change.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the baseline. Everything else is compared to them.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The skateboard with the wheels you'd normally use.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28600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31520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Group(s)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group(s) that get the change — the ONE thing you're testing.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The skateboard with bigger wheels.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change more than one thing, you can't tell which change caused the difference.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Scientific Process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IV, DV, CV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Kinds of Variables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228600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79476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change.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 Change)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per experiment.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22860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379476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MEASURE.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 that DEPENDS on your IV.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per experiment.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201168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0" y="2286000"/>
            <a:ext cx="914400" cy="9144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1248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49640" y="379476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KEEP THE SAME.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except the IV. If you don't hold them constant, your data is meaningless.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Scientific Process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SKATEBOARD WHEEL SIZE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— Identify the Variables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wheel size affect how fast a skateboard travels down a ramp?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347472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Wheel size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53949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changing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320040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0" y="34747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72000" y="45720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0" y="53949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measuring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320040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25400">
            <a:solidFill>
              <a:srgbClr val="6D28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0" y="3474720"/>
            <a:ext cx="914400" cy="9144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0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412480" y="45720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ramp, same skateboard, same rider, same push force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0" y="53949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constant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Scientific Process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EXPERIMENT. RECORD EVERYTHING.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— Collect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Honestly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every measurement — even the ones that look 'weird'.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can be: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 (something to explain)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measurement mistake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way, you can't decide without the data.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×5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31520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Trials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trial is a story.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trials is EVIDENCE.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trials let averaging cancel out random variation. This is why we always repeat.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Scientific Process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GRAPHING LETS YOU SEE THE STORY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 — Analyze the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FF8E1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031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 of Graphing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Variable → X-axis      Dependent Variable → Y-axis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0" y="3657600"/>
            <a:ext cx="5760720" cy="4572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0" y="3657600"/>
            <a:ext cx="45720" cy="21945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0" y="3520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063240" y="3291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</a:rPr>
              <a:t>↑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98080" y="3794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(X)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3383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 (Y)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46120" y="5394960"/>
            <a:ext cx="5394960" cy="-146304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a pattern:  "As A increases, B ___________"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Scientific Process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RESULTS TO YOUR HYPOTHESIS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 — 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Honestly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Did the data support your hypothesis?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is the relationship you found?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surprises?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report lets someone else redo your experiment.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28600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31520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You're Wrong?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go back and change your hypothesis.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disproved hypothesis is not WRONG — it's DATA. Scientists learn as much from a no as from a yes.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(This is the honest habit that separates science from opinion.)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Scientific Process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STEPS, IN MINIATURE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Example — The Broken Flashlight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40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0876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flashlight not working?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240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34924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2788920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replace the batteries, then the flashlight will work.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0" y="201168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240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18972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58200" y="2788920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batteries. Turn the flashlight on / off.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389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508760" y="4434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4937760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light now come on?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89120" y="416052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4389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5349240" y="4434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17720" y="4937760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the light comes on when batteries are fresh.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light stays off, hypothesis disproved.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29600" y="416052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0" y="4389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9189720" y="4434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58200" y="4937760"/>
            <a:ext cx="32461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YES: bad batteries were the cause.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NO: form a new hypothesis (broken bulb? bad switch?).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Scientific Process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HABITS THAT KEEP SCIENCE HONEST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802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802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54480" y="21031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 &amp; Effect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94960" y="210312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'Does A have an effect on B?' — not 'Which is better?'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9489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9489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554480" y="2971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Hypothesis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297180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 specific prediction about the IV/DV relationship.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8176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8176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554480" y="38404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Variable at a Time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384048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change the IV. Everything else stays constant.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6863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6863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554480" y="47091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It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470916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 → graph. IV on X, DV on 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55549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55549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554480" y="55778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the Relationship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557784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 A increases, B ______." Be honest — even if 'B stays the same.'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Scientific Process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Identifying Variables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548640" y="4297680"/>
            <a:ext cx="640080" cy="73152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26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the online practice on Google Classroom.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scenario: identify IV, DV, and CVs, then write an if-then hypothesis.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answers to class — we'll compare and discuss.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2026-07-11T20:01:53Z</dcterms:created>
  <dcterms:modified xsi:type="dcterms:W3CDTF">2026-07-11T20:01:53Z</dcterms:modified>
</cp:coreProperties>
</file>